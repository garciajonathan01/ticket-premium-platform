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7" r:id="rId4"/>
    <p:sldId id="259" r:id="rId5"/>
    <p:sldId id="260" r:id="rId6"/>
    <p:sldId id="261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0590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696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552568" y="342801"/>
            <a:ext cx="13382136" cy="1414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endParaRPr lang="en-US" sz="12750" dirty="0"/>
          </a:p>
        </p:txBody>
      </p:sp>
      <p:sp>
        <p:nvSpPr>
          <p:cNvPr id="9" name="Shape 5"/>
          <p:cNvSpPr/>
          <p:nvPr/>
        </p:nvSpPr>
        <p:spPr>
          <a:xfrm>
            <a:off x="1" y="3238499"/>
            <a:ext cx="18288001" cy="577103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 dirty="0"/>
          </a:p>
        </p:txBody>
      </p:sp>
      <p:sp>
        <p:nvSpPr>
          <p:cNvPr id="10" name="Text 6"/>
          <p:cNvSpPr/>
          <p:nvPr/>
        </p:nvSpPr>
        <p:spPr>
          <a:xfrm>
            <a:off x="762000" y="3492500"/>
            <a:ext cx="10623374" cy="10011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5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TICKETPREMIUM</a:t>
            </a:r>
            <a:endParaRPr lang="en-US" sz="5400" dirty="0"/>
          </a:p>
        </p:txBody>
      </p:sp>
      <p:sp>
        <p:nvSpPr>
          <p:cNvPr id="11" name="Text 7"/>
          <p:cNvSpPr/>
          <p:nvPr/>
        </p:nvSpPr>
        <p:spPr>
          <a:xfrm>
            <a:off x="762000" y="4472781"/>
            <a:ext cx="17266921" cy="377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550" kern="0" spc="127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 DE BOLETOS · WEB SERVICE SOAP EN JAVA - PAYARA + MYSQL</a:t>
            </a:r>
            <a:endParaRPr lang="en-US" sz="2550" dirty="0"/>
          </a:p>
        </p:txBody>
      </p:sp>
      <p:sp>
        <p:nvSpPr>
          <p:cNvPr id="12" name="Text 8"/>
          <p:cNvSpPr/>
          <p:nvPr/>
        </p:nvSpPr>
        <p:spPr>
          <a:xfrm>
            <a:off x="762000" y="6858001"/>
            <a:ext cx="909708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97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 — GRUPO 05</a:t>
            </a:r>
            <a:endParaRPr lang="en-US" sz="1650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762000" y="7249584"/>
            <a:ext cx="9097087" cy="12381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Richard </a:t>
            </a:r>
            <a:r>
              <a:rPr lang="en-US" sz="21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Gualotuña</a:t>
            </a:r>
            <a:r>
              <a:rPr lang="en-US" sz="2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José </a:t>
            </a:r>
            <a:r>
              <a:rPr lang="en-US" sz="21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Proaño</a:t>
            </a:r>
            <a:r>
              <a:rPr lang="en-US" sz="210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Jhonathan García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10165623" y="6858001"/>
            <a:ext cx="7581189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97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 / FECHA</a:t>
            </a:r>
            <a:endParaRPr lang="en-US" sz="1650" dirty="0">
              <a:solidFill>
                <a:schemeClr val="bg1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10165623" y="7249584"/>
            <a:ext cx="7581189" cy="12381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Tutor: </a:t>
            </a:r>
            <a:r>
              <a:rPr lang="en-US" sz="2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Ing. Eduardo M. </a:t>
            </a:r>
            <a:r>
              <a:rPr lang="en-US" sz="21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Campaña</a:t>
            </a:r>
            <a:endParaRPr lang="en-US" sz="2100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100" dirty="0" err="1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Fecha</a:t>
            </a:r>
            <a:r>
              <a:rPr lang="en-US" sz="21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: 19/05/2026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16" name="Shape 12"/>
          <p:cNvSpPr/>
          <p:nvPr/>
        </p:nvSpPr>
        <p:spPr>
          <a:xfrm>
            <a:off x="0" y="10153716"/>
            <a:ext cx="18288001" cy="133284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17" name="Google Shape;102;p1" descr="Resultado de imagen para espe">
            <a:extLst>
              <a:ext uri="{FF2B5EF4-FFF2-40B4-BE49-F238E27FC236}">
                <a16:creationId xmlns:a16="http://schemas.microsoft.com/office/drawing/2014/main" id="{6D0CA12F-A1FF-3D46-AD76-CB1B15189D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361" y="567003"/>
            <a:ext cx="14212191" cy="256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41282705-F2CB-DFF9-D0C6-B44D77A1F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0"/>
            <a:ext cx="18288000" cy="4234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301" y="626566"/>
            <a:ext cx="133284" cy="133284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799869" y="571500"/>
            <a:ext cx="2241649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GENERAL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301" y="1214934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369" y="1214934"/>
            <a:ext cx="1609791" cy="334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301" y="1644551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369" y="1686884"/>
            <a:ext cx="100588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301" y="2074168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369" y="2116501"/>
            <a:ext cx="1469562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301" y="2503785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369" y="2546119"/>
            <a:ext cx="246853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del Aplicativo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90501" y="2933402"/>
            <a:ext cx="3074840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C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Base de Datos MySQL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90501" y="3267770"/>
            <a:ext cx="3074840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C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Servidor SOAP / JAX-WS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90501" y="3602137"/>
            <a:ext cx="3074840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C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Cliente Consola Java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90501" y="3936504"/>
            <a:ext cx="3074840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C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Cliente Escritorio Swing + FlatLaf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90501" y="4270871"/>
            <a:ext cx="3074840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C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Cliente Web JSP + Servlet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90501" y="4605238"/>
            <a:ext cx="3074840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C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Cliente Móvil Android / Kotlin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33301" y="4939605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90369" y="4981939"/>
            <a:ext cx="1409039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33301" y="5369223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90369" y="5411556"/>
            <a:ext cx="190529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533301" y="5798840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90369" y="5841174"/>
            <a:ext cx="2662529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Bibliográficas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533301" y="9567334"/>
            <a:ext cx="3532040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43500" y="609534"/>
            <a:ext cx="1275397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DE LA PRESENTACIÓN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143500" y="9774866"/>
            <a:ext cx="4533555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TP_SOAP_JAVA_TICKETPREMIUM_G5 · ÍNDICE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7571641" y="9743116"/>
            <a:ext cx="335492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0" y="10153716"/>
            <a:ext cx="18288001" cy="133284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43" name="Picture 2" descr="Resultado de imagen para AGENDA PNG">
            <a:extLst>
              <a:ext uri="{FF2B5EF4-FFF2-40B4-BE49-F238E27FC236}">
                <a16:creationId xmlns:a16="http://schemas.microsoft.com/office/drawing/2014/main" id="{09E07CED-FD2D-6D33-A5C3-B19AC4967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14801" y="1622709"/>
            <a:ext cx="12382698" cy="5738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5EFAE917-DA45-3073-3A61-4E6F94301E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8231"/>
            <a:ext cx="18288000" cy="4234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301" y="626566"/>
            <a:ext cx="133284" cy="133284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799869" y="571500"/>
            <a:ext cx="2241649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GENERAL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301" y="1214934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369" y="1214934"/>
            <a:ext cx="1609791" cy="334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301" y="1644551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369" y="1686884"/>
            <a:ext cx="100588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301" y="2074168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369" y="2116501"/>
            <a:ext cx="1469562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301" y="2503785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369" y="2546119"/>
            <a:ext cx="246853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del Aplicativo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90501" y="2933402"/>
            <a:ext cx="3074840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C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Base de Datos MySQL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90501" y="3267770"/>
            <a:ext cx="3074840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C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Servidor SOAP / JAX-WS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90501" y="3602137"/>
            <a:ext cx="3074840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C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Cliente Consola Java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90501" y="3936504"/>
            <a:ext cx="3074840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C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Cliente Escritorio Swing + FlatLaf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90501" y="4270871"/>
            <a:ext cx="3074840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C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Cliente Web JSP + Servlet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90501" y="4605238"/>
            <a:ext cx="3074840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C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Cliente Móvil Android / Kotlin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33301" y="4939605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90369" y="4981939"/>
            <a:ext cx="1409039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33301" y="5369223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90369" y="5411556"/>
            <a:ext cx="190529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533301" y="5798840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90369" y="5841174"/>
            <a:ext cx="2662529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Bibliográficas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533301" y="9567334"/>
            <a:ext cx="3532040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43500" y="609534"/>
            <a:ext cx="1275397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DE LA PRESENTACIÓN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43500" y="1017984"/>
            <a:ext cx="1275397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vamos a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cubrir</a:t>
            </a:r>
            <a:endParaRPr lang="en-US" sz="4800" dirty="0"/>
          </a:p>
        </p:txBody>
      </p:sp>
      <p:sp>
        <p:nvSpPr>
          <p:cNvPr id="28" name="Shape 26"/>
          <p:cNvSpPr/>
          <p:nvPr/>
        </p:nvSpPr>
        <p:spPr>
          <a:xfrm>
            <a:off x="5143500" y="1734013"/>
            <a:ext cx="1143000" cy="57051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9" name="Text 27"/>
          <p:cNvSpPr/>
          <p:nvPr/>
        </p:nvSpPr>
        <p:spPr>
          <a:xfrm>
            <a:off x="5143500" y="2133865"/>
            <a:ext cx="12753976" cy="1595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servicio </a:t>
            </a:r>
            <a:r>
              <a:rPr lang="en-US" sz="21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SOAP en Java con JAX-WS </a:t>
            </a: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desplegado en </a:t>
            </a:r>
            <a:r>
              <a:rPr lang="en-US" sz="21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Payara Server 6 </a:t>
            </a: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 las operaciones de venta de boletos para partidos de fútbol — partidos, localidades, compra con factura e IVA, y reportes — sobre la base de datos </a:t>
            </a:r>
            <a:r>
              <a:rPr lang="en-US" sz="21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</a:t>
            </a:r>
            <a:r>
              <a:rPr lang="en-US" sz="2100" b="1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ticketpremium_db </a:t>
            </a: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Cuatro clientes heterogéneos consumen el WSDL: consola, escritorio Swing, web JSP y Android Kotlin.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5143500" y="3976522"/>
            <a:ext cx="2513211" cy="433917"/>
          </a:xfrm>
          <a:prstGeom prst="roundRect">
            <a:avLst>
              <a:gd name="adj" fmla="val 50000"/>
            </a:avLst>
          </a:prstGeom>
          <a:solidFill>
            <a:srgbClr val="1A3260"/>
          </a:solidFill>
          <a:ln w="10583">
            <a:solidFill>
              <a:srgbClr val="1A326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" name="Text 29"/>
          <p:cNvSpPr/>
          <p:nvPr/>
        </p:nvSpPr>
        <p:spPr>
          <a:xfrm>
            <a:off x="5325533" y="4082356"/>
            <a:ext cx="2225344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JAX-WS · Jakarta EE 10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770978" y="3976522"/>
            <a:ext cx="1793875" cy="433917"/>
          </a:xfrm>
          <a:prstGeom prst="roundRect">
            <a:avLst>
              <a:gd name="adj" fmla="val 50000"/>
            </a:avLst>
          </a:prstGeom>
          <a:ln w="10583">
            <a:solidFill>
              <a:srgbClr val="4590B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" name="Text 31"/>
          <p:cNvSpPr/>
          <p:nvPr/>
        </p:nvSpPr>
        <p:spPr>
          <a:xfrm>
            <a:off x="7953011" y="4082356"/>
            <a:ext cx="1506008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Payara Server 6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679120" y="3976522"/>
            <a:ext cx="1863494" cy="433917"/>
          </a:xfrm>
          <a:prstGeom prst="roundRect">
            <a:avLst>
              <a:gd name="adj" fmla="val 50000"/>
            </a:avLst>
          </a:prstGeom>
          <a:ln w="10583">
            <a:solidFill>
              <a:srgbClr val="45CB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" name="Text 33"/>
          <p:cNvSpPr/>
          <p:nvPr/>
        </p:nvSpPr>
        <p:spPr>
          <a:xfrm>
            <a:off x="9861154" y="4082356"/>
            <a:ext cx="1575627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 · JDBC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1656880" y="3976522"/>
            <a:ext cx="1232132" cy="433917"/>
          </a:xfrm>
          <a:prstGeom prst="roundRect">
            <a:avLst>
              <a:gd name="adj" fmla="val 50000"/>
            </a:avLst>
          </a:prstGeom>
          <a:ln w="10583">
            <a:solidFill>
              <a:srgbClr val="42955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7" name="Text 35"/>
          <p:cNvSpPr/>
          <p:nvPr/>
        </p:nvSpPr>
        <p:spPr>
          <a:xfrm>
            <a:off x="11838914" y="4082356"/>
            <a:ext cx="94426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clientes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13003280" y="3976522"/>
            <a:ext cx="1999754" cy="433917"/>
          </a:xfrm>
          <a:prstGeom prst="roundRect">
            <a:avLst>
              <a:gd name="adj" fmla="val 50000"/>
            </a:avLst>
          </a:prstGeom>
          <a:ln w="10583">
            <a:solidFill>
              <a:srgbClr val="4590B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" name="Text 37"/>
          <p:cNvSpPr/>
          <p:nvPr/>
        </p:nvSpPr>
        <p:spPr>
          <a:xfrm>
            <a:off x="13185313" y="4082356"/>
            <a:ext cx="1711887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 + IVA 15%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143500" y="9774866"/>
            <a:ext cx="4533555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TP_SOAP_JAVA_TICKETPREMIUM_G5 · ÍNDICE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7571641" y="9743116"/>
            <a:ext cx="335492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0" y="10153716"/>
            <a:ext cx="18288001" cy="133284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43" name="Imagen 42">
            <a:extLst>
              <a:ext uri="{FF2B5EF4-FFF2-40B4-BE49-F238E27FC236}">
                <a16:creationId xmlns:a16="http://schemas.microsoft.com/office/drawing/2014/main" id="{999F6E72-9514-6DA3-94AB-6BCC6374C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8288000" cy="42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134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301" y="626566"/>
            <a:ext cx="133284" cy="133284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799869" y="571500"/>
            <a:ext cx="1567458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301" y="1214934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369" y="1214934"/>
            <a:ext cx="1609791" cy="334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301" y="1644551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369" y="1686884"/>
            <a:ext cx="100588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301" y="2074168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369" y="2116501"/>
            <a:ext cx="1469562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301" y="2503785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369" y="2546119"/>
            <a:ext cx="109368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301" y="2933402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369" y="2975736"/>
            <a:ext cx="1409039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301" y="3363020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369" y="3405353"/>
            <a:ext cx="190529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301" y="3792637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90369" y="3834970"/>
            <a:ext cx="1199522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3301" y="9567334"/>
            <a:ext cx="3532040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43500" y="609534"/>
            <a:ext cx="1275397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INTRODUCCIÓN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43500" y="1017984"/>
            <a:ext cx="1275397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conversión a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real</a:t>
            </a:r>
            <a:endParaRPr lang="en-US" sz="4800" dirty="0"/>
          </a:p>
        </p:txBody>
      </p:sp>
      <p:sp>
        <p:nvSpPr>
          <p:cNvPr id="22" name="Shape 20"/>
          <p:cNvSpPr/>
          <p:nvPr/>
        </p:nvSpPr>
        <p:spPr>
          <a:xfrm>
            <a:off x="5143500" y="1734013"/>
            <a:ext cx="1143000" cy="57051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5143500" y="2133865"/>
            <a:ext cx="12753976" cy="1363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TicketPremium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 un Web Service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SOAP en Java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gestiona la venta de boletos para partidos de fútbol de la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Federación de Fútbol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 diferencia de los proyectos previos de conversión de unidades, este sistema maneja entidades de dominio reales: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partidos, localidades, compras y facturas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con persistencia en una base de datos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43500" y="3611067"/>
            <a:ext cx="12753976" cy="1363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servidor se desarrolló con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JAX-WS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Payara Server 6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Jakarta EE 10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accediendo a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ticketpremium_db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mediante JDBC. Las operaciones principales son: autenticación, consulta de partidos disponibles, consulta de localidades,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 de boletos individual y múltiple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generación de factura con IVA, y reportes de ventas por partido.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143500" y="5088268"/>
            <a:ext cx="12753976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cuatro clientes — consola Java con colores ANSI, escritorio Swing con FlatLaf, web JSP con Servlet y móvil Android/Kotlin — consumen el servicio mediante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stubs JAX-WS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generados con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wsimport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(clientes Java) y construcción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envelopes SOAP con OkHttp y XmlPullParser (cliente móvil).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43500" y="9774866"/>
            <a:ext cx="5666560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TP_SOAP_JAVA_TICKETPREMIUM_G5 · 01 INTRODUCCIÓN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7571641" y="9743116"/>
            <a:ext cx="335492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0" y="10153716"/>
            <a:ext cx="18288001" cy="133284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7878C33A-2FA0-51E9-D8A6-89A594B00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8288000" cy="4234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301" y="626566"/>
            <a:ext cx="133284" cy="133284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799869" y="571500"/>
            <a:ext cx="1567458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301" y="1214934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369" y="1257267"/>
            <a:ext cx="129278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301" y="1644551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369" y="1644551"/>
            <a:ext cx="1209278" cy="334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90501" y="2074168"/>
            <a:ext cx="3074840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Objetivo General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90501" y="2450869"/>
            <a:ext cx="3074840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C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Objetivos Específicos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3301" y="2785236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369" y="2827569"/>
            <a:ext cx="1469562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301" y="3214853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369" y="3257186"/>
            <a:ext cx="109368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301" y="3644470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369" y="3686803"/>
            <a:ext cx="1409039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301" y="4074087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90369" y="4116421"/>
            <a:ext cx="190529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3301" y="4503705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90369" y="4546038"/>
            <a:ext cx="1199522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33301" y="9567334"/>
            <a:ext cx="3532040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43500" y="609534"/>
            <a:ext cx="1275397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OBJETIVOS — 2.1 GENERAL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43500" y="1017984"/>
            <a:ext cx="1275397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</a:t>
            </a:r>
            <a:endParaRPr lang="en-US" sz="4800" dirty="0"/>
          </a:p>
        </p:txBody>
      </p:sp>
      <p:sp>
        <p:nvSpPr>
          <p:cNvPr id="24" name="Shape 22"/>
          <p:cNvSpPr/>
          <p:nvPr/>
        </p:nvSpPr>
        <p:spPr>
          <a:xfrm>
            <a:off x="5143500" y="1734013"/>
            <a:ext cx="1143000" cy="57051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5" name="Shape 23"/>
          <p:cNvSpPr/>
          <p:nvPr/>
        </p:nvSpPr>
        <p:spPr>
          <a:xfrm>
            <a:off x="5143500" y="2133865"/>
            <a:ext cx="12382501" cy="2681552"/>
          </a:xfrm>
          <a:prstGeom prst="roundRect">
            <a:avLst>
              <a:gd name="adj" fmla="val 2131"/>
            </a:avLst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5638767" y="2590933"/>
            <a:ext cx="11733725" cy="1805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e implementar el sistema </a:t>
            </a:r>
            <a:r>
              <a:rPr lang="en-US" sz="24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TicketPremium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usando un Web Service </a:t>
            </a:r>
            <a:r>
              <a:rPr lang="en-US" sz="24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SOAP en Java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</a:t>
            </a:r>
            <a:r>
              <a:rPr lang="en-US" sz="24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Payara Server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que permita gestionar la </a:t>
            </a:r>
            <a:r>
              <a:rPr lang="en-US" sz="24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 de boletos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partidos de fútbol de forma interoperable desde cuatro tipos de clientes: </a:t>
            </a:r>
            <a:r>
              <a:rPr lang="en-US" sz="2400" b="1" dirty="0">
                <a:solidFill>
                  <a:srgbClr val="A2C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consola, escritorio, web y móvil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5143500" y="5120184"/>
            <a:ext cx="1104801" cy="433917"/>
          </a:xfrm>
          <a:prstGeom prst="roundRect">
            <a:avLst>
              <a:gd name="adj" fmla="val 50000"/>
            </a:avLst>
          </a:prstGeom>
          <a:ln w="10583">
            <a:solidFill>
              <a:srgbClr val="4590B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5325533" y="5226017"/>
            <a:ext cx="816934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JAX-WS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62568" y="5120184"/>
            <a:ext cx="1147796" cy="433917"/>
          </a:xfrm>
          <a:prstGeom prst="roundRect">
            <a:avLst>
              <a:gd name="adj" fmla="val 50000"/>
            </a:avLst>
          </a:prstGeom>
          <a:ln w="10583">
            <a:solidFill>
              <a:srgbClr val="4590B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6544601" y="5226017"/>
            <a:ext cx="859929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Payara 6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624631" y="5120184"/>
            <a:ext cx="1704578" cy="433917"/>
          </a:xfrm>
          <a:prstGeom prst="roundRect">
            <a:avLst>
              <a:gd name="adj" fmla="val 50000"/>
            </a:avLst>
          </a:prstGeom>
          <a:ln w="10583">
            <a:solidFill>
              <a:srgbClr val="45CB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7806664" y="5226017"/>
            <a:ext cx="141671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· JDBC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443476" y="5120184"/>
            <a:ext cx="1887968" cy="433917"/>
          </a:xfrm>
          <a:prstGeom prst="roundRect">
            <a:avLst>
              <a:gd name="adj" fmla="val 50000"/>
            </a:avLst>
          </a:prstGeom>
          <a:ln w="10583">
            <a:solidFill>
              <a:srgbClr val="42955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9625509" y="5226017"/>
            <a:ext cx="1600101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wsimport · stubs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1445711" y="5120184"/>
            <a:ext cx="1232132" cy="433917"/>
          </a:xfrm>
          <a:prstGeom prst="roundRect">
            <a:avLst>
              <a:gd name="adj" fmla="val 50000"/>
            </a:avLst>
          </a:prstGeom>
          <a:ln w="10583">
            <a:solidFill>
              <a:srgbClr val="4590B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Text 34"/>
          <p:cNvSpPr/>
          <p:nvPr/>
        </p:nvSpPr>
        <p:spPr>
          <a:xfrm>
            <a:off x="11627744" y="5226017"/>
            <a:ext cx="94426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clientes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143500" y="9774866"/>
            <a:ext cx="5268850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TP_SOAP_JAVA_TICKETPREMIUM_G5 · 02 OBJETIVOS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7571641" y="9743116"/>
            <a:ext cx="335492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0" y="10153716"/>
            <a:ext cx="18288001" cy="133284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9CE2D9E4-0502-421B-73B9-2924E494B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8965"/>
            <a:ext cx="18288000" cy="4234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301" y="626566"/>
            <a:ext cx="133284" cy="133284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799869" y="571500"/>
            <a:ext cx="1567458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301" y="1214934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369" y="1257267"/>
            <a:ext cx="129278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301" y="1644551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369" y="1644551"/>
            <a:ext cx="1209278" cy="334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90501" y="2074168"/>
            <a:ext cx="3074840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C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Objetivo General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90501" y="2408535"/>
            <a:ext cx="3074840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Objetivos Específicos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3301" y="2785236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369" y="2827569"/>
            <a:ext cx="1469562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301" y="3214853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369" y="3257186"/>
            <a:ext cx="109368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301" y="3644470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369" y="3686803"/>
            <a:ext cx="1409039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301" y="4074087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90369" y="4116421"/>
            <a:ext cx="190529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3301" y="4503705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90369" y="4546038"/>
            <a:ext cx="1199522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33301" y="9567334"/>
            <a:ext cx="3532040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43500" y="609534"/>
            <a:ext cx="1275397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OBJETIVOS — 2.2 ESPECÍFICOS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43500" y="1017984"/>
            <a:ext cx="1275397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Específicos</a:t>
            </a:r>
            <a:endParaRPr lang="en-US" sz="4800" dirty="0"/>
          </a:p>
        </p:txBody>
      </p:sp>
      <p:sp>
        <p:nvSpPr>
          <p:cNvPr id="24" name="Shape 22"/>
          <p:cNvSpPr/>
          <p:nvPr/>
        </p:nvSpPr>
        <p:spPr>
          <a:xfrm>
            <a:off x="5143500" y="1734013"/>
            <a:ext cx="1143000" cy="57051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5" name="Shape 23"/>
          <p:cNvSpPr/>
          <p:nvPr/>
        </p:nvSpPr>
        <p:spPr>
          <a:xfrm>
            <a:off x="5143500" y="2209932"/>
            <a:ext cx="6086409" cy="1832901"/>
          </a:xfrm>
          <a:prstGeom prst="roundRect">
            <a:avLst>
              <a:gd name="adj" fmla="val 207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6" name="Shape 24"/>
          <p:cNvSpPr/>
          <p:nvPr/>
        </p:nvSpPr>
        <p:spPr>
          <a:xfrm>
            <a:off x="5143500" y="4032250"/>
            <a:ext cx="6086409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7" name="Shape 25"/>
          <p:cNvSpPr/>
          <p:nvPr/>
        </p:nvSpPr>
        <p:spPr>
          <a:xfrm>
            <a:off x="5143500" y="2209932"/>
            <a:ext cx="6086409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8" name="Shape 26"/>
          <p:cNvSpPr/>
          <p:nvPr/>
        </p:nvSpPr>
        <p:spPr>
          <a:xfrm>
            <a:off x="5143500" y="2209932"/>
            <a:ext cx="74083" cy="1832901"/>
          </a:xfrm>
          <a:prstGeom prst="rect">
            <a:avLst/>
          </a:prstGeom>
          <a:solidFill>
            <a:srgbClr val="4590B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9" name="Shape 27"/>
          <p:cNvSpPr/>
          <p:nvPr/>
        </p:nvSpPr>
        <p:spPr>
          <a:xfrm>
            <a:off x="11219326" y="2209932"/>
            <a:ext cx="10583" cy="1832901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5446118" y="2430033"/>
            <a:ext cx="571101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2.2.1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46118" y="2677583"/>
            <a:ext cx="5711015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JAX-WS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6118" y="3081735"/>
            <a:ext cx="5711015" cy="779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el servidor con la clase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WSFederacion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exponiendo las operaciones del sistema de tickets sobre la base de datos MySQL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ticketpremium_db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11439426" y="2209932"/>
            <a:ext cx="6086574" cy="1832901"/>
          </a:xfrm>
          <a:prstGeom prst="roundRect">
            <a:avLst>
              <a:gd name="adj" fmla="val 207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4" name="Shape 32"/>
          <p:cNvSpPr/>
          <p:nvPr/>
        </p:nvSpPr>
        <p:spPr>
          <a:xfrm>
            <a:off x="11439426" y="4032250"/>
            <a:ext cx="6086574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5" name="Shape 33"/>
          <p:cNvSpPr/>
          <p:nvPr/>
        </p:nvSpPr>
        <p:spPr>
          <a:xfrm>
            <a:off x="11439426" y="2209932"/>
            <a:ext cx="6086574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6" name="Shape 34"/>
          <p:cNvSpPr/>
          <p:nvPr/>
        </p:nvSpPr>
        <p:spPr>
          <a:xfrm>
            <a:off x="11439426" y="2209932"/>
            <a:ext cx="74083" cy="1832901"/>
          </a:xfrm>
          <a:prstGeom prst="rect">
            <a:avLst/>
          </a:prstGeom>
          <a:solidFill>
            <a:srgbClr val="42955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7" name="Shape 35"/>
          <p:cNvSpPr/>
          <p:nvPr/>
        </p:nvSpPr>
        <p:spPr>
          <a:xfrm>
            <a:off x="17515417" y="2209932"/>
            <a:ext cx="10583" cy="1832901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8" name="Text 36"/>
          <p:cNvSpPr/>
          <p:nvPr/>
        </p:nvSpPr>
        <p:spPr>
          <a:xfrm>
            <a:off x="11742044" y="2430033"/>
            <a:ext cx="571118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2.2.2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742044" y="2677583"/>
            <a:ext cx="5711185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DAO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1742044" y="3081735"/>
            <a:ext cx="5711185" cy="768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FederacionService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capa DAO que gestiona las operaciones CRUD vía JDBC: login, partidos, localidades, compras y reportes.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5143500" y="4252350"/>
            <a:ext cx="6086409" cy="1822318"/>
          </a:xfrm>
          <a:prstGeom prst="roundRect">
            <a:avLst>
              <a:gd name="adj" fmla="val 20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2" name="Shape 40"/>
          <p:cNvSpPr/>
          <p:nvPr/>
        </p:nvSpPr>
        <p:spPr>
          <a:xfrm>
            <a:off x="5143500" y="6064085"/>
            <a:ext cx="6086409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3" name="Shape 41"/>
          <p:cNvSpPr/>
          <p:nvPr/>
        </p:nvSpPr>
        <p:spPr>
          <a:xfrm>
            <a:off x="5143500" y="4252350"/>
            <a:ext cx="6086409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4" name="Shape 42"/>
          <p:cNvSpPr/>
          <p:nvPr/>
        </p:nvSpPr>
        <p:spPr>
          <a:xfrm>
            <a:off x="5143500" y="4252350"/>
            <a:ext cx="74083" cy="1822318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5" name="Shape 43"/>
          <p:cNvSpPr/>
          <p:nvPr/>
        </p:nvSpPr>
        <p:spPr>
          <a:xfrm>
            <a:off x="11219326" y="4252350"/>
            <a:ext cx="10583" cy="1822318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6" name="Text 44"/>
          <p:cNvSpPr/>
          <p:nvPr/>
        </p:nvSpPr>
        <p:spPr>
          <a:xfrm>
            <a:off x="5446118" y="4472451"/>
            <a:ext cx="571101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2.2.3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446118" y="4720001"/>
            <a:ext cx="5711015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Stubs · wsimport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446118" y="5124152"/>
            <a:ext cx="5711015" cy="768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 los stubs de cliente a partir del WSDL y construir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ClienteFederacion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capa de acceso al servicio para los clientes Java.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11439426" y="4252350"/>
            <a:ext cx="6086574" cy="1822318"/>
          </a:xfrm>
          <a:prstGeom prst="roundRect">
            <a:avLst>
              <a:gd name="adj" fmla="val 20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0" name="Shape 48"/>
          <p:cNvSpPr/>
          <p:nvPr/>
        </p:nvSpPr>
        <p:spPr>
          <a:xfrm>
            <a:off x="11439426" y="6064085"/>
            <a:ext cx="6086574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1" name="Shape 49"/>
          <p:cNvSpPr/>
          <p:nvPr/>
        </p:nvSpPr>
        <p:spPr>
          <a:xfrm>
            <a:off x="11439426" y="4252350"/>
            <a:ext cx="6086574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2" name="Shape 50"/>
          <p:cNvSpPr/>
          <p:nvPr/>
        </p:nvSpPr>
        <p:spPr>
          <a:xfrm>
            <a:off x="11439426" y="4252350"/>
            <a:ext cx="74083" cy="1822318"/>
          </a:xfrm>
          <a:prstGeom prst="rect">
            <a:avLst/>
          </a:prstGeom>
          <a:solidFill>
            <a:srgbClr val="4590B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3" name="Shape 51"/>
          <p:cNvSpPr/>
          <p:nvPr/>
        </p:nvSpPr>
        <p:spPr>
          <a:xfrm>
            <a:off x="17515417" y="4252350"/>
            <a:ext cx="10583" cy="1822318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4" name="Text 52"/>
          <p:cNvSpPr/>
          <p:nvPr/>
        </p:nvSpPr>
        <p:spPr>
          <a:xfrm>
            <a:off x="11742044" y="4472451"/>
            <a:ext cx="571118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2.2.4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1742044" y="4720001"/>
            <a:ext cx="5711185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Consola + Escritorio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1742044" y="5124152"/>
            <a:ext cx="5711185" cy="52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de consola con interfaz ANSI y cliente Swing con </a:t>
            </a: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FlatDarkLaf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LoginFrame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VentanaPrincipal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JTabbedPane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5143500" y="6284185"/>
            <a:ext cx="6086409" cy="1843484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8" name="Shape 56"/>
          <p:cNvSpPr/>
          <p:nvPr/>
        </p:nvSpPr>
        <p:spPr>
          <a:xfrm>
            <a:off x="5143500" y="8117086"/>
            <a:ext cx="6086409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9" name="Shape 57"/>
          <p:cNvSpPr/>
          <p:nvPr/>
        </p:nvSpPr>
        <p:spPr>
          <a:xfrm>
            <a:off x="5143500" y="6284185"/>
            <a:ext cx="6086409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0" name="Shape 58"/>
          <p:cNvSpPr/>
          <p:nvPr/>
        </p:nvSpPr>
        <p:spPr>
          <a:xfrm>
            <a:off x="5143500" y="6284185"/>
            <a:ext cx="74083" cy="1843484"/>
          </a:xfrm>
          <a:prstGeom prst="rect">
            <a:avLst/>
          </a:prstGeom>
          <a:solidFill>
            <a:srgbClr val="42955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1" name="Shape 59"/>
          <p:cNvSpPr/>
          <p:nvPr/>
        </p:nvSpPr>
        <p:spPr>
          <a:xfrm>
            <a:off x="11219326" y="6284185"/>
            <a:ext cx="10583" cy="1843484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2" name="Text 60"/>
          <p:cNvSpPr/>
          <p:nvPr/>
        </p:nvSpPr>
        <p:spPr>
          <a:xfrm>
            <a:off x="5446118" y="6504286"/>
            <a:ext cx="571101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2.2.5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446118" y="6751836"/>
            <a:ext cx="5711015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JSP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5446118" y="7155987"/>
            <a:ext cx="5711015" cy="789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TicketServlet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controlador MVC que gestiona sesiones y delega vistas a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login.jsp / partidos.jsp / localidades.jsp / reporte.jsp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65" name="Shape 63"/>
          <p:cNvSpPr/>
          <p:nvPr/>
        </p:nvSpPr>
        <p:spPr>
          <a:xfrm>
            <a:off x="11439426" y="6284185"/>
            <a:ext cx="6086574" cy="1843484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6" name="Shape 64"/>
          <p:cNvSpPr/>
          <p:nvPr/>
        </p:nvSpPr>
        <p:spPr>
          <a:xfrm>
            <a:off x="11439426" y="8117086"/>
            <a:ext cx="6086574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7" name="Shape 65"/>
          <p:cNvSpPr/>
          <p:nvPr/>
        </p:nvSpPr>
        <p:spPr>
          <a:xfrm>
            <a:off x="11439426" y="6284185"/>
            <a:ext cx="6086574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8" name="Shape 66"/>
          <p:cNvSpPr/>
          <p:nvPr/>
        </p:nvSpPr>
        <p:spPr>
          <a:xfrm>
            <a:off x="11439426" y="6284185"/>
            <a:ext cx="74083" cy="1843484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9" name="Shape 67"/>
          <p:cNvSpPr/>
          <p:nvPr/>
        </p:nvSpPr>
        <p:spPr>
          <a:xfrm>
            <a:off x="17515417" y="6284185"/>
            <a:ext cx="10583" cy="1843484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0" name="Text 68"/>
          <p:cNvSpPr/>
          <p:nvPr/>
        </p:nvSpPr>
        <p:spPr>
          <a:xfrm>
            <a:off x="11742044" y="6504286"/>
            <a:ext cx="571118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2.2.6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11742044" y="6751836"/>
            <a:ext cx="5711185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· SOAP manual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11742044" y="7155987"/>
            <a:ext cx="5711185" cy="768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 con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TicketPremiumSoapService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construye envelopes SOAP manualmente con </a:t>
            </a: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OkHttp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parsea respuestas con </a:t>
            </a: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XmlPullParser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73" name="Text 71"/>
          <p:cNvSpPr/>
          <p:nvPr/>
        </p:nvSpPr>
        <p:spPr>
          <a:xfrm>
            <a:off x="5143500" y="9774866"/>
            <a:ext cx="5268850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TP_SOAP_JAVA_TICKETPREMIUM_G5 · 02 OBJETIVOS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17571641" y="9743116"/>
            <a:ext cx="335492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50" dirty="0"/>
          </a:p>
        </p:txBody>
      </p:sp>
      <p:sp>
        <p:nvSpPr>
          <p:cNvPr id="75" name="Shape 73"/>
          <p:cNvSpPr/>
          <p:nvPr/>
        </p:nvSpPr>
        <p:spPr>
          <a:xfrm>
            <a:off x="0" y="10153716"/>
            <a:ext cx="18288001" cy="133284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76" name="Imagen 75">
            <a:extLst>
              <a:ext uri="{FF2B5EF4-FFF2-40B4-BE49-F238E27FC236}">
                <a16:creationId xmlns:a16="http://schemas.microsoft.com/office/drawing/2014/main" id="{C42C39FD-5F9A-73FD-A0EB-4E2F1D544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8288000" cy="4234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301" y="626566"/>
            <a:ext cx="133284" cy="133284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799869" y="571500"/>
            <a:ext cx="2191213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301" y="1214934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369" y="1214934"/>
            <a:ext cx="2126721" cy="334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JAX-WS + Payara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301" y="1644551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369" y="1644551"/>
            <a:ext cx="1849239" cy="334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+ MySQL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301" y="2074168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369" y="2116501"/>
            <a:ext cx="162550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 · wsimport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301" y="2503785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369" y="2546119"/>
            <a:ext cx="156745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FlatLaf · Swing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301" y="2933402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369" y="2975736"/>
            <a:ext cx="2363192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SOAP manual · OkHttp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301" y="9567334"/>
            <a:ext cx="3532040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43500" y="609534"/>
            <a:ext cx="1275397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MARCO TEÓRICO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3500" y="1017984"/>
            <a:ext cx="12753976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JAX-WS sobre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Payara </a:t>
            </a: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4800" b="1" kern="0" spc="-24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/ MySQL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5143500" y="2373974"/>
            <a:ext cx="1143000" cy="57051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9" name="Shape 17"/>
          <p:cNvSpPr/>
          <p:nvPr/>
        </p:nvSpPr>
        <p:spPr>
          <a:xfrm>
            <a:off x="5143500" y="2849893"/>
            <a:ext cx="6038784" cy="2350823"/>
          </a:xfrm>
          <a:prstGeom prst="roundRect">
            <a:avLst>
              <a:gd name="adj" fmla="val 16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0" name="Shape 18"/>
          <p:cNvSpPr/>
          <p:nvPr/>
        </p:nvSpPr>
        <p:spPr>
          <a:xfrm>
            <a:off x="5143500" y="5190133"/>
            <a:ext cx="6038784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5143500" y="2849893"/>
            <a:ext cx="6038784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2" name="Shape 20"/>
          <p:cNvSpPr/>
          <p:nvPr/>
        </p:nvSpPr>
        <p:spPr>
          <a:xfrm>
            <a:off x="5143500" y="2849893"/>
            <a:ext cx="74083" cy="2350823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3" name="Shape 21"/>
          <p:cNvSpPr/>
          <p:nvPr/>
        </p:nvSpPr>
        <p:spPr>
          <a:xfrm>
            <a:off x="11171701" y="2849893"/>
            <a:ext cx="10583" cy="235082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5484151" y="3089011"/>
            <a:ext cx="558361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4151" y="3336561"/>
            <a:ext cx="5583611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JAX-WS · SOAP sobre Payara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84151" y="3740712"/>
            <a:ext cx="5583611" cy="1258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JAX-WS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(Jakarta XML Web Services) expone clases Java como servicios SOAP mediante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@WebService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Cada método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@WebMethod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publica como operación. Payara genera automáticamente el </a:t>
            </a: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WSDL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desplegar el WAR. Namespace del servicio: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http://ws.monster.edu.ec/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endpoint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WSFederacion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11487051" y="2849893"/>
            <a:ext cx="6038949" cy="2371990"/>
          </a:xfrm>
          <a:prstGeom prst="roundRect">
            <a:avLst>
              <a:gd name="adj" fmla="val 160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8" name="Shape 26"/>
          <p:cNvSpPr/>
          <p:nvPr/>
        </p:nvSpPr>
        <p:spPr>
          <a:xfrm>
            <a:off x="11487051" y="5211300"/>
            <a:ext cx="6038949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9" name="Shape 27"/>
          <p:cNvSpPr/>
          <p:nvPr/>
        </p:nvSpPr>
        <p:spPr>
          <a:xfrm>
            <a:off x="11487051" y="2849893"/>
            <a:ext cx="6038949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0" name="Shape 28"/>
          <p:cNvSpPr/>
          <p:nvPr/>
        </p:nvSpPr>
        <p:spPr>
          <a:xfrm>
            <a:off x="11487051" y="2849893"/>
            <a:ext cx="74083" cy="2371990"/>
          </a:xfrm>
          <a:prstGeom prst="rect">
            <a:avLst/>
          </a:prstGeom>
          <a:solidFill>
            <a:srgbClr val="42955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1" name="Shape 29"/>
          <p:cNvSpPr/>
          <p:nvPr/>
        </p:nvSpPr>
        <p:spPr>
          <a:xfrm>
            <a:off x="17515417" y="2849893"/>
            <a:ext cx="10583" cy="2371990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11827702" y="3089011"/>
            <a:ext cx="558378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827702" y="3336561"/>
            <a:ext cx="5583782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+ MySQL Workbench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827702" y="3740712"/>
            <a:ext cx="5583782" cy="1280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API estándar de Java para BD relacionales.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FederacionService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DriverManager.getConnection()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esquema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ticketpremium_db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try-with-resources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cierra automáticamente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PreparedStatement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ResultSet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Parámetros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previenen </a:t>
            </a: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5143500" y="5450417"/>
            <a:ext cx="12382501" cy="2904464"/>
          </a:xfrm>
          <a:prstGeom prst="roundRect">
            <a:avLst>
              <a:gd name="adj" fmla="val 2624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6" name="Text 34"/>
          <p:cNvSpPr/>
          <p:nvPr/>
        </p:nvSpPr>
        <p:spPr>
          <a:xfrm>
            <a:off x="5391150" y="5659967"/>
            <a:ext cx="12258676" cy="2523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@WebService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(serviceName =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"WSFederacion"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WSFederacion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final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FederacionService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servicio =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FederacionService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[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@WebMethod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(operationName =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login([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@WebParam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(name=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"username"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[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@WebParam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(name=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"password"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p)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servicio.login(u, p);   </a:t>
            </a: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JDBC contra tabla USUARIO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5143500" y="9774866"/>
            <a:ext cx="5822578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TP_SOAP_JAVA_TICKETPREMIUM_G5 · 03 MARCO TEÓRICO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7571641" y="9743116"/>
            <a:ext cx="335492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0" y="10153716"/>
            <a:ext cx="18288001" cy="133284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9F96AC44-72DF-9424-E64E-252EC1D6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8288000" cy="4234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301" y="626566"/>
            <a:ext cx="133284" cy="133284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799869" y="571500"/>
            <a:ext cx="2191213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301" y="1214934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369" y="1257267"/>
            <a:ext cx="1864122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JAX-WS + Payara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301" y="1644551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369" y="1686884"/>
            <a:ext cx="163558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+ MySQL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301" y="2074168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369" y="2074168"/>
            <a:ext cx="1984342" cy="334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 · wsimport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301" y="2503785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369" y="2503785"/>
            <a:ext cx="1891407" cy="334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FlatLaf · Swing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301" y="2933402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369" y="2933402"/>
            <a:ext cx="2770856" cy="334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SOAP manual · OkHttp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301" y="9567334"/>
            <a:ext cx="3532040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43500" y="609534"/>
            <a:ext cx="1275397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MARCO TEÓRICO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3500" y="1017984"/>
            <a:ext cx="1275397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Stubs, FlatLaf y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SOAP manual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5143500" y="1734013"/>
            <a:ext cx="1143000" cy="57051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9" name="Shape 17"/>
          <p:cNvSpPr/>
          <p:nvPr/>
        </p:nvSpPr>
        <p:spPr>
          <a:xfrm>
            <a:off x="5143500" y="2209932"/>
            <a:ext cx="6038784" cy="2323373"/>
          </a:xfrm>
          <a:prstGeom prst="roundRect">
            <a:avLst>
              <a:gd name="adj" fmla="val 16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0" name="Shape 18"/>
          <p:cNvSpPr/>
          <p:nvPr/>
        </p:nvSpPr>
        <p:spPr>
          <a:xfrm>
            <a:off x="5143500" y="4522722"/>
            <a:ext cx="6038784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5143500" y="2209932"/>
            <a:ext cx="6038784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2" name="Shape 20"/>
          <p:cNvSpPr/>
          <p:nvPr/>
        </p:nvSpPr>
        <p:spPr>
          <a:xfrm>
            <a:off x="5143500" y="2209932"/>
            <a:ext cx="74083" cy="2323373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3" name="Shape 21"/>
          <p:cNvSpPr/>
          <p:nvPr/>
        </p:nvSpPr>
        <p:spPr>
          <a:xfrm>
            <a:off x="11171701" y="2209932"/>
            <a:ext cx="10583" cy="232337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5465134" y="2430033"/>
            <a:ext cx="562278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65134" y="2677583"/>
            <a:ext cx="5622786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 JAX-WS · ClienteFederacion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65134" y="3081735"/>
            <a:ext cx="5622786" cy="12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stubs son clases Java generadas por </a:t>
            </a: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wsimport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del WSDL: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WSFederacion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WSFederacion_Service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todos los DTOs.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ClienteFederacion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envuelve el stub y configura la dirección del endpoint con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BindingProvider.ENDPOINT_ADDRESS_PROPERTY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recompilar.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143500" y="4704623"/>
            <a:ext cx="6038784" cy="1822318"/>
          </a:xfrm>
          <a:prstGeom prst="roundRect">
            <a:avLst>
              <a:gd name="adj" fmla="val 20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8" name="Shape 26"/>
          <p:cNvSpPr/>
          <p:nvPr/>
        </p:nvSpPr>
        <p:spPr>
          <a:xfrm>
            <a:off x="5143500" y="6516357"/>
            <a:ext cx="6038784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9" name="Shape 27"/>
          <p:cNvSpPr/>
          <p:nvPr/>
        </p:nvSpPr>
        <p:spPr>
          <a:xfrm>
            <a:off x="5143500" y="4704623"/>
            <a:ext cx="6038784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0" name="Shape 28"/>
          <p:cNvSpPr/>
          <p:nvPr/>
        </p:nvSpPr>
        <p:spPr>
          <a:xfrm>
            <a:off x="5143500" y="4704623"/>
            <a:ext cx="74083" cy="1822318"/>
          </a:xfrm>
          <a:prstGeom prst="rect">
            <a:avLst/>
          </a:prstGeom>
          <a:solidFill>
            <a:srgbClr val="4590B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1" name="Shape 29"/>
          <p:cNvSpPr/>
          <p:nvPr/>
        </p:nvSpPr>
        <p:spPr>
          <a:xfrm>
            <a:off x="11171701" y="4704623"/>
            <a:ext cx="10583" cy="1822318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5465134" y="4924723"/>
            <a:ext cx="562278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65134" y="5172274"/>
            <a:ext cx="5622786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FlatLaf · Swing moderno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465134" y="5576425"/>
            <a:ext cx="5622786" cy="768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FlatDarkLaf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un Look &amp; Feel oscuro plano sobre Swing. Combinado con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GradientPaint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la paleta </a:t>
            </a: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/ Cian / Verde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interfaces premium sin frameworks externos.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11487051" y="2209932"/>
            <a:ext cx="6038949" cy="2083428"/>
          </a:xfrm>
          <a:prstGeom prst="roundRect">
            <a:avLst>
              <a:gd name="adj" fmla="val 18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6" name="Shape 34"/>
          <p:cNvSpPr/>
          <p:nvPr/>
        </p:nvSpPr>
        <p:spPr>
          <a:xfrm>
            <a:off x="11487051" y="4282778"/>
            <a:ext cx="6038949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7" name="Shape 35"/>
          <p:cNvSpPr/>
          <p:nvPr/>
        </p:nvSpPr>
        <p:spPr>
          <a:xfrm>
            <a:off x="11487051" y="2209932"/>
            <a:ext cx="6038949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8" name="Shape 36"/>
          <p:cNvSpPr/>
          <p:nvPr/>
        </p:nvSpPr>
        <p:spPr>
          <a:xfrm>
            <a:off x="11487051" y="2209932"/>
            <a:ext cx="74083" cy="2083428"/>
          </a:xfrm>
          <a:prstGeom prst="rect">
            <a:avLst/>
          </a:prstGeom>
          <a:solidFill>
            <a:srgbClr val="42955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9" name="Shape 37"/>
          <p:cNvSpPr/>
          <p:nvPr/>
        </p:nvSpPr>
        <p:spPr>
          <a:xfrm>
            <a:off x="17515417" y="2209932"/>
            <a:ext cx="10583" cy="2083428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0" name="Text 38"/>
          <p:cNvSpPr/>
          <p:nvPr/>
        </p:nvSpPr>
        <p:spPr>
          <a:xfrm>
            <a:off x="11808685" y="2430033"/>
            <a:ext cx="562295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808685" y="2677583"/>
            <a:ext cx="5622957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SOAP manual con OkHttp + XmlPullParser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1808685" y="3081735"/>
            <a:ext cx="5622957" cy="10296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 Android </a:t>
            </a: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usa ksoap2 ni Retrofit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Construye el envelope SOAP como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XML, lo envía con </a:t>
            </a: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OkHttp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parsea la respuesta con </a:t>
            </a: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XmlPullParser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(incluido en el SDK). El patrón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SoapCallback&lt;T&gt;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AsyncTask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 la asincronía.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11487051" y="4464679"/>
            <a:ext cx="6038949" cy="3512013"/>
          </a:xfrm>
          <a:prstGeom prst="roundRect">
            <a:avLst>
              <a:gd name="adj" fmla="val 217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4" name="Text 42"/>
          <p:cNvSpPr/>
          <p:nvPr/>
        </p:nvSpPr>
        <p:spPr>
          <a:xfrm>
            <a:off x="11734701" y="4674229"/>
            <a:ext cx="5724818" cy="3131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20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soap = 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 </a:t>
            </a:r>
            <a:r>
              <a:rPr lang="en-US" sz="120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&lt;?xml version=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"1.0" </a:t>
            </a:r>
            <a:r>
              <a:rPr lang="en-US" sz="120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?&gt;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&lt;soapenv:Envelope xmlns:soapenv=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"..." </a:t>
            </a:r>
            <a:r>
              <a:rPr lang="en-US" sz="120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xmlns:ser=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"http://ws.monster.edu.ec/" </a:t>
            </a:r>
            <a:r>
              <a:rPr lang="en-US" sz="120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&lt;soapenv:Body&gt;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&lt;ser:login&gt;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&lt;username&gt;$u&lt;/username&gt;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&lt;password&gt;$p&lt;/password&gt;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&lt;/ser:login&gt;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&lt;/soapenv:Body&gt;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&lt;/soapenv:Envelope&gt; 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 </a:t>
            </a:r>
            <a:r>
              <a:rPr lang="en-US" sz="120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client.newCall(</a:t>
            </a: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 </a:t>
            </a:r>
            <a:r>
              <a:rPr lang="en-US" sz="120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.Builder()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.url(URL).post(soap.toRequestBody(XML))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.addHeader( 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"SOAPAction"</a:t>
            </a:r>
            <a:r>
              <a:rPr lang="en-US" sz="120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r>
              <a:rPr lang="en-US" sz="120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).build()).execute()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43500" y="9774866"/>
            <a:ext cx="5822578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TP_SOAP_JAVA_TICKETPREMIUM_G5 · 03 MARCO TEÓRICO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7571641" y="9743116"/>
            <a:ext cx="335492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0" y="10153716"/>
            <a:ext cx="18288001" cy="133284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46236F66-E76E-7A2B-0296-026C5E846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8288000" cy="4234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2052836"/>
            <a:ext cx="12382501" cy="5905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301" y="626566"/>
            <a:ext cx="133284" cy="133284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799869" y="571500"/>
            <a:ext cx="2191213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301" y="1214934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369" y="1257267"/>
            <a:ext cx="1864122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JAX-WS + Payara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301" y="1644551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369" y="1686884"/>
            <a:ext cx="163558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+ MySQL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301" y="2074168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369" y="2116501"/>
            <a:ext cx="162550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 · wsimport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301" y="2503785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369" y="2546119"/>
            <a:ext cx="156745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FlatLaf · Swing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301" y="2933402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369" y="2933402"/>
            <a:ext cx="1603177" cy="334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301" y="9567334"/>
            <a:ext cx="3532040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43500" y="609534"/>
            <a:ext cx="1275397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MARCO TEÓRICO — VISTA GLOBAL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3500" y="1017984"/>
            <a:ext cx="1275397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ecosistema SOAP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5143500" y="1734013"/>
            <a:ext cx="1143000" cy="57051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9" name="Shape 17"/>
          <p:cNvSpPr/>
          <p:nvPr/>
        </p:nvSpPr>
        <p:spPr>
          <a:xfrm>
            <a:off x="9124487" y="3835466"/>
            <a:ext cx="4420526" cy="1557404"/>
          </a:xfrm>
          <a:prstGeom prst="roundRect">
            <a:avLst>
              <a:gd name="adj" fmla="val 4893"/>
            </a:avLst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9411265" y="4064000"/>
            <a:ext cx="384697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315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· PAYARA SERVER 6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411265" y="4311551"/>
            <a:ext cx="3846972" cy="440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WSFederacion · JAX-WS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411265" y="4789785"/>
            <a:ext cx="384697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F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SOAP · :8080/TP_SOAP_JAVA_SERVICIO_G5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411265" y="5005586"/>
            <a:ext cx="384697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FD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Jakarta EE 10 · JDBC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24500" y="2419615"/>
            <a:ext cx="1983052" cy="905702"/>
          </a:xfrm>
          <a:prstGeom prst="roundRect">
            <a:avLst>
              <a:gd name="adj" fmla="val 6310"/>
            </a:avLst>
          </a:prstGeom>
          <a:solidFill>
            <a:srgbClr val="FFFFFF"/>
          </a:solidFill>
          <a:ln w="10583">
            <a:solidFill>
              <a:srgbClr val="4590B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Text 23"/>
          <p:cNvSpPr/>
          <p:nvPr/>
        </p:nvSpPr>
        <p:spPr>
          <a:xfrm>
            <a:off x="5668301" y="2563482"/>
            <a:ext cx="1695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21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1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8301" y="2792016"/>
            <a:ext cx="1695450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Consola Java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668301" y="3054449"/>
            <a:ext cx="169545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 JAX-WS · ANSI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24500" y="4610365"/>
            <a:ext cx="1983052" cy="905702"/>
          </a:xfrm>
          <a:prstGeom prst="roundRect">
            <a:avLst>
              <a:gd name="adj" fmla="val 6310"/>
            </a:avLst>
          </a:prstGeom>
          <a:solidFill>
            <a:srgbClr val="FFFFFF"/>
          </a:solidFill>
          <a:ln w="10583">
            <a:solidFill>
              <a:srgbClr val="4590B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Text 27"/>
          <p:cNvSpPr/>
          <p:nvPr/>
        </p:nvSpPr>
        <p:spPr>
          <a:xfrm>
            <a:off x="5668301" y="4754232"/>
            <a:ext cx="1695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21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68301" y="4982766"/>
            <a:ext cx="1695450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Escritorio Swing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668301" y="5245200"/>
            <a:ext cx="169545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FlatDarkLaf + Stub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5130364" y="2419615"/>
            <a:ext cx="2014637" cy="905702"/>
          </a:xfrm>
          <a:prstGeom prst="roundRect">
            <a:avLst>
              <a:gd name="adj" fmla="val 6310"/>
            </a:avLst>
          </a:prstGeom>
          <a:solidFill>
            <a:srgbClr val="FFFFFF"/>
          </a:solidFill>
          <a:ln w="10583">
            <a:solidFill>
              <a:srgbClr val="4590B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" name="Text 31"/>
          <p:cNvSpPr/>
          <p:nvPr/>
        </p:nvSpPr>
        <p:spPr>
          <a:xfrm>
            <a:off x="15274165" y="2563482"/>
            <a:ext cx="172703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21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5274165" y="2792016"/>
            <a:ext cx="1727035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JSP / Servlet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5274165" y="3054449"/>
            <a:ext cx="172703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TicketServlet · Stub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5161949" y="4610365"/>
            <a:ext cx="1983052" cy="905702"/>
          </a:xfrm>
          <a:prstGeom prst="roundRect">
            <a:avLst>
              <a:gd name="adj" fmla="val 6310"/>
            </a:avLst>
          </a:prstGeom>
          <a:solidFill>
            <a:srgbClr val="FFFFFF"/>
          </a:solidFill>
          <a:ln w="10583">
            <a:solidFill>
              <a:srgbClr val="4590B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7" name="Text 35"/>
          <p:cNvSpPr/>
          <p:nvPr/>
        </p:nvSpPr>
        <p:spPr>
          <a:xfrm>
            <a:off x="15305749" y="4754232"/>
            <a:ext cx="1695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21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4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5305749" y="4982766"/>
            <a:ext cx="1695450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· Kotlin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5305749" y="5245200"/>
            <a:ext cx="169545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OkHttp + XmlPullParser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781769" y="7116631"/>
            <a:ext cx="5105963" cy="636984"/>
          </a:xfrm>
          <a:prstGeom prst="roundRect">
            <a:avLst>
              <a:gd name="adj" fmla="val 8972"/>
            </a:avLst>
          </a:prstGeom>
          <a:solidFill>
            <a:srgbClr val="42955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1" name="Text 39"/>
          <p:cNvSpPr/>
          <p:nvPr/>
        </p:nvSpPr>
        <p:spPr>
          <a:xfrm>
            <a:off x="8881637" y="7249914"/>
            <a:ext cx="4906227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· ticketpremium_db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8881637" y="7493331"/>
            <a:ext cx="4906227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· PARTIDO_FUTBOL · LOCALIDAD_PARTIDO · FACTURA · DETALLE_FACTURA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5143500" y="8210683"/>
            <a:ext cx="12753976" cy="590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clientes consumen el mismo endpoint </a:t>
            </a:r>
            <a:r>
              <a:rPr lang="en-US" sz="15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http://host:8080/TP_SOAP_JAVA_SERVICIO_G5/WSFederacion </a:t>
            </a: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Los Java usan stubs JAX-WS, Android construye SOAP manualmente.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5143500" y="9774866"/>
            <a:ext cx="5822578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TP_SOAP_JAVA_TICKETPREMIUM_G5 · 03 MARCO TEÓRICO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7571641" y="9743116"/>
            <a:ext cx="335492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50" dirty="0"/>
          </a:p>
        </p:txBody>
      </p:sp>
      <p:sp>
        <p:nvSpPr>
          <p:cNvPr id="47" name="Shape 44"/>
          <p:cNvSpPr/>
          <p:nvPr/>
        </p:nvSpPr>
        <p:spPr>
          <a:xfrm>
            <a:off x="0" y="10153716"/>
            <a:ext cx="18288001" cy="133284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8C0E0EA7-45C8-6989-A784-5FB863730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0"/>
            <a:ext cx="18288000" cy="4234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301" y="626566"/>
            <a:ext cx="133284" cy="133284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799869" y="571500"/>
            <a:ext cx="2330781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301" y="1214934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369" y="1214934"/>
            <a:ext cx="1313293" cy="334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 MySQL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301" y="1644551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369" y="1686884"/>
            <a:ext cx="157804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SOAP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301" y="2074168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369" y="2116501"/>
            <a:ext cx="164914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301" y="2503785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369" y="2546119"/>
            <a:ext cx="177251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Escritorio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301" y="2933402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369" y="2975736"/>
            <a:ext cx="174985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JSP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301" y="3363020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369" y="3405353"/>
            <a:ext cx="1356949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301" y="9567334"/>
            <a:ext cx="3532040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43500" y="609534"/>
            <a:ext cx="1275397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 — 4.1 BASE DE DATOS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43500" y="1017984"/>
            <a:ext cx="1275397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Esquema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ticketpremium_db</a:t>
            </a:r>
            <a:endParaRPr lang="en-US" sz="4800" dirty="0"/>
          </a:p>
        </p:txBody>
      </p:sp>
      <p:sp>
        <p:nvSpPr>
          <p:cNvPr id="20" name="Shape 18"/>
          <p:cNvSpPr/>
          <p:nvPr/>
        </p:nvSpPr>
        <p:spPr>
          <a:xfrm>
            <a:off x="5143500" y="1734013"/>
            <a:ext cx="1143000" cy="57051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5143500" y="2133865"/>
            <a:ext cx="12753976" cy="36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relacional MySQL 8 con cinco tablas que modelan usuarios, partidos, localidades y facturación con detalle.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143500" y="2693459"/>
            <a:ext cx="2457318" cy="477242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3" name="Shape 21"/>
          <p:cNvSpPr/>
          <p:nvPr/>
        </p:nvSpPr>
        <p:spPr>
          <a:xfrm>
            <a:off x="5143500" y="3160117"/>
            <a:ext cx="2457318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5276850" y="2807759"/>
            <a:ext cx="2266818" cy="276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8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600818" y="2693459"/>
            <a:ext cx="6452196" cy="477242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6" name="Shape 24"/>
          <p:cNvSpPr/>
          <p:nvPr/>
        </p:nvSpPr>
        <p:spPr>
          <a:xfrm>
            <a:off x="7600818" y="3160117"/>
            <a:ext cx="6452196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7" name="Text 25"/>
          <p:cNvSpPr/>
          <p:nvPr/>
        </p:nvSpPr>
        <p:spPr>
          <a:xfrm>
            <a:off x="7734168" y="2807759"/>
            <a:ext cx="6379062" cy="276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8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Columnas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4053013" y="2693459"/>
            <a:ext cx="3472987" cy="477242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9" name="Shape 27"/>
          <p:cNvSpPr/>
          <p:nvPr/>
        </p:nvSpPr>
        <p:spPr>
          <a:xfrm>
            <a:off x="14053013" y="3160117"/>
            <a:ext cx="3472987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14186363" y="2807759"/>
            <a:ext cx="3310477" cy="276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8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143500" y="3801401"/>
            <a:ext cx="2457318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5276850" y="3285001"/>
            <a:ext cx="2266818" cy="440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600818" y="3801401"/>
            <a:ext cx="6452196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7734168" y="3285001"/>
            <a:ext cx="6379062" cy="440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USERNAME, PASSWORD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14053013" y="3801401"/>
            <a:ext cx="3472987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6" name="Text 34"/>
          <p:cNvSpPr/>
          <p:nvPr/>
        </p:nvSpPr>
        <p:spPr>
          <a:xfrm>
            <a:off x="14186363" y="3285001"/>
            <a:ext cx="3310477" cy="440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autorizados para acceder al sistema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5143500" y="3811984"/>
            <a:ext cx="12382501" cy="440201"/>
          </a:xfrm>
          <a:prstGeom prst="rect">
            <a:avLst/>
          </a:prstGeom>
          <a:solidFill>
            <a:srgbClr val="F6F9F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8" name="Shape 36"/>
          <p:cNvSpPr/>
          <p:nvPr/>
        </p:nvSpPr>
        <p:spPr>
          <a:xfrm>
            <a:off x="5143500" y="4241602"/>
            <a:ext cx="2457318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9" name="Text 37"/>
          <p:cNvSpPr/>
          <p:nvPr/>
        </p:nvSpPr>
        <p:spPr>
          <a:xfrm>
            <a:off x="5276850" y="3926284"/>
            <a:ext cx="2266818" cy="239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PARTIDO_FUTBOL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7600818" y="4241602"/>
            <a:ext cx="6452196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1" name="Text 39"/>
          <p:cNvSpPr/>
          <p:nvPr/>
        </p:nvSpPr>
        <p:spPr>
          <a:xfrm>
            <a:off x="7734168" y="3926284"/>
            <a:ext cx="6379062" cy="239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CODIGO, EQUIPO_LOCAL, EQUIPO_VISITA, FECHA, LUGAR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14053013" y="4241602"/>
            <a:ext cx="3472987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3" name="Text 41"/>
          <p:cNvSpPr/>
          <p:nvPr/>
        </p:nvSpPr>
        <p:spPr>
          <a:xfrm>
            <a:off x="14186363" y="3926284"/>
            <a:ext cx="3310477" cy="239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Partidos de fútbol programados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5143500" y="4882886"/>
            <a:ext cx="2457318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5" name="Text 43"/>
          <p:cNvSpPr/>
          <p:nvPr/>
        </p:nvSpPr>
        <p:spPr>
          <a:xfrm>
            <a:off x="5276850" y="4366485"/>
            <a:ext cx="2266818" cy="440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LOCALIDAD_PARTIDO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7600818" y="4882886"/>
            <a:ext cx="6452196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7" name="Text 45"/>
          <p:cNvSpPr/>
          <p:nvPr/>
        </p:nvSpPr>
        <p:spPr>
          <a:xfrm>
            <a:off x="7734168" y="4366485"/>
            <a:ext cx="6379062" cy="440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CODIGO_PARTIDO, CODIGO_LOCALIDAD, DISPONIBILIDAD, PRECIO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14053013" y="4882886"/>
            <a:ext cx="3472987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9" name="Text 47"/>
          <p:cNvSpPr/>
          <p:nvPr/>
        </p:nvSpPr>
        <p:spPr>
          <a:xfrm>
            <a:off x="14186363" y="4366485"/>
            <a:ext cx="3310477" cy="440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Localidades por partido (General, VIP, Platea)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5143500" y="4893469"/>
            <a:ext cx="12382501" cy="440201"/>
          </a:xfrm>
          <a:prstGeom prst="rect">
            <a:avLst/>
          </a:prstGeom>
          <a:solidFill>
            <a:srgbClr val="F6F9F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1" name="Shape 49"/>
          <p:cNvSpPr/>
          <p:nvPr/>
        </p:nvSpPr>
        <p:spPr>
          <a:xfrm>
            <a:off x="5143500" y="5323086"/>
            <a:ext cx="2457318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2" name="Text 50"/>
          <p:cNvSpPr/>
          <p:nvPr/>
        </p:nvSpPr>
        <p:spPr>
          <a:xfrm>
            <a:off x="5276850" y="5007769"/>
            <a:ext cx="2266818" cy="239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FACTURA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7600818" y="5323086"/>
            <a:ext cx="6452196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4" name="Text 52"/>
          <p:cNvSpPr/>
          <p:nvPr/>
        </p:nvSpPr>
        <p:spPr>
          <a:xfrm>
            <a:off x="7734168" y="5007769"/>
            <a:ext cx="6379062" cy="239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CODIGO_PARTIDO, NOMBRE_CLIENTE, FECHA, SUBTOTAL, IVA, TOTAL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14053013" y="5323086"/>
            <a:ext cx="3472987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6" name="Text 54"/>
          <p:cNvSpPr/>
          <p:nvPr/>
        </p:nvSpPr>
        <p:spPr>
          <a:xfrm>
            <a:off x="14186363" y="5007769"/>
            <a:ext cx="3310477" cy="239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Facturas generadas por compras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5143500" y="5964370"/>
            <a:ext cx="2457318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8" name="Text 56"/>
          <p:cNvSpPr/>
          <p:nvPr/>
        </p:nvSpPr>
        <p:spPr>
          <a:xfrm>
            <a:off x="5276850" y="5447970"/>
            <a:ext cx="2266818" cy="440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DETALLE_FACTURA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7600818" y="5964370"/>
            <a:ext cx="6452196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0" name="Text 58"/>
          <p:cNvSpPr/>
          <p:nvPr/>
        </p:nvSpPr>
        <p:spPr>
          <a:xfrm>
            <a:off x="7734168" y="5447970"/>
            <a:ext cx="6379062" cy="440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ID_FACTURA, CODIGO_LOCALIDAD, CANTIDAD, PRECIO_UNITARIO, SUBTOTAL</a:t>
            </a:r>
            <a:endParaRPr lang="en-US" sz="1350" dirty="0"/>
          </a:p>
        </p:txBody>
      </p:sp>
      <p:sp>
        <p:nvSpPr>
          <p:cNvPr id="61" name="Shape 59"/>
          <p:cNvSpPr/>
          <p:nvPr/>
        </p:nvSpPr>
        <p:spPr>
          <a:xfrm>
            <a:off x="14053013" y="5964370"/>
            <a:ext cx="3472987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2" name="Text 60"/>
          <p:cNvSpPr/>
          <p:nvPr/>
        </p:nvSpPr>
        <p:spPr>
          <a:xfrm>
            <a:off x="14186363" y="5447970"/>
            <a:ext cx="3310477" cy="440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Líneas de detalle de cada factura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5143500" y="5980245"/>
            <a:ext cx="12753976" cy="36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1 · Esquema relacional </a:t>
            </a:r>
            <a:r>
              <a:rPr lang="en-US" sz="1800" i="1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ticketpremium_db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5143500" y="6597055"/>
            <a:ext cx="12382501" cy="2061600"/>
          </a:xfrm>
          <a:prstGeom prst="roundRect">
            <a:avLst>
              <a:gd name="adj" fmla="val 3696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5" name="Text 63"/>
          <p:cNvSpPr/>
          <p:nvPr/>
        </p:nvSpPr>
        <p:spPr>
          <a:xfrm>
            <a:off x="5391150" y="6806605"/>
            <a:ext cx="12258676" cy="168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FederacionService.java — cadena JDBC </a:t>
            </a:r>
            <a:r>
              <a:rPr lang="en-US" sz="127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static final</a:t>
            </a:r>
            <a:r>
              <a:rPr lang="en-US" sz="127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75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27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URL =</a:t>
            </a:r>
            <a:endParaRPr lang="en-US" sz="1275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275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"jdbc:mysql://localhost:3306/ticketpremium_db?" </a:t>
            </a:r>
            <a:r>
              <a:rPr lang="en-US" sz="127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+</a:t>
            </a:r>
            <a:endParaRPr lang="en-US" sz="1275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275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"useSSL=false&amp;serverTimezone=America/Guayaquil&amp;allowPublicKeyRetrieval=true"</a:t>
            </a:r>
            <a:r>
              <a:rPr lang="en-US" sz="127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27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static final</a:t>
            </a:r>
            <a:r>
              <a:rPr lang="en-US" sz="127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75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27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USER = </a:t>
            </a:r>
            <a:r>
              <a:rPr lang="en-US" sz="1275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"root"</a:t>
            </a:r>
            <a:r>
              <a:rPr lang="en-US" sz="127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27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static final</a:t>
            </a:r>
            <a:r>
              <a:rPr lang="en-US" sz="127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75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27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PASS = </a:t>
            </a:r>
            <a:r>
              <a:rPr lang="en-US" sz="1275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"root"</a:t>
            </a:r>
            <a:r>
              <a:rPr lang="en-US" sz="127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27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27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r>
              <a:rPr lang="en-US" sz="1275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27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.forName(</a:t>
            </a:r>
            <a:r>
              <a:rPr lang="en-US" sz="1275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"com.mysql.cj.jdbc.Driver"</a:t>
            </a:r>
            <a:r>
              <a:rPr lang="en-US" sz="127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 }</a:t>
            </a:r>
            <a:endParaRPr lang="en-US" sz="1275" dirty="0"/>
          </a:p>
        </p:txBody>
      </p:sp>
      <p:sp>
        <p:nvSpPr>
          <p:cNvPr id="66" name="Text 64"/>
          <p:cNvSpPr/>
          <p:nvPr/>
        </p:nvSpPr>
        <p:spPr>
          <a:xfrm>
            <a:off x="5143500" y="9774866"/>
            <a:ext cx="5815935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TP_SOAP_JAVA_TICKETPREMIUM_G5 · 4.1 BASE DE DATOS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7571641" y="9743116"/>
            <a:ext cx="335492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50" dirty="0"/>
          </a:p>
        </p:txBody>
      </p:sp>
      <p:sp>
        <p:nvSpPr>
          <p:cNvPr id="68" name="Shape 66"/>
          <p:cNvSpPr/>
          <p:nvPr/>
        </p:nvSpPr>
        <p:spPr>
          <a:xfrm>
            <a:off x="0" y="10153716"/>
            <a:ext cx="18288001" cy="133284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69" name="Imagen 68">
            <a:extLst>
              <a:ext uri="{FF2B5EF4-FFF2-40B4-BE49-F238E27FC236}">
                <a16:creationId xmlns:a16="http://schemas.microsoft.com/office/drawing/2014/main" id="{C601A68B-0D44-EB74-9B50-B59F788D5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8288000" cy="4234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301" y="626566"/>
            <a:ext cx="133284" cy="133284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799869" y="571500"/>
            <a:ext cx="2330781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301" y="1214934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369" y="1257267"/>
            <a:ext cx="117405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 MySQL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301" y="1644551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369" y="1644551"/>
            <a:ext cx="1826750" cy="334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SOAP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90501" y="2074168"/>
            <a:ext cx="3074840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Estructura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90501" y="2450869"/>
            <a:ext cx="3074840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C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WSFederacion + DAO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3301" y="2785236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369" y="2827569"/>
            <a:ext cx="164914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301" y="3214853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369" y="3257186"/>
            <a:ext cx="177251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Escritorio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301" y="3644470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369" y="3686803"/>
            <a:ext cx="174985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JSP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301" y="4074087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90369" y="4116421"/>
            <a:ext cx="1356949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3301" y="9567334"/>
            <a:ext cx="3532040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43500" y="609534"/>
            <a:ext cx="1275397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 — 4.2 SERVIDOR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43500" y="1017984"/>
            <a:ext cx="12753976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TP_SOAP_JAVA_SERVICIO_G5</a:t>
            </a:r>
            <a:endParaRPr lang="en-US" sz="4800" dirty="0"/>
          </a:p>
        </p:txBody>
      </p:sp>
      <p:sp>
        <p:nvSpPr>
          <p:cNvPr id="22" name="Shape 20"/>
          <p:cNvSpPr/>
          <p:nvPr/>
        </p:nvSpPr>
        <p:spPr>
          <a:xfrm>
            <a:off x="5143500" y="2373974"/>
            <a:ext cx="1143000" cy="57051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5143500" y="2773826"/>
            <a:ext cx="12753976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Maven Jakarta EE desplegado en Payara Server 6.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WSFederacion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endpoint SOAP y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FederacionService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capa DAO con MySQL.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143500" y="3664645"/>
            <a:ext cx="6038784" cy="622102"/>
          </a:xfrm>
          <a:prstGeom prst="roundRect">
            <a:avLst>
              <a:gd name="adj" fmla="val 61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5" name="Shape 23"/>
          <p:cNvSpPr/>
          <p:nvPr/>
        </p:nvSpPr>
        <p:spPr>
          <a:xfrm>
            <a:off x="5143500" y="4276163"/>
            <a:ext cx="6038784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6" name="Shape 24"/>
          <p:cNvSpPr/>
          <p:nvPr/>
        </p:nvSpPr>
        <p:spPr>
          <a:xfrm>
            <a:off x="5143500" y="3664645"/>
            <a:ext cx="6038784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7" name="Shape 25"/>
          <p:cNvSpPr/>
          <p:nvPr/>
        </p:nvSpPr>
        <p:spPr>
          <a:xfrm>
            <a:off x="5143500" y="3664645"/>
            <a:ext cx="74083" cy="622102"/>
          </a:xfrm>
          <a:prstGeom prst="rect">
            <a:avLst/>
          </a:prstGeom>
          <a:solidFill>
            <a:srgbClr val="4590B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8" name="Shape 26"/>
          <p:cNvSpPr/>
          <p:nvPr/>
        </p:nvSpPr>
        <p:spPr>
          <a:xfrm>
            <a:off x="11171701" y="3664645"/>
            <a:ext cx="10583" cy="622102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9" name="Text 27"/>
          <p:cNvSpPr/>
          <p:nvPr/>
        </p:nvSpPr>
        <p:spPr>
          <a:xfrm>
            <a:off x="5427101" y="3827529"/>
            <a:ext cx="570113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5505450" y="4381996"/>
            <a:ext cx="5857998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NetBeans → Maven · Aplicación Web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05450" y="4892312"/>
            <a:ext cx="5857998" cy="677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Servidor: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Payara Server 6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paquete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ec.edu.monster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05450" y="5722441"/>
            <a:ext cx="5857998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mysql-connector-j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pom.xml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505450" y="6232757"/>
            <a:ext cx="5857998" cy="677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Modelos: Partido, Localidad, Factura, Detalle, Usuario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505450" y="7062887"/>
            <a:ext cx="5857998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FederacionService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DAO con JDBC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505450" y="7573202"/>
            <a:ext cx="5857998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WSFederacion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@WebService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505450" y="8083517"/>
            <a:ext cx="5857998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→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asadmin deploy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WSDL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1487051" y="3664645"/>
            <a:ext cx="6038949" cy="4367113"/>
          </a:xfrm>
          <a:prstGeom prst="roundRect">
            <a:avLst>
              <a:gd name="adj" fmla="val 1745"/>
            </a:avLst>
          </a:prstGeom>
          <a:solidFill>
            <a:srgbClr val="0B122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8" name="Text 36"/>
          <p:cNvSpPr/>
          <p:nvPr/>
        </p:nvSpPr>
        <p:spPr>
          <a:xfrm>
            <a:off x="11715651" y="3855145"/>
            <a:ext cx="5762918" cy="402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TP_SOAP_JAVA_SERVICIO_G5/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pom.xml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jakartaee-api, mysql-connector-j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src/main/java/ec/edu/monster/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modelo/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 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PartidoFutbol.java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LocalidadPartido.java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Factura.java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DetalleFactura.java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PeticionCompra.java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ResumenVenta.java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Usuario.java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servicio/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 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FederacionService.java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DAO JDBC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ws/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WSFederacion.java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@WebService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143500" y="9774866"/>
            <a:ext cx="5231038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TP_SOAP_JAVA_TICKETPREMIUM_G5 · 4.2 SERVIDOR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7571641" y="9743116"/>
            <a:ext cx="335492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0" y="10153716"/>
            <a:ext cx="18288001" cy="133284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BE8C6C52-29CD-BFE8-89C7-27A609DD8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8288000" cy="4234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301" y="626566"/>
            <a:ext cx="133284" cy="133284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799869" y="571500"/>
            <a:ext cx="2330781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301" y="1214934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369" y="1257267"/>
            <a:ext cx="117405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 MySQL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301" y="1644551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369" y="1644551"/>
            <a:ext cx="1826750" cy="334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SOAP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90501" y="2074168"/>
            <a:ext cx="3074840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C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Estructura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90501" y="2408535"/>
            <a:ext cx="3074840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WSFederacion + DAO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3301" y="2785236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369" y="2827569"/>
            <a:ext cx="164914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301" y="3214853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369" y="3257186"/>
            <a:ext cx="177251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Escritorio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301" y="3644470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369" y="3686803"/>
            <a:ext cx="174985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JSP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301" y="4074087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90369" y="4116421"/>
            <a:ext cx="1356949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3301" y="9567334"/>
            <a:ext cx="3532040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43500" y="609534"/>
            <a:ext cx="1275397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4.2.3 / 4.2.5 — OPERACIONES + DAO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43500" y="1017984"/>
            <a:ext cx="12753976" cy="477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SOAP · </a:t>
            </a:r>
            <a:r>
              <a:rPr lang="en-US" sz="3150" b="1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registrarCompra</a:t>
            </a:r>
            <a:endParaRPr lang="en-US" sz="3150" dirty="0"/>
          </a:p>
        </p:txBody>
      </p:sp>
      <p:sp>
        <p:nvSpPr>
          <p:cNvPr id="22" name="Shape 20"/>
          <p:cNvSpPr/>
          <p:nvPr/>
        </p:nvSpPr>
        <p:spPr>
          <a:xfrm>
            <a:off x="5143500" y="1629172"/>
            <a:ext cx="1143000" cy="57051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3" name="Shape 21"/>
          <p:cNvSpPr/>
          <p:nvPr/>
        </p:nvSpPr>
        <p:spPr>
          <a:xfrm>
            <a:off x="5143500" y="2105091"/>
            <a:ext cx="2552568" cy="445492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4" name="Shape 22"/>
          <p:cNvSpPr/>
          <p:nvPr/>
        </p:nvSpPr>
        <p:spPr>
          <a:xfrm>
            <a:off x="5143500" y="2540000"/>
            <a:ext cx="2552568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5" name="Text 23"/>
          <p:cNvSpPr/>
          <p:nvPr/>
        </p:nvSpPr>
        <p:spPr>
          <a:xfrm>
            <a:off x="5276850" y="2219391"/>
            <a:ext cx="2362445" cy="244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 SOAP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96068" y="2105091"/>
            <a:ext cx="6004223" cy="445492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7" name="Shape 25"/>
          <p:cNvSpPr/>
          <p:nvPr/>
        </p:nvSpPr>
        <p:spPr>
          <a:xfrm>
            <a:off x="7696068" y="2540000"/>
            <a:ext cx="6004223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7829418" y="2219391"/>
            <a:ext cx="5917650" cy="244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Parámetros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3700290" y="2105091"/>
            <a:ext cx="3825710" cy="445492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0" name="Shape 28"/>
          <p:cNvSpPr/>
          <p:nvPr/>
        </p:nvSpPr>
        <p:spPr>
          <a:xfrm>
            <a:off x="13700290" y="2540000"/>
            <a:ext cx="3825710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1" name="Text 29"/>
          <p:cNvSpPr/>
          <p:nvPr/>
        </p:nvSpPr>
        <p:spPr>
          <a:xfrm>
            <a:off x="13833640" y="2219391"/>
            <a:ext cx="3673781" cy="244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143500" y="2959034"/>
            <a:ext cx="2552568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3" name="Text 31"/>
          <p:cNvSpPr/>
          <p:nvPr/>
        </p:nvSpPr>
        <p:spPr>
          <a:xfrm>
            <a:off x="5276850" y="2664884"/>
            <a:ext cx="2362445" cy="217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96068" y="2959034"/>
            <a:ext cx="6004223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5" name="Text 33"/>
          <p:cNvSpPr/>
          <p:nvPr/>
        </p:nvSpPr>
        <p:spPr>
          <a:xfrm>
            <a:off x="7829418" y="2664884"/>
            <a:ext cx="5917650" cy="217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username, password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3700290" y="2959034"/>
            <a:ext cx="3825710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7" name="Text 35"/>
          <p:cNvSpPr/>
          <p:nvPr/>
        </p:nvSpPr>
        <p:spPr>
          <a:xfrm>
            <a:off x="13833640" y="2664884"/>
            <a:ext cx="3673781" cy="217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143500" y="2969617"/>
            <a:ext cx="12382501" cy="419034"/>
          </a:xfrm>
          <a:prstGeom prst="rect">
            <a:avLst/>
          </a:prstGeom>
          <a:solidFill>
            <a:srgbClr val="F6F9F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9" name="Shape 37"/>
          <p:cNvSpPr/>
          <p:nvPr/>
        </p:nvSpPr>
        <p:spPr>
          <a:xfrm>
            <a:off x="5143500" y="3378068"/>
            <a:ext cx="2552568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0" name="Text 38"/>
          <p:cNvSpPr/>
          <p:nvPr/>
        </p:nvSpPr>
        <p:spPr>
          <a:xfrm>
            <a:off x="5276850" y="3083917"/>
            <a:ext cx="2362445" cy="217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obtenerPartidosDisponibles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696068" y="3378068"/>
            <a:ext cx="6004223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2" name="Text 40"/>
          <p:cNvSpPr/>
          <p:nvPr/>
        </p:nvSpPr>
        <p:spPr>
          <a:xfrm>
            <a:off x="7829418" y="3083917"/>
            <a:ext cx="5917650" cy="217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3700290" y="3378068"/>
            <a:ext cx="3825710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4" name="Text 42"/>
          <p:cNvSpPr/>
          <p:nvPr/>
        </p:nvSpPr>
        <p:spPr>
          <a:xfrm>
            <a:off x="13833640" y="3083917"/>
            <a:ext cx="3673781" cy="217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List&lt;PartidoFutbol&gt;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143500" y="3797102"/>
            <a:ext cx="2552568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6" name="Text 44"/>
          <p:cNvSpPr/>
          <p:nvPr/>
        </p:nvSpPr>
        <p:spPr>
          <a:xfrm>
            <a:off x="5276850" y="3502951"/>
            <a:ext cx="2362445" cy="217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obtenerLocalidades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696068" y="3797102"/>
            <a:ext cx="6004223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8" name="Text 46"/>
          <p:cNvSpPr/>
          <p:nvPr/>
        </p:nvSpPr>
        <p:spPr>
          <a:xfrm>
            <a:off x="7829418" y="3502951"/>
            <a:ext cx="5917650" cy="217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codigoPartido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3700290" y="3797102"/>
            <a:ext cx="3825710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0" name="Text 48"/>
          <p:cNvSpPr/>
          <p:nvPr/>
        </p:nvSpPr>
        <p:spPr>
          <a:xfrm>
            <a:off x="13833640" y="3502951"/>
            <a:ext cx="3673781" cy="217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List&lt;LocalidadPartido&gt;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143500" y="3807685"/>
            <a:ext cx="12382501" cy="419034"/>
          </a:xfrm>
          <a:prstGeom prst="rect">
            <a:avLst/>
          </a:prstGeom>
          <a:solidFill>
            <a:srgbClr val="F6F9F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2" name="Shape 50"/>
          <p:cNvSpPr/>
          <p:nvPr/>
        </p:nvSpPr>
        <p:spPr>
          <a:xfrm>
            <a:off x="5143500" y="4216136"/>
            <a:ext cx="2552568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3" name="Text 51"/>
          <p:cNvSpPr/>
          <p:nvPr/>
        </p:nvSpPr>
        <p:spPr>
          <a:xfrm>
            <a:off x="5276850" y="3921985"/>
            <a:ext cx="2362445" cy="217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decrementarDisponibilidad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696068" y="4216136"/>
            <a:ext cx="6004223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5" name="Text 53"/>
          <p:cNvSpPr/>
          <p:nvPr/>
        </p:nvSpPr>
        <p:spPr>
          <a:xfrm>
            <a:off x="7829418" y="3921985"/>
            <a:ext cx="5917650" cy="217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idLocalidad, cantidad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13700290" y="4216136"/>
            <a:ext cx="3825710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7" name="Text 55"/>
          <p:cNvSpPr/>
          <p:nvPr/>
        </p:nvSpPr>
        <p:spPr>
          <a:xfrm>
            <a:off x="13833640" y="3921985"/>
            <a:ext cx="3673781" cy="217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143500" y="4635170"/>
            <a:ext cx="2552568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9" name="Text 57"/>
          <p:cNvSpPr/>
          <p:nvPr/>
        </p:nvSpPr>
        <p:spPr>
          <a:xfrm>
            <a:off x="5276850" y="4341019"/>
            <a:ext cx="2362445" cy="217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comprarBoleto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696068" y="4635170"/>
            <a:ext cx="6004223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1" name="Text 59"/>
          <p:cNvSpPr/>
          <p:nvPr/>
        </p:nvSpPr>
        <p:spPr>
          <a:xfrm>
            <a:off x="7829418" y="4341019"/>
            <a:ext cx="5917650" cy="217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codPartido, cliente, codLoc, idLoc, cantidad, precio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13700290" y="4635170"/>
            <a:ext cx="3825710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3" name="Text 61"/>
          <p:cNvSpPr/>
          <p:nvPr/>
        </p:nvSpPr>
        <p:spPr>
          <a:xfrm>
            <a:off x="13833640" y="4341019"/>
            <a:ext cx="3673781" cy="217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Factura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5143500" y="4645753"/>
            <a:ext cx="12382501" cy="419034"/>
          </a:xfrm>
          <a:prstGeom prst="rect">
            <a:avLst/>
          </a:prstGeom>
          <a:solidFill>
            <a:srgbClr val="F6F9F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5" name="Shape 63"/>
          <p:cNvSpPr/>
          <p:nvPr/>
        </p:nvSpPr>
        <p:spPr>
          <a:xfrm>
            <a:off x="5143500" y="5054203"/>
            <a:ext cx="2552568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6" name="Text 64"/>
          <p:cNvSpPr/>
          <p:nvPr/>
        </p:nvSpPr>
        <p:spPr>
          <a:xfrm>
            <a:off x="5276850" y="4760053"/>
            <a:ext cx="2362445" cy="217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comprarBoletos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7696068" y="5054203"/>
            <a:ext cx="6004223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8" name="Text 66"/>
          <p:cNvSpPr/>
          <p:nvPr/>
        </p:nvSpPr>
        <p:spPr>
          <a:xfrm>
            <a:off x="7829418" y="4760053"/>
            <a:ext cx="5917650" cy="217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codPartido, cliente, List&lt;PeticionCompra&gt;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13700290" y="5054203"/>
            <a:ext cx="3825710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0" name="Text 68"/>
          <p:cNvSpPr/>
          <p:nvPr/>
        </p:nvSpPr>
        <p:spPr>
          <a:xfrm>
            <a:off x="13833640" y="4760053"/>
            <a:ext cx="3673781" cy="217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Factura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143500" y="5473237"/>
            <a:ext cx="2552568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2" name="Text 70"/>
          <p:cNvSpPr/>
          <p:nvPr/>
        </p:nvSpPr>
        <p:spPr>
          <a:xfrm>
            <a:off x="5276850" y="5179087"/>
            <a:ext cx="2362445" cy="217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obtenerResumenVentas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7696068" y="5473237"/>
            <a:ext cx="6004223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4" name="Text 72"/>
          <p:cNvSpPr/>
          <p:nvPr/>
        </p:nvSpPr>
        <p:spPr>
          <a:xfrm>
            <a:off x="7829418" y="5179087"/>
            <a:ext cx="5917650" cy="217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codigoPartido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13700290" y="5473237"/>
            <a:ext cx="3825710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6" name="Text 74"/>
          <p:cNvSpPr/>
          <p:nvPr/>
        </p:nvSpPr>
        <p:spPr>
          <a:xfrm>
            <a:off x="13833640" y="5179087"/>
            <a:ext cx="3673781" cy="217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List&lt;ResumenVenta&gt;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5143500" y="5483821"/>
            <a:ext cx="12382501" cy="419034"/>
          </a:xfrm>
          <a:prstGeom prst="rect">
            <a:avLst/>
          </a:prstGeom>
          <a:solidFill>
            <a:srgbClr val="F6F9F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8" name="Shape 76"/>
          <p:cNvSpPr/>
          <p:nvPr/>
        </p:nvSpPr>
        <p:spPr>
          <a:xfrm>
            <a:off x="5143500" y="5892271"/>
            <a:ext cx="2552568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9" name="Text 77"/>
          <p:cNvSpPr/>
          <p:nvPr/>
        </p:nvSpPr>
        <p:spPr>
          <a:xfrm>
            <a:off x="5276850" y="5598121"/>
            <a:ext cx="2362445" cy="217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obtenerDetalleVentas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7696068" y="5892271"/>
            <a:ext cx="6004223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81" name="Text 79"/>
          <p:cNvSpPr/>
          <p:nvPr/>
        </p:nvSpPr>
        <p:spPr>
          <a:xfrm>
            <a:off x="7829418" y="5598121"/>
            <a:ext cx="5917650" cy="217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codigoPartido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13700290" y="5892271"/>
            <a:ext cx="3825710" cy="1058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83" name="Text 81"/>
          <p:cNvSpPr/>
          <p:nvPr/>
        </p:nvSpPr>
        <p:spPr>
          <a:xfrm>
            <a:off x="13833640" y="5598121"/>
            <a:ext cx="3673781" cy="217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List&lt;DetalleVentaReporte&gt;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5143500" y="5908146"/>
            <a:ext cx="12753976" cy="36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2 · Operaciones del </a:t>
            </a:r>
            <a:r>
              <a:rPr lang="en-US" sz="1800" i="1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WSFederacion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85" name="Shape 83"/>
          <p:cNvSpPr/>
          <p:nvPr/>
        </p:nvSpPr>
        <p:spPr>
          <a:xfrm>
            <a:off x="5143500" y="6486922"/>
            <a:ext cx="12382501" cy="2284346"/>
          </a:xfrm>
          <a:prstGeom prst="roundRect">
            <a:avLst>
              <a:gd name="adj" fmla="val 3336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86" name="Text 84"/>
          <p:cNvSpPr/>
          <p:nvPr/>
        </p:nvSpPr>
        <p:spPr>
          <a:xfrm>
            <a:off x="5391150" y="6696472"/>
            <a:ext cx="12258676" cy="1903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Factura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registrarCompra(</a:t>
            </a: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codPartido,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cliente,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codLoc, </a:t>
            </a: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cantidad, </a:t>
            </a: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precio) {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subtotal = cantidad * precio;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iva      = subtotal * 0.15;   </a:t>
            </a: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IVA Ecuador 15%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total    = subtotal + iva;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sqlFactura = </a:t>
            </a: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"INSERT INTO FACTURA (...) VALUES (?,?,NOW(),?,?,?)"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conn = getConnection();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PreparedStatement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ps = conn.prepareStatement(sqlFactura,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Statement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.RETURN_GENERATED_KEYS)) {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bind params → executeUpdate → recuperar idFactura → insertar DETALLE_FACTURA → Factura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 </a:t>
            </a: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SQLException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e) { … }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5143500" y="8866519"/>
            <a:ext cx="12753976" cy="26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WSDL al desplegar: </a:t>
            </a:r>
            <a:r>
              <a:rPr lang="en-US" sz="12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http://localhost:8080/TP_SOAP_JAVA_SERVICIO_G5/WSFederacion?wsdl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5143500" y="9774866"/>
            <a:ext cx="5231038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TP_SOAP_JAVA_TICKETPREMIUM_G5 · 4.2 SERVIDOR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17571641" y="9743116"/>
            <a:ext cx="335492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50" dirty="0"/>
          </a:p>
        </p:txBody>
      </p:sp>
      <p:sp>
        <p:nvSpPr>
          <p:cNvPr id="90" name="Shape 88"/>
          <p:cNvSpPr/>
          <p:nvPr/>
        </p:nvSpPr>
        <p:spPr>
          <a:xfrm>
            <a:off x="0" y="10153716"/>
            <a:ext cx="18288001" cy="133284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301" y="626566"/>
            <a:ext cx="133284" cy="133284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799869" y="571500"/>
            <a:ext cx="2330781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301" y="1214934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369" y="1257267"/>
            <a:ext cx="117405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 MySQL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301" y="1644551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369" y="1686884"/>
            <a:ext cx="157804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SOAP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301" y="2074168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369" y="2074168"/>
            <a:ext cx="1974255" cy="334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301" y="2503785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369" y="2546119"/>
            <a:ext cx="177251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Escritorio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301" y="2933402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369" y="2975736"/>
            <a:ext cx="174985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JSP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301" y="3363020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369" y="3405353"/>
            <a:ext cx="1356949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301" y="9567334"/>
            <a:ext cx="3532040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43500" y="609534"/>
            <a:ext cx="1275397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— CLIENTE DE CONSOLA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43500" y="1017984"/>
            <a:ext cx="1275397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Consola Java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Stub + ANSI</a:t>
            </a:r>
            <a:endParaRPr lang="en-US" sz="4800" dirty="0"/>
          </a:p>
        </p:txBody>
      </p:sp>
      <p:sp>
        <p:nvSpPr>
          <p:cNvPr id="20" name="Shape 18"/>
          <p:cNvSpPr/>
          <p:nvPr/>
        </p:nvSpPr>
        <p:spPr>
          <a:xfrm>
            <a:off x="5143500" y="1734013"/>
            <a:ext cx="1143000" cy="57051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5143500" y="2133865"/>
            <a:ext cx="12753976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Maven Java.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ClienteFederacion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envuelve el stub generado por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wsimport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configura la IP del servidor dinámicamente.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MainConsola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una interfaz interactiva con colores ANSI.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143500" y="3024684"/>
            <a:ext cx="6038784" cy="4101373"/>
          </a:xfrm>
          <a:prstGeom prst="roundRect">
            <a:avLst>
              <a:gd name="adj" fmla="val 1858"/>
            </a:avLst>
          </a:prstGeom>
          <a:solidFill>
            <a:srgbClr val="0B122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5372100" y="3215184"/>
            <a:ext cx="5762748" cy="37584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TP_SOAP_JAVA_CLICON_G5/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 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pom.xml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src/main/java/ec/edu/monster/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servicio/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ClienteFederacion.java   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envuelve stub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vista/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MainConsola.java         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menú + ANSI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ws/generated/                </a:t>
            </a: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wsimport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WSFederacion.java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WSFederacion_Service.java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PartidoFutbol.java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LocalidadPartido.java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Factura.java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PeticionCompra.java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143500" y="7221306"/>
            <a:ext cx="6038784" cy="2097815"/>
          </a:xfrm>
          <a:prstGeom prst="roundRect">
            <a:avLst>
              <a:gd name="adj" fmla="val 3632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5" name="Text 23"/>
          <p:cNvSpPr/>
          <p:nvPr/>
        </p:nvSpPr>
        <p:spPr>
          <a:xfrm>
            <a:off x="5391150" y="7430856"/>
            <a:ext cx="5724648" cy="1716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5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ClienteFederacion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WSFederacion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port;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ClienteFederacion() {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 =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WSFederacion_Service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().getWSFederacionPort();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((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BindingProvider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 port).getRequestContext().put(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BindingProvider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.ENDPOINT_ADDRESS_PROPERTY,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"http://192.168.100.2:8080/.../WSFederacion"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1487051" y="3024684"/>
            <a:ext cx="6038949" cy="6416808"/>
          </a:xfrm>
          <a:prstGeom prst="roundRect">
            <a:avLst>
              <a:gd name="adj" fmla="val 1262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7" name="Text 25"/>
          <p:cNvSpPr/>
          <p:nvPr/>
        </p:nvSpPr>
        <p:spPr>
          <a:xfrm>
            <a:off x="11734701" y="3234234"/>
            <a:ext cx="5724818" cy="6035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5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void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main(</a:t>
            </a:r>
            <a:r>
              <a:rPr lang="en-US" sz="1125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[] args) {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System.out.println(CYAN+BOLD+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🎟️  TICKET PREMIUM - Venta de Boletos"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+RESET);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LOGIN — valida contra USUARIO via SOAP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(!logueado) {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System.out.print(YELLOW+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"Usuario: "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+RESET);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 = sc.nextLine();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System.out.print(YELLOW+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"Clave:   "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+RESET);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 = sc.nextLine();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usr = cliente.login(u, c);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(usr != </a:t>
            </a: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 logueado = </a:t>
            </a: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System.out.println(RED+</a:t>
            </a:r>
            <a:r>
              <a:rPr lang="en-US" sz="1125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"Incorrectas."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+RESET);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MENÚ — partidos / localidades / compra / reporte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System.out.println(GREEN+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"1."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+RESET+</a:t>
            </a:r>
            <a:r>
              <a:rPr lang="en-US" sz="1125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Ver partidos"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System.out.println(GREEN+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"2."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+RESET+</a:t>
            </a:r>
            <a:r>
              <a:rPr lang="en-US" sz="1125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Ver localidades"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System.out.println(GREEN+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"3."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+RESET+</a:t>
            </a:r>
            <a:r>
              <a:rPr lang="en-US" sz="1125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Comprar boletos"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System.out.println(GREEN+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"4."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+RESET+</a:t>
            </a:r>
            <a:r>
              <a:rPr lang="en-US" sz="1125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Reporte Ventas"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System.out.println(RED  +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"0."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+RESET+</a:t>
            </a:r>
            <a:r>
              <a:rPr lang="en-US" sz="1125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Salir"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(leerInt()) {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1: mostrarPartidos();    </a:t>
            </a: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2: mostrarLocalidades(); </a:t>
            </a: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3: comprarBoletos();     </a:t>
            </a: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4: mostrarReporte();     </a:t>
            </a: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 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(opcion != 0);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5143500" y="9774866"/>
            <a:ext cx="6089819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TP_SOAP_JAVA_TICKETPREMIUM_G5 · 4.3 CLIENTE CONSOLA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571641" y="9743116"/>
            <a:ext cx="335492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0" y="10153716"/>
            <a:ext cx="18288001" cy="133284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968A6354-7374-D117-0049-8CFB7E0DF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8288000" cy="42347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301" y="626566"/>
            <a:ext cx="133284" cy="133284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799869" y="571500"/>
            <a:ext cx="2330781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301" y="1214934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369" y="1257267"/>
            <a:ext cx="117405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 MySQL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301" y="1644551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369" y="1686884"/>
            <a:ext cx="157804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SOAP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301" y="2074168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369" y="2116501"/>
            <a:ext cx="164914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301" y="2503785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369" y="2503785"/>
            <a:ext cx="2190386" cy="334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Escritorio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301" y="2933402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369" y="2975736"/>
            <a:ext cx="174985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JSP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301" y="3363020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369" y="3405353"/>
            <a:ext cx="1356949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301" y="9567334"/>
            <a:ext cx="3532040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43500" y="609534"/>
            <a:ext cx="1275397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— CLIENTE DE ESCRITORIO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43500" y="1017984"/>
            <a:ext cx="12753976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Swing +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FlatDarkLaf </a:t>
            </a: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LoginFrame premium</a:t>
            </a:r>
            <a:endParaRPr lang="en-US" sz="4800" dirty="0"/>
          </a:p>
        </p:txBody>
      </p:sp>
      <p:sp>
        <p:nvSpPr>
          <p:cNvPr id="20" name="Shape 18"/>
          <p:cNvSpPr/>
          <p:nvPr/>
        </p:nvSpPr>
        <p:spPr>
          <a:xfrm>
            <a:off x="5143500" y="2373974"/>
            <a:ext cx="1143000" cy="57051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5143500" y="2849893"/>
            <a:ext cx="6219948" cy="2025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Java/Swing con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FlatDarkLaf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LoginFrame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en pantalla completa con dos paneles: gradiente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Indigo→Púrpura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 izquierda (branding) y formulario sobre fondo oscuro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#121218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 derecha.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VentanaPrincipal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 tres pestañas con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JTabbedPane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245861" y="5008563"/>
            <a:ext cx="914301" cy="914301"/>
          </a:xfrm>
          <a:prstGeom prst="roundRect">
            <a:avLst>
              <a:gd name="adj" fmla="val 12501"/>
            </a:avLst>
          </a:prstGeom>
          <a:solidFill>
            <a:srgbClr val="6366F1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5143500" y="5979914"/>
            <a:ext cx="1195388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INDIGO · #6366F1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90937" y="5008563"/>
            <a:ext cx="914301" cy="914301"/>
          </a:xfrm>
          <a:prstGeom prst="roundRect">
            <a:avLst>
              <a:gd name="adj" fmla="val 12501"/>
            </a:avLst>
          </a:prstGeom>
          <a:solidFill>
            <a:srgbClr val="A855F7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5" name="Text 23"/>
          <p:cNvSpPr/>
          <p:nvPr/>
        </p:nvSpPr>
        <p:spPr>
          <a:xfrm>
            <a:off x="6395972" y="5979914"/>
            <a:ext cx="1380596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PÚRPURA · #A855F7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24978" y="5008563"/>
            <a:ext cx="914301" cy="914301"/>
          </a:xfrm>
          <a:prstGeom prst="roundRect">
            <a:avLst>
              <a:gd name="adj" fmla="val 12501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7" name="Text 25"/>
          <p:cNvSpPr/>
          <p:nvPr/>
        </p:nvSpPr>
        <p:spPr>
          <a:xfrm>
            <a:off x="7833651" y="5979914"/>
            <a:ext cx="1373320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EMERALD · #10B981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300435" y="5008563"/>
            <a:ext cx="935467" cy="935467"/>
          </a:xfrm>
          <a:prstGeom prst="roundRect">
            <a:avLst>
              <a:gd name="adj" fmla="val 12218"/>
            </a:avLst>
          </a:prstGeom>
          <a:solidFill>
            <a:srgbClr val="121218"/>
          </a:solidFill>
          <a:ln w="10583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Text 27"/>
          <p:cNvSpPr/>
          <p:nvPr/>
        </p:nvSpPr>
        <p:spPr>
          <a:xfrm>
            <a:off x="9264055" y="6001081"/>
            <a:ext cx="1084428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· #121218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505450" y="6415815"/>
            <a:ext cx="5857998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Pestaña 1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Partidos con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JTable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05450" y="6926131"/>
            <a:ext cx="5857998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Pestaña 2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Localidades + Comprar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05450" y="7436446"/>
            <a:ext cx="5857998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Pestaña 3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Reporte de Ventas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487051" y="2849893"/>
            <a:ext cx="6038949" cy="6616733"/>
          </a:xfrm>
          <a:prstGeom prst="roundRect">
            <a:avLst>
              <a:gd name="adj" fmla="val 1262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11734701" y="3059443"/>
            <a:ext cx="5724818" cy="6235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25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MainDesktop.java </a:t>
            </a: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25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MainDesktop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void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main(</a:t>
            </a:r>
            <a:r>
              <a:rPr lang="en-US" sz="1125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[] args) {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UIManager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.setLookAndFeel(</a:t>
            </a: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25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FlatDarkLaf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SwingUtilities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.invokeLater(() -&gt;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25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LoginFrame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().setVisible(</a:t>
            </a: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LoginFrame — panel izquierdo con gradiente </a:t>
            </a:r>
            <a:r>
              <a:rPr lang="en-US" sz="1125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JPanel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leftPanel = </a:t>
            </a: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25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JPanel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void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paintComponent(</a:t>
            </a:r>
            <a:r>
              <a:rPr lang="en-US" sz="1125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Graphics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g) {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GradientPaint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gp = </a:t>
            </a: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25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GradientPaint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0, 0, 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25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(99, 102, 241),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getWidth(), getHeight(),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25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(168, 85, 247));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((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Graphics2D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 g).setPaint(gp);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g.fillRect(0, 0, getWidth(), getHeight());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};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Autenticación contra SOAP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btnLogin.addActionListener(e -&gt; {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usr = cliente.login(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txtUsername.getText().trim(),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25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(txtPassword.getPassword()).trim());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(usr != </a:t>
            </a: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dispose();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25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VentanaPrincipal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().setVisible(</a:t>
            </a: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  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lblError.setText(</a:t>
            </a:r>
            <a:r>
              <a:rPr lang="en-US" sz="1125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"Credenciales incorrectas." </a:t>
            </a: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25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5143500" y="9774866"/>
            <a:ext cx="6354164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TP_SOAP_JAVA_TICKETPREMIUM_G5 · 4.4 CLIENTE ESCRITORIO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7571641" y="9743116"/>
            <a:ext cx="335492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0" y="10153716"/>
            <a:ext cx="18288001" cy="133284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38" name="Imagen 37">
            <a:extLst>
              <a:ext uri="{FF2B5EF4-FFF2-40B4-BE49-F238E27FC236}">
                <a16:creationId xmlns:a16="http://schemas.microsoft.com/office/drawing/2014/main" id="{23A26BB5-0521-5836-C9C7-5C6F29A7F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8288000" cy="42347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301" y="626566"/>
            <a:ext cx="133284" cy="133284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799869" y="571500"/>
            <a:ext cx="2330781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301" y="1214934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369" y="1257267"/>
            <a:ext cx="117405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 MySQL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301" y="1644551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369" y="1686884"/>
            <a:ext cx="157804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SOAP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301" y="2074168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369" y="2116501"/>
            <a:ext cx="164914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301" y="2503785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369" y="2546119"/>
            <a:ext cx="177251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Escritorio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301" y="2933402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369" y="2933402"/>
            <a:ext cx="2048338" cy="334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JSP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301" y="3363020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369" y="3405353"/>
            <a:ext cx="1356949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301" y="9567334"/>
            <a:ext cx="3532040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43500" y="609534"/>
            <a:ext cx="1275397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 — CLIENTE WEB JAVA EE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43500" y="1017984"/>
            <a:ext cx="1275397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JSP + Servlet ·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TicketServlet MVC</a:t>
            </a:r>
            <a:endParaRPr lang="en-US" sz="4800" dirty="0"/>
          </a:p>
        </p:txBody>
      </p:sp>
      <p:sp>
        <p:nvSpPr>
          <p:cNvPr id="20" name="Shape 18"/>
          <p:cNvSpPr/>
          <p:nvPr/>
        </p:nvSpPr>
        <p:spPr>
          <a:xfrm>
            <a:off x="5143500" y="1734013"/>
            <a:ext cx="1143000" cy="57051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5143500" y="2209932"/>
            <a:ext cx="6203984" cy="4101373"/>
          </a:xfrm>
          <a:prstGeom prst="roundRect">
            <a:avLst>
              <a:gd name="adj" fmla="val 1858"/>
            </a:avLst>
          </a:prstGeom>
          <a:solidFill>
            <a:srgbClr val="0B122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5372100" y="2400432"/>
            <a:ext cx="5932903" cy="37584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TP_SOAP_JAVA_CLIWEB_G5/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 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pom.xml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src/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main/java/ec/edu/monster/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servicio/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│   └── ClienteFederacion.java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controlador/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│   └──  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TicketServlet.java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@WebServlet("/ticket")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ws/generated/             </a:t>
            </a: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stubs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main/webapp/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login.jsp                 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formulario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partidos.jsp              </a:t>
            </a: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listado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localidades.jsp           </a:t>
            </a: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compra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reporte.jsp               </a:t>
            </a: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ventas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143500" y="6444589"/>
            <a:ext cx="6390103" cy="590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servlet maneja todas las acciones por parámetro </a:t>
            </a:r>
            <a:r>
              <a:rPr lang="en-US" sz="15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?accion=</a:t>
            </a: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5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</a:t>
            </a: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5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partidos</a:t>
            </a: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5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localidades</a:t>
            </a: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5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comprar</a:t>
            </a: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5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</a:t>
            </a: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5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logout</a:t>
            </a: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1652250" y="2209932"/>
            <a:ext cx="5873750" cy="6014972"/>
          </a:xfrm>
          <a:prstGeom prst="roundRect">
            <a:avLst>
              <a:gd name="adj" fmla="val 1297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5" name="Text 23"/>
          <p:cNvSpPr/>
          <p:nvPr/>
        </p:nvSpPr>
        <p:spPr>
          <a:xfrm>
            <a:off x="11899900" y="2419482"/>
            <a:ext cx="5554663" cy="5633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5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@WebServlet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(urlPatterns={</a:t>
            </a: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"/ticket"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})] </a:t>
            </a: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TicketServlet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HttpServlet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ClienteFederacion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cliente;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init() {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cliente =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ClienteFederacion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void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doGet(...) {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HttpSession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session = req.getSession(</a:t>
            </a: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accion = req.getParameter(</a:t>
            </a: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"accion"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(session == </a:t>
            </a: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|| session.getAttribute(</a:t>
            </a: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"usuario"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 == </a:t>
            </a: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resp.sendRedirect(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"ticket?accion=login"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(accion) {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"localidades"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req.setAttribute(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"localidades"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cliente.obtenerLocalidades(cod));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forward(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"/localidades.jsp"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"reporte"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req.setAttribute(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"resumen"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cliente.obtenerResumenVentas(codR));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forward(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"/reporte.jsp"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req.setAttribute(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"partidos"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cliente.obtenerPartidosDisponibles());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forward(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"/partidos.jsp"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43500" y="9774866"/>
            <a:ext cx="5570666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TP_SOAP_JAVA_TICKETPREMIUM_G5 · 4.5 CLIENTE WEB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7571641" y="9743116"/>
            <a:ext cx="335492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0" y="10153716"/>
            <a:ext cx="18288001" cy="133284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C23C8B1A-ECFE-219E-FB82-44A465218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8288000" cy="42347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433018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301" y="626566"/>
            <a:ext cx="133284" cy="133284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799869" y="571500"/>
            <a:ext cx="2330781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301" y="1214934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369" y="1257267"/>
            <a:ext cx="117405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 MySQL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301" y="1644551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369" y="1686884"/>
            <a:ext cx="157804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SOAP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301" y="2074168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369" y="2116501"/>
            <a:ext cx="164914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301" y="2503785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369" y="2546119"/>
            <a:ext cx="177251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Escritorio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301" y="2933402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369" y="2975736"/>
            <a:ext cx="174985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JSP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301" y="3363020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369" y="3363020"/>
            <a:ext cx="1647163" cy="334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301" y="9713351"/>
            <a:ext cx="3532040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43500" y="609534"/>
            <a:ext cx="1275397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 — CLIENTE MÓVIL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43500" y="1017984"/>
            <a:ext cx="12753976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· Kotlin con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OkHttp + XmlPullParser</a:t>
            </a:r>
            <a:endParaRPr lang="en-US" sz="4800" dirty="0"/>
          </a:p>
        </p:txBody>
      </p:sp>
      <p:sp>
        <p:nvSpPr>
          <p:cNvPr id="20" name="Shape 18"/>
          <p:cNvSpPr/>
          <p:nvPr/>
        </p:nvSpPr>
        <p:spPr>
          <a:xfrm>
            <a:off x="5143500" y="2373974"/>
            <a:ext cx="1143000" cy="57051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5505450" y="3021211"/>
            <a:ext cx="5857998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compileSdk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· </a:t>
            </a: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minSdk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· Kotlin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05450" y="3531526"/>
            <a:ext cx="5857998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Design 3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View Binding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05450" y="4041841"/>
            <a:ext cx="5857998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OkHttp 4.12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XmlPullParser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05450" y="4552156"/>
            <a:ext cx="5857998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ksoap2 / Retrofit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SOAP manual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05450" y="5062472"/>
            <a:ext cx="5857998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SoapCallback&lt;T&gt;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AsyncTask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05450" y="5572787"/>
            <a:ext cx="5857998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 → Intent → Activity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143500" y="6121136"/>
            <a:ext cx="6038784" cy="3702348"/>
          </a:xfrm>
          <a:prstGeom prst="roundRect">
            <a:avLst>
              <a:gd name="adj" fmla="val 2058"/>
            </a:avLst>
          </a:prstGeom>
          <a:solidFill>
            <a:srgbClr val="0B122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5372100" y="6311636"/>
            <a:ext cx="5762748" cy="3359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25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ec.edu.monster</a:t>
            </a:r>
            <a:endParaRPr lang="en-US" sz="11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125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modelo/   </a:t>
            </a:r>
            <a:endParaRPr lang="en-US" sz="11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125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data classes Kotlin </a:t>
            </a:r>
            <a:r>
              <a:rPr lang="en-US" sz="1125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PartidoFutbol.kt</a:t>
            </a:r>
            <a:endParaRPr lang="en-US" sz="11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125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LocalidadPartido.kt</a:t>
            </a:r>
            <a:endParaRPr lang="en-US" sz="11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125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Factura.kt</a:t>
            </a:r>
            <a:endParaRPr lang="en-US" sz="11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125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PeticionCompra.kt</a:t>
            </a:r>
            <a:endParaRPr lang="en-US" sz="11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125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Usuario.kt</a:t>
            </a:r>
            <a:endParaRPr lang="en-US" sz="11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125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servicio/</a:t>
            </a:r>
            <a:endParaRPr lang="en-US" sz="11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125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TicketPremiumSoapService.kt</a:t>
            </a:r>
            <a:endParaRPr lang="en-US" sz="11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125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vista/</a:t>
            </a:r>
            <a:endParaRPr lang="en-US" sz="11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125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LoginActivity.kt</a:t>
            </a:r>
            <a:endParaRPr lang="en-US" sz="11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125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PartidosActivity.kt</a:t>
            </a:r>
            <a:endParaRPr lang="en-US" sz="11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125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LocalidadesActivity.kt</a:t>
            </a:r>
            <a:endParaRPr lang="en-US" sz="11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125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CompraActivity.kt</a:t>
            </a:r>
            <a:endParaRPr lang="en-US" sz="11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125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ReporteActivity.kt</a:t>
            </a:r>
            <a:endParaRPr lang="en-US" sz="1125" dirty="0"/>
          </a:p>
        </p:txBody>
      </p:sp>
      <p:sp>
        <p:nvSpPr>
          <p:cNvPr id="29" name="Shape 27"/>
          <p:cNvSpPr/>
          <p:nvPr/>
        </p:nvSpPr>
        <p:spPr>
          <a:xfrm>
            <a:off x="11487051" y="2849893"/>
            <a:ext cx="6038949" cy="6574566"/>
          </a:xfrm>
          <a:prstGeom prst="roundRect">
            <a:avLst>
              <a:gd name="adj" fmla="val 1262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11734701" y="3059443"/>
            <a:ext cx="5724818" cy="6193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5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TicketPremiumSoapService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companion object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const val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NAMESPACE =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"http://ws.monster.edu.ec/"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serverIp: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"192.168.100.2"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SoapCallback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&lt;T&gt; {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onSuccess(result: T)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onError(error: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Construye el envelope SOAP manualmente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fun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createSoapRequest(method: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vararg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params: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&gt;):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sb =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StringBuilder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sb.append(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"&lt;soapenv:Envelope ... xmlns:ser=$NAMESPACE&gt;"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sb.append(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"&lt;soapenv:Body&gt;&lt;ser:$method&gt;"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params.forEach { (n, v) -&gt; sb.append(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"&lt;$n&gt;$v&lt;/$n&gt;"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 }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sb.append(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"&lt;/ser:$method&gt;&lt;/soapenv:Body&gt;&lt;/soapenv:Envelope&gt;"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sb.toString()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Envía con OkHttp y parsea con XmlPullParser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fun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sendSoapRequest(soap: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):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req = </a:t>
            </a: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.Builder()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.url(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"http://$serverIp:8080/.../WSFederacion"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.post(soap.toRequestBody(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"text/xml"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.toMediaType()))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.addHeader(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"SOAPAction"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).build()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client.newCall(req).execute()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.use { it.body?.string() ?: 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 </a:t>
            </a: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143500" y="9774866"/>
            <a:ext cx="5751723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TP_SOAP_JAVA_TICKETPREMIUM_G5 · 4.6 CLIENTE MÓVIL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7571641" y="9743116"/>
            <a:ext cx="335492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0" y="10153716"/>
            <a:ext cx="18288001" cy="133284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5C352D4E-E1A5-AF15-B4DD-4867F3FE4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8288000" cy="42347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301" y="626566"/>
            <a:ext cx="133284" cy="133284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799869" y="571500"/>
            <a:ext cx="1567458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301" y="1214934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369" y="1257267"/>
            <a:ext cx="129278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301" y="1644551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369" y="1686884"/>
            <a:ext cx="100588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301" y="2074168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369" y="2116501"/>
            <a:ext cx="1469562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301" y="2503785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369" y="2546119"/>
            <a:ext cx="109368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301" y="2933402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369" y="2933402"/>
            <a:ext cx="1682386" cy="334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301" y="3363020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369" y="3405353"/>
            <a:ext cx="190529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301" y="3792637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90369" y="3834970"/>
            <a:ext cx="1199522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3301" y="9567334"/>
            <a:ext cx="3532040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43500" y="609534"/>
            <a:ext cx="1275397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CONCLUSIONES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43500" y="1017984"/>
            <a:ext cx="1275397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demuestra </a:t>
            </a: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proyecto</a:t>
            </a:r>
            <a:endParaRPr lang="en-US" sz="4800" dirty="0"/>
          </a:p>
        </p:txBody>
      </p:sp>
      <p:sp>
        <p:nvSpPr>
          <p:cNvPr id="22" name="Shape 20"/>
          <p:cNvSpPr/>
          <p:nvPr/>
        </p:nvSpPr>
        <p:spPr>
          <a:xfrm>
            <a:off x="5143500" y="1734013"/>
            <a:ext cx="1143000" cy="57051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3" name="Shape 21"/>
          <p:cNvSpPr/>
          <p:nvPr/>
        </p:nvSpPr>
        <p:spPr>
          <a:xfrm>
            <a:off x="5143500" y="2209932"/>
            <a:ext cx="6086409" cy="2051679"/>
          </a:xfrm>
          <a:prstGeom prst="roundRect">
            <a:avLst>
              <a:gd name="adj" fmla="val 18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4" name="Shape 22"/>
          <p:cNvSpPr/>
          <p:nvPr/>
        </p:nvSpPr>
        <p:spPr>
          <a:xfrm>
            <a:off x="5143500" y="4251028"/>
            <a:ext cx="6086409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5" name="Shape 23"/>
          <p:cNvSpPr/>
          <p:nvPr/>
        </p:nvSpPr>
        <p:spPr>
          <a:xfrm>
            <a:off x="5143500" y="2209932"/>
            <a:ext cx="6086409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6" name="Shape 24"/>
          <p:cNvSpPr/>
          <p:nvPr/>
        </p:nvSpPr>
        <p:spPr>
          <a:xfrm>
            <a:off x="5143500" y="2209932"/>
            <a:ext cx="74083" cy="2051679"/>
          </a:xfrm>
          <a:prstGeom prst="rect">
            <a:avLst/>
          </a:prstGeom>
          <a:solidFill>
            <a:srgbClr val="4590B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7" name="Shape 25"/>
          <p:cNvSpPr/>
          <p:nvPr/>
        </p:nvSpPr>
        <p:spPr>
          <a:xfrm>
            <a:off x="11219326" y="2209932"/>
            <a:ext cx="10583" cy="2051679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5446118" y="2430033"/>
            <a:ext cx="571101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46118" y="2677583"/>
            <a:ext cx="5711015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JAX-WS + JDBC para dominio real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46118" y="3081735"/>
            <a:ext cx="5711015" cy="997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servicio SOAP encapsula completamente la lógica de acceso a MySQL: los cuatro clientes consumen las operaciones sin conocer la base de datos subyacente, respetando la separación de responsabilidades del patrón MVC.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11439426" y="2209932"/>
            <a:ext cx="6086574" cy="2051679"/>
          </a:xfrm>
          <a:prstGeom prst="roundRect">
            <a:avLst>
              <a:gd name="adj" fmla="val 18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2" name="Shape 30"/>
          <p:cNvSpPr/>
          <p:nvPr/>
        </p:nvSpPr>
        <p:spPr>
          <a:xfrm>
            <a:off x="11439426" y="4251028"/>
            <a:ext cx="6086574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3" name="Shape 31"/>
          <p:cNvSpPr/>
          <p:nvPr/>
        </p:nvSpPr>
        <p:spPr>
          <a:xfrm>
            <a:off x="11439426" y="2209932"/>
            <a:ext cx="6086574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4" name="Shape 32"/>
          <p:cNvSpPr/>
          <p:nvPr/>
        </p:nvSpPr>
        <p:spPr>
          <a:xfrm>
            <a:off x="11439426" y="2209932"/>
            <a:ext cx="74083" cy="2051679"/>
          </a:xfrm>
          <a:prstGeom prst="rect">
            <a:avLst/>
          </a:prstGeom>
          <a:solidFill>
            <a:srgbClr val="42955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5" name="Shape 33"/>
          <p:cNvSpPr/>
          <p:nvPr/>
        </p:nvSpPr>
        <p:spPr>
          <a:xfrm>
            <a:off x="17515417" y="2209932"/>
            <a:ext cx="10583" cy="2051679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6" name="Text 34"/>
          <p:cNvSpPr/>
          <p:nvPr/>
        </p:nvSpPr>
        <p:spPr>
          <a:xfrm>
            <a:off x="11742044" y="2430033"/>
            <a:ext cx="571118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742044" y="2677583"/>
            <a:ext cx="5711185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wsimport simplifica el cliente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1742044" y="3081735"/>
            <a:ext cx="5711185" cy="768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generación automática del stub a partir del WSDL evita construir envelopes a mano: los clientes Java invocan métodos tipados con DTOs reales (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PartidoFutbol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Factura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menos errores de serialización.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5143500" y="4471128"/>
            <a:ext cx="6086409" cy="1822318"/>
          </a:xfrm>
          <a:prstGeom prst="roundRect">
            <a:avLst>
              <a:gd name="adj" fmla="val 20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0" name="Shape 38"/>
          <p:cNvSpPr/>
          <p:nvPr/>
        </p:nvSpPr>
        <p:spPr>
          <a:xfrm>
            <a:off x="5143500" y="6282862"/>
            <a:ext cx="6086409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1" name="Shape 39"/>
          <p:cNvSpPr/>
          <p:nvPr/>
        </p:nvSpPr>
        <p:spPr>
          <a:xfrm>
            <a:off x="5143500" y="4471128"/>
            <a:ext cx="6086409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2" name="Shape 40"/>
          <p:cNvSpPr/>
          <p:nvPr/>
        </p:nvSpPr>
        <p:spPr>
          <a:xfrm>
            <a:off x="5143500" y="4471128"/>
            <a:ext cx="74083" cy="1822318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3" name="Shape 41"/>
          <p:cNvSpPr/>
          <p:nvPr/>
        </p:nvSpPr>
        <p:spPr>
          <a:xfrm>
            <a:off x="11219326" y="4471128"/>
            <a:ext cx="10583" cy="1822318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4" name="Text 42"/>
          <p:cNvSpPr/>
          <p:nvPr/>
        </p:nvSpPr>
        <p:spPr>
          <a:xfrm>
            <a:off x="5446118" y="4691228"/>
            <a:ext cx="571101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446118" y="4938779"/>
            <a:ext cx="5711015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FlatDarkLaf eleva Swing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446118" y="5342930"/>
            <a:ext cx="5711015" cy="768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Combinado con gradientes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Indigo→Púrpura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fuentes Inter y la paleta Emerald-Oscuro, el cliente de escritorio logra una apariencia premium comparable a frameworks web, sin dependencias externas.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11439426" y="4471128"/>
            <a:ext cx="6086574" cy="1822318"/>
          </a:xfrm>
          <a:prstGeom prst="roundRect">
            <a:avLst>
              <a:gd name="adj" fmla="val 20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8" name="Shape 46"/>
          <p:cNvSpPr/>
          <p:nvPr/>
        </p:nvSpPr>
        <p:spPr>
          <a:xfrm>
            <a:off x="11439426" y="6282862"/>
            <a:ext cx="6086574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9" name="Shape 47"/>
          <p:cNvSpPr/>
          <p:nvPr/>
        </p:nvSpPr>
        <p:spPr>
          <a:xfrm>
            <a:off x="11439426" y="4471128"/>
            <a:ext cx="6086574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0" name="Shape 48"/>
          <p:cNvSpPr/>
          <p:nvPr/>
        </p:nvSpPr>
        <p:spPr>
          <a:xfrm>
            <a:off x="11439426" y="4471128"/>
            <a:ext cx="74083" cy="1822318"/>
          </a:xfrm>
          <a:prstGeom prst="rect">
            <a:avLst/>
          </a:prstGeom>
          <a:solidFill>
            <a:srgbClr val="4590B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1" name="Shape 49"/>
          <p:cNvSpPr/>
          <p:nvPr/>
        </p:nvSpPr>
        <p:spPr>
          <a:xfrm>
            <a:off x="17515417" y="4471128"/>
            <a:ext cx="10583" cy="1822318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2" name="Text 50"/>
          <p:cNvSpPr/>
          <p:nvPr/>
        </p:nvSpPr>
        <p:spPr>
          <a:xfrm>
            <a:off x="11742044" y="4691228"/>
            <a:ext cx="571118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1742044" y="4938779"/>
            <a:ext cx="5711185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SOAP manual en Android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1742044" y="5342930"/>
            <a:ext cx="5711185" cy="7579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el envelope con OkHttp + XmlPullParser expone la estructura real del protocolo y permite integrarlo en cualquier plataforma que soporte HTTP, sin depender de librerías como ksoap2.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5143500" y="9774866"/>
            <a:ext cx="5710334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TP_SOAP_JAVA_TICKETPREMIUM_G5 · 05 CONCLUSIONES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7571641" y="9743116"/>
            <a:ext cx="335492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0" y="10153716"/>
            <a:ext cx="18288001" cy="133284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58" name="Imagen 57">
            <a:extLst>
              <a:ext uri="{FF2B5EF4-FFF2-40B4-BE49-F238E27FC236}">
                <a16:creationId xmlns:a16="http://schemas.microsoft.com/office/drawing/2014/main" id="{A4FCFFB4-8765-A03A-925D-E445410AB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8288000" cy="42347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301" y="626566"/>
            <a:ext cx="133284" cy="133284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799869" y="571500"/>
            <a:ext cx="1567458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301" y="1214934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369" y="1257267"/>
            <a:ext cx="129278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301" y="1644551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369" y="1686884"/>
            <a:ext cx="100588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301" y="2074168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369" y="2116501"/>
            <a:ext cx="1469562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301" y="2503785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369" y="2546119"/>
            <a:ext cx="109368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301" y="2933402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369" y="2975736"/>
            <a:ext cx="1409039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301" y="3363020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369" y="3363020"/>
            <a:ext cx="2272076" cy="334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301" y="3792637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90369" y="3834970"/>
            <a:ext cx="1199522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3301" y="9567334"/>
            <a:ext cx="3532040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43500" y="609534"/>
            <a:ext cx="1275397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RECOMENDACIONES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43500" y="1017984"/>
            <a:ext cx="1275397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Mejoras y próximos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</a:t>
            </a:r>
            <a:endParaRPr lang="en-US" sz="4800" dirty="0"/>
          </a:p>
        </p:txBody>
      </p:sp>
      <p:sp>
        <p:nvSpPr>
          <p:cNvPr id="22" name="Shape 20"/>
          <p:cNvSpPr/>
          <p:nvPr/>
        </p:nvSpPr>
        <p:spPr>
          <a:xfrm>
            <a:off x="5143500" y="1734013"/>
            <a:ext cx="1143000" cy="57051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3" name="Shape 21"/>
          <p:cNvSpPr/>
          <p:nvPr/>
        </p:nvSpPr>
        <p:spPr>
          <a:xfrm>
            <a:off x="5143500" y="2209932"/>
            <a:ext cx="3987767" cy="2573900"/>
          </a:xfrm>
          <a:prstGeom prst="roundRect">
            <a:avLst>
              <a:gd name="adj" fmla="val 148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4" name="Shape 22"/>
          <p:cNvSpPr/>
          <p:nvPr/>
        </p:nvSpPr>
        <p:spPr>
          <a:xfrm>
            <a:off x="5143500" y="4773249"/>
            <a:ext cx="3987767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5" name="Shape 23"/>
          <p:cNvSpPr/>
          <p:nvPr/>
        </p:nvSpPr>
        <p:spPr>
          <a:xfrm>
            <a:off x="5143500" y="2209932"/>
            <a:ext cx="3987767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6" name="Shape 24"/>
          <p:cNvSpPr/>
          <p:nvPr/>
        </p:nvSpPr>
        <p:spPr>
          <a:xfrm>
            <a:off x="5143500" y="2209932"/>
            <a:ext cx="74083" cy="2573900"/>
          </a:xfrm>
          <a:prstGeom prst="rect">
            <a:avLst/>
          </a:prstGeom>
          <a:solidFill>
            <a:srgbClr val="4590B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7" name="Shape 25"/>
          <p:cNvSpPr/>
          <p:nvPr/>
        </p:nvSpPr>
        <p:spPr>
          <a:xfrm>
            <a:off x="9120684" y="2209932"/>
            <a:ext cx="10583" cy="2573900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5446118" y="2430033"/>
            <a:ext cx="354941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· CONFIGURACIÓN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46118" y="2677583"/>
            <a:ext cx="3549414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Externalizar IP/Puerto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46118" y="3081735"/>
            <a:ext cx="3549414" cy="1520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Mover la URL del servidor SOAP a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config.properties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(clientes Java) y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BuildConfig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(Android), eliminando las constantes hardcodeadas en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ClienteFederacion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TicketPremiumSoapService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9340785" y="2209932"/>
            <a:ext cx="3987767" cy="2573900"/>
          </a:xfrm>
          <a:prstGeom prst="roundRect">
            <a:avLst>
              <a:gd name="adj" fmla="val 148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2" name="Shape 30"/>
          <p:cNvSpPr/>
          <p:nvPr/>
        </p:nvSpPr>
        <p:spPr>
          <a:xfrm>
            <a:off x="9340785" y="4773249"/>
            <a:ext cx="3987767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3" name="Shape 31"/>
          <p:cNvSpPr/>
          <p:nvPr/>
        </p:nvSpPr>
        <p:spPr>
          <a:xfrm>
            <a:off x="9340785" y="2209932"/>
            <a:ext cx="3987767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4" name="Shape 32"/>
          <p:cNvSpPr/>
          <p:nvPr/>
        </p:nvSpPr>
        <p:spPr>
          <a:xfrm>
            <a:off x="9340785" y="2209932"/>
            <a:ext cx="74083" cy="2573900"/>
          </a:xfrm>
          <a:prstGeom prst="rect">
            <a:avLst/>
          </a:prstGeom>
          <a:solidFill>
            <a:srgbClr val="42955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5" name="Shape 33"/>
          <p:cNvSpPr/>
          <p:nvPr/>
        </p:nvSpPr>
        <p:spPr>
          <a:xfrm>
            <a:off x="13317968" y="2209932"/>
            <a:ext cx="10583" cy="2573900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6" name="Text 34"/>
          <p:cNvSpPr/>
          <p:nvPr/>
        </p:nvSpPr>
        <p:spPr>
          <a:xfrm>
            <a:off x="9643401" y="2430033"/>
            <a:ext cx="354941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· ANDROID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643401" y="2677583"/>
            <a:ext cx="3549414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Corrutinas Kotlin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643401" y="3081735"/>
            <a:ext cx="3549414" cy="1280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Reemplazar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AsyncTask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(deprecado desde API 30) por corrutinas con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lifecycleScope.launch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Dispatchers.IO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Esto elimina la interfaz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SoapCallback&lt;T&gt;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simplifica el código.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13538068" y="2209932"/>
            <a:ext cx="3987932" cy="2573900"/>
          </a:xfrm>
          <a:prstGeom prst="roundRect">
            <a:avLst>
              <a:gd name="adj" fmla="val 148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0" name="Shape 38"/>
          <p:cNvSpPr/>
          <p:nvPr/>
        </p:nvSpPr>
        <p:spPr>
          <a:xfrm>
            <a:off x="13538068" y="4773249"/>
            <a:ext cx="3987932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1" name="Shape 39"/>
          <p:cNvSpPr/>
          <p:nvPr/>
        </p:nvSpPr>
        <p:spPr>
          <a:xfrm>
            <a:off x="13538068" y="2209932"/>
            <a:ext cx="3987932" cy="10583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2" name="Shape 40"/>
          <p:cNvSpPr/>
          <p:nvPr/>
        </p:nvSpPr>
        <p:spPr>
          <a:xfrm>
            <a:off x="13538068" y="2209932"/>
            <a:ext cx="74083" cy="2573900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3" name="Shape 41"/>
          <p:cNvSpPr/>
          <p:nvPr/>
        </p:nvSpPr>
        <p:spPr>
          <a:xfrm>
            <a:off x="17515417" y="2209932"/>
            <a:ext cx="10583" cy="2573900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4" name="Text 42"/>
          <p:cNvSpPr/>
          <p:nvPr/>
        </p:nvSpPr>
        <p:spPr>
          <a:xfrm>
            <a:off x="13840685" y="2430033"/>
            <a:ext cx="354958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 · SERVIDOR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3840685" y="2677583"/>
            <a:ext cx="3549584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Transacciones JDBC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3840685" y="3081735"/>
            <a:ext cx="3549584" cy="1258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Agregar manejo de transacciones en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comprarBoleto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el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decrementarDisponibilidad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el insert de factura deben ser atómicos. Sin rollback se pierden cupos si falla el insert.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5143500" y="9774866"/>
            <a:ext cx="6151988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TP_SOAP_JAVA_TICKETPREMIUM_G5 · 06 RECOMENDACIONES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7571641" y="9743116"/>
            <a:ext cx="335492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0" y="10153716"/>
            <a:ext cx="18288001" cy="133284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50" name="Imagen 49">
            <a:extLst>
              <a:ext uri="{FF2B5EF4-FFF2-40B4-BE49-F238E27FC236}">
                <a16:creationId xmlns:a16="http://schemas.microsoft.com/office/drawing/2014/main" id="{BDB4FAD6-AEDF-2439-339C-B5FD2E4B6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8288000" cy="42347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533301" y="626566"/>
            <a:ext cx="133284" cy="133284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799869" y="571500"/>
            <a:ext cx="1567458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301" y="1214934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369" y="1257267"/>
            <a:ext cx="129278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301" y="1644551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369" y="1686884"/>
            <a:ext cx="100588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301" y="2074168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369" y="2116501"/>
            <a:ext cx="1469562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301" y="2503785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369" y="2546119"/>
            <a:ext cx="109368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301" y="2933402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369" y="2975736"/>
            <a:ext cx="1409039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301" y="3363020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369" y="3405353"/>
            <a:ext cx="190529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BF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301" y="3792637"/>
            <a:ext cx="39998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90369" y="3792637"/>
            <a:ext cx="1473861" cy="334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3301" y="9567334"/>
            <a:ext cx="3532040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FA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GR05 · 2026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43500" y="609534"/>
            <a:ext cx="1275397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REFERENCIAS BIBLIOGRÁFICAS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43500" y="1017984"/>
            <a:ext cx="1275397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4800" dirty="0"/>
          </a:p>
        </p:txBody>
      </p:sp>
      <p:sp>
        <p:nvSpPr>
          <p:cNvPr id="22" name="Shape 20"/>
          <p:cNvSpPr/>
          <p:nvPr/>
        </p:nvSpPr>
        <p:spPr>
          <a:xfrm>
            <a:off x="5143500" y="1734013"/>
            <a:ext cx="1143000" cy="57051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5505450" y="2305182"/>
            <a:ext cx="1239202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Eclipse Foundation (2023).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Jakarta XML Web Services 4.0 Specification. 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jakarta.ee/specifications/xml-web-services/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05450" y="2815498"/>
            <a:ext cx="1239202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Payara Foundation (2024).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Payara Server 6 Documentation. 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docs.payara.fish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05450" y="3325813"/>
            <a:ext cx="1239202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Corporation (2023).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API Documentation. 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docs.oracle.com/en/java/javase/17/docs/api/java.sql/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05450" y="3836128"/>
            <a:ext cx="1239202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FlatLaf Project (2024).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FlatLaf — Flat Look and Feel for Swing. 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formdev.com/flatlaf/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05450" y="4346443"/>
            <a:ext cx="1239202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 Inc. (2024).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OkHttp Documentation. 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square.github.io/okhttp/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05450" y="4856758"/>
            <a:ext cx="12392026" cy="677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Developers (2024).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XmlPullParser — Android API Guide. 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developer.android.com/reference/org/xmlpull/v1/XmlPullParser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535375" y="8904883"/>
            <a:ext cx="199062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5535375" y="9323917"/>
            <a:ext cx="1990626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350" kern="0" spc="27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05 · 2026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143500" y="9774866"/>
            <a:ext cx="5579353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TP_SOAP_JAVA_TICKETPREMIUM_G5 · 07 BIBLIOGRAFÍA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7571641" y="9743116"/>
            <a:ext cx="335492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0" y="10153716"/>
            <a:ext cx="18288001" cy="133284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8D2992B2-8E66-23B8-99B3-6866FA90F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8288000" cy="4234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4412</Words>
  <Application>Microsoft Office PowerPoint</Application>
  <PresentationFormat>Custom</PresentationFormat>
  <Paragraphs>842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 IGNACIO PROA�O VASCONEZ</cp:lastModifiedBy>
  <cp:revision>3</cp:revision>
  <dcterms:created xsi:type="dcterms:W3CDTF">2026-05-20T04:24:16Z</dcterms:created>
  <dcterms:modified xsi:type="dcterms:W3CDTF">2026-05-20T04:46:06Z</dcterms:modified>
</cp:coreProperties>
</file>