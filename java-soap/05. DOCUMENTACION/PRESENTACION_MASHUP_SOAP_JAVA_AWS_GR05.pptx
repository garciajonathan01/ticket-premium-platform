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</p:sldIdLst>
  <p:sldSz cy="10287000" cx="18288000"/>
  <p:notesSz cx="10287000" cy="1828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714825" y="1371600"/>
            <a:ext cx="6858325" cy="6858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028700" y="8686800"/>
            <a:ext cx="82296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2" name="Google Shape;62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7" name="Google Shape;97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9" name="Google Shape;179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5" name="Google Shape;225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4" name="Google Shape;274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0" name="Google Shape;320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9" name="Google Shape;399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6" name="Google Shape;416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0" name="Google Shape;510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2" name="Google Shape;562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5" name="Google Shape;595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64" name="Google Shape;664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80" name="Google Shape;680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12" name="Google Shape;712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46" name="Google Shape;746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7" name="Google Shape;747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81" name="Google Shape;781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2" name="Google Shape;782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18" name="Google Shape;818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9" name="Google Shape;819;p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2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52" name="Google Shape;852;p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3" name="Google Shape;853;p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2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12" name="Google Shape;912;p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3" name="Google Shape;913;p2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2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64" name="Google Shape;964;p2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5" name="Google Shape;965;p2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15.png"/><Relationship Id="rId5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14.png"/><Relationship Id="rId5" Type="http://schemas.openxmlformats.org/officeDocument/2006/relationships/image" Target="../media/image9.png"/><Relationship Id="rId6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Relationship Id="rId4" Type="http://schemas.openxmlformats.org/officeDocument/2006/relationships/image" Target="../media/image22.png"/><Relationship Id="rId5" Type="http://schemas.openxmlformats.org/officeDocument/2006/relationships/image" Target="../media/image12.png"/><Relationship Id="rId6" Type="http://schemas.openxmlformats.org/officeDocument/2006/relationships/image" Target="../media/image21.png"/><Relationship Id="rId7" Type="http://schemas.openxmlformats.org/officeDocument/2006/relationships/image" Target="../media/image7.png"/><Relationship Id="rId8" Type="http://schemas.openxmlformats.org/officeDocument/2006/relationships/image" Target="../media/image1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275013" y="3106889"/>
            <a:ext cx="17576417" cy="6868097"/>
          </a:xfrm>
          <a:prstGeom prst="roundRect">
            <a:avLst>
              <a:gd fmla="val 5405" name="adj"/>
            </a:avLst>
          </a:prstGeom>
          <a:solidFill>
            <a:srgbClr val="1A3260"/>
          </a:solidFill>
          <a:ln cap="flat" cmpd="sng" w="19050">
            <a:solidFill>
              <a:srgbClr val="4590B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27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3"/>
          <p:cNvSpPr/>
          <p:nvPr/>
        </p:nvSpPr>
        <p:spPr>
          <a:xfrm>
            <a:off x="2278563" y="3438525"/>
            <a:ext cx="13466262" cy="1462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100"/>
              <a:buFont typeface="Arial"/>
              <a:buNone/>
            </a:pPr>
            <a:r>
              <a:rPr b="1" i="0" lang="en-US" sz="5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TICKETPREMIUM · MASHUP SOAP JAVA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3"/>
          <p:cNvSpPr/>
          <p:nvPr/>
        </p:nvSpPr>
        <p:spPr>
          <a:xfrm>
            <a:off x="1091184" y="5325907"/>
            <a:ext cx="18440400" cy="3481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50"/>
              <a:buFont typeface="Arial"/>
              <a:buNone/>
            </a:pPr>
            <a:r>
              <a:rPr b="0" i="0" lang="en-US" sz="2151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IMPLEMENTACIÓN DE MASHUPS CON SOAP JAVA EN LA NUBE · AWS RDS + MySQL · FIFA WORLD CUP 2026</a:t>
            </a:r>
            <a:endParaRPr b="0" i="0" sz="215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3"/>
          <p:cNvSpPr/>
          <p:nvPr/>
        </p:nvSpPr>
        <p:spPr>
          <a:xfrm>
            <a:off x="762000" y="6858000"/>
            <a:ext cx="9715426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INTEGRANTES — GRUPO 05</a:t>
            </a:r>
            <a:endParaRPr b="0" i="0" sz="16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3"/>
          <p:cNvSpPr/>
          <p:nvPr/>
        </p:nvSpPr>
        <p:spPr>
          <a:xfrm>
            <a:off x="762000" y="7248525"/>
            <a:ext cx="9097171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Richard Gualotuña, José Proaño, Jhonathan García</a:t>
            </a:r>
            <a:endParaRPr b="0" i="0" sz="2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10165705" y="6858000"/>
            <a:ext cx="809616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26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TUTOR / FECHA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10165705" y="7248525"/>
            <a:ext cx="7580950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42"/>
              <a:buFont typeface="Arial"/>
              <a:buNone/>
            </a:pPr>
            <a:r>
              <a:rPr b="1" i="0" lang="en-US" sz="194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Tutor: </a:t>
            </a:r>
            <a:r>
              <a:rPr b="0" i="0" lang="en-US" sz="194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Ing. Eduardo M. Campaña 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42"/>
              <a:buFont typeface="Arial"/>
              <a:buNone/>
            </a:pPr>
            <a:r>
              <a:rPr b="0" i="0" lang="en-US" sz="194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CCNA · CCIA · PhD(c)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42"/>
              <a:buFont typeface="Arial"/>
              <a:buNone/>
            </a:pPr>
            <a:r>
              <a:rPr b="0" i="0" lang="en-US" sz="194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94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Fecha: 21</a:t>
            </a:r>
            <a:r>
              <a:rPr b="0" i="0" lang="en-US" sz="194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/ 06 / 2026</a:t>
            </a:r>
            <a:endParaRPr b="0" i="0" sz="1943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0" y="10153650"/>
            <a:ext cx="18288000" cy="133350"/>
          </a:xfrm>
          <a:prstGeom prst="rect">
            <a:avLst/>
          </a:prstGeom>
          <a:gradFill>
            <a:gsLst>
              <a:gs pos="0">
                <a:srgbClr val="1A3260"/>
              </a:gs>
              <a:gs pos="40000">
                <a:srgbClr val="1A3260"/>
              </a:gs>
              <a:gs pos="70000">
                <a:srgbClr val="42955F"/>
              </a:gs>
              <a:gs pos="100000">
                <a:srgbClr val="E8821E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" name="Google Shape;2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1184" y="166115"/>
            <a:ext cx="16120925" cy="290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-22265"/>
            <a:ext cx="18288000" cy="3455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/>
          <p:nvPr/>
        </p:nvSpPr>
        <p:spPr>
          <a:xfrm>
            <a:off x="0" y="0"/>
            <a:ext cx="4381500" cy="10287000"/>
          </a:xfrm>
          <a:prstGeom prst="rect">
            <a:avLst/>
          </a:prstGeom>
          <a:solidFill>
            <a:srgbClr val="1A32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4"/>
          <p:cNvSpPr/>
          <p:nvPr/>
        </p:nvSpPr>
        <p:spPr>
          <a:xfrm>
            <a:off x="533400" y="628650"/>
            <a:ext cx="133350" cy="133350"/>
          </a:xfrm>
          <a:prstGeom prst="rect">
            <a:avLst/>
          </a:prstGeom>
          <a:solidFill>
            <a:srgbClr val="45C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800100" y="571500"/>
            <a:ext cx="238314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ÍNDICE GENERAL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533400" y="1219200"/>
            <a:ext cx="4000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990600" y="1219200"/>
            <a:ext cx="154081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Introducción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533400" y="1628775"/>
            <a:ext cx="4000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CBE8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45CBE8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990600" y="1666875"/>
            <a:ext cx="964109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6E8"/>
              </a:buClr>
              <a:buSzPts val="1575"/>
              <a:buFont typeface="Arial"/>
              <a:buNone/>
            </a:pPr>
            <a:r>
              <a:rPr lang="en-US" sz="1575">
                <a:solidFill>
                  <a:srgbClr val="BFD6E8"/>
                </a:solidFill>
                <a:latin typeface="Arial"/>
                <a:ea typeface="Arial"/>
                <a:cs typeface="Arial"/>
                <a:sym typeface="Arial"/>
              </a:rPr>
              <a:t>Objetivos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533400" y="2038350"/>
            <a:ext cx="4000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CBE8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45CBE8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990600" y="2076450"/>
            <a:ext cx="1406723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6E8"/>
              </a:buClr>
              <a:buSzPts val="1575"/>
              <a:buFont typeface="Arial"/>
              <a:buNone/>
            </a:pPr>
            <a:r>
              <a:rPr lang="en-US" sz="1575">
                <a:solidFill>
                  <a:srgbClr val="BFD6E8"/>
                </a:solidFill>
                <a:latin typeface="Arial"/>
                <a:ea typeface="Arial"/>
                <a:cs typeface="Arial"/>
                <a:sym typeface="Arial"/>
              </a:rPr>
              <a:t>Marco Teórico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533400" y="2447925"/>
            <a:ext cx="4000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CBE8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45CBE8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990600" y="2486025"/>
            <a:ext cx="2035969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6E8"/>
              </a:buClr>
              <a:buSzPts val="1575"/>
              <a:buFont typeface="Arial"/>
              <a:buNone/>
            </a:pPr>
            <a:r>
              <a:rPr lang="en-US" sz="1575">
                <a:solidFill>
                  <a:srgbClr val="BFD6E8"/>
                </a:solidFill>
                <a:latin typeface="Arial"/>
                <a:ea typeface="Arial"/>
                <a:cs typeface="Arial"/>
                <a:sym typeface="Arial"/>
              </a:rPr>
              <a:t>Arquitectura Mashup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533400" y="2857500"/>
            <a:ext cx="4000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CBE8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45CBE8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990600" y="2895600"/>
            <a:ext cx="1572369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6E8"/>
              </a:buClr>
              <a:buSzPts val="1575"/>
              <a:buFont typeface="Arial"/>
              <a:buNone/>
            </a:pPr>
            <a:r>
              <a:rPr lang="en-US" sz="1575">
                <a:solidFill>
                  <a:srgbClr val="BFD6E8"/>
                </a:solidFill>
                <a:latin typeface="Arial"/>
                <a:ea typeface="Arial"/>
                <a:cs typeface="Arial"/>
                <a:sym typeface="Arial"/>
              </a:rPr>
              <a:t>Bases de Datos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533400" y="3267075"/>
            <a:ext cx="4000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CBE8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45CBE8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990600" y="3305175"/>
            <a:ext cx="1471166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6E8"/>
              </a:buClr>
              <a:buSzPts val="1575"/>
              <a:buFont typeface="Arial"/>
              <a:buNone/>
            </a:pPr>
            <a:r>
              <a:rPr lang="en-US" sz="1575">
                <a:solidFill>
                  <a:srgbClr val="BFD6E8"/>
                </a:solidFill>
                <a:latin typeface="Arial"/>
                <a:ea typeface="Arial"/>
                <a:cs typeface="Arial"/>
                <a:sym typeface="Arial"/>
              </a:rPr>
              <a:t>WSFederacion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533400" y="3676650"/>
            <a:ext cx="4000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CBE8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45CBE8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990600" y="3714750"/>
            <a:ext cx="2116187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6E8"/>
              </a:buClr>
              <a:buSzPts val="1575"/>
              <a:buFont typeface="Arial"/>
              <a:buNone/>
            </a:pPr>
            <a:r>
              <a:rPr lang="en-US" sz="1575">
                <a:solidFill>
                  <a:srgbClr val="BFD6E8"/>
                </a:solidFill>
                <a:latin typeface="Arial"/>
                <a:ea typeface="Arial"/>
                <a:cs typeface="Arial"/>
                <a:sym typeface="Arial"/>
              </a:rPr>
              <a:t>WSBancoCore · AWS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533400" y="4086225"/>
            <a:ext cx="4000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CBE8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45CBE8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990600" y="4124325"/>
            <a:ext cx="1293763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6E8"/>
              </a:buClr>
              <a:buSzPts val="1575"/>
              <a:buFont typeface="Arial"/>
              <a:buNone/>
            </a:pPr>
            <a:r>
              <a:rPr lang="en-US" sz="1575">
                <a:solidFill>
                  <a:srgbClr val="BFD6E8"/>
                </a:solidFill>
                <a:latin typeface="Arial"/>
                <a:ea typeface="Arial"/>
                <a:cs typeface="Arial"/>
                <a:sym typeface="Arial"/>
              </a:rPr>
              <a:t>Clientes (×4)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533400" y="4495800"/>
            <a:ext cx="4000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CBE8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45CBE8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990600" y="4533900"/>
            <a:ext cx="1349127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6E8"/>
              </a:buClr>
              <a:buSzPts val="1575"/>
              <a:buFont typeface="Arial"/>
              <a:buNone/>
            </a:pPr>
            <a:r>
              <a:rPr lang="en-US" sz="1575">
                <a:solidFill>
                  <a:srgbClr val="BFD6E8"/>
                </a:solidFill>
                <a:latin typeface="Arial"/>
                <a:ea typeface="Arial"/>
                <a:cs typeface="Arial"/>
                <a:sym typeface="Arial"/>
              </a:rPr>
              <a:t>Conclusiones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533400" y="4905375"/>
            <a:ext cx="4000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CBE8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45CBE8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990600" y="4943475"/>
            <a:ext cx="1822996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6E8"/>
              </a:buClr>
              <a:buSzPts val="1575"/>
              <a:buFont typeface="Arial"/>
              <a:buNone/>
            </a:pPr>
            <a:r>
              <a:rPr lang="en-US" sz="1575">
                <a:solidFill>
                  <a:srgbClr val="BFD6E8"/>
                </a:solidFill>
                <a:latin typeface="Arial"/>
                <a:ea typeface="Arial"/>
                <a:cs typeface="Arial"/>
                <a:sym typeface="Arial"/>
              </a:rPr>
              <a:t>Recomendaciones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533400" y="5314950"/>
            <a:ext cx="4000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CBE8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45CBE8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990600" y="5353050"/>
            <a:ext cx="1148953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6E8"/>
              </a:buClr>
              <a:buSzPts val="1575"/>
              <a:buFont typeface="Arial"/>
              <a:buNone/>
            </a:pPr>
            <a:r>
              <a:rPr lang="en-US" sz="1575">
                <a:solidFill>
                  <a:srgbClr val="BFD6E8"/>
                </a:solidFill>
                <a:latin typeface="Arial"/>
                <a:ea typeface="Arial"/>
                <a:cs typeface="Arial"/>
                <a:sym typeface="Arial"/>
              </a:rPr>
              <a:t>Bibliografía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533400" y="9563100"/>
            <a:ext cx="37719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A2BF"/>
              </a:buClr>
              <a:buSzPts val="971"/>
              <a:buFont typeface="Arial"/>
              <a:buNone/>
            </a:pPr>
            <a:r>
              <a:rPr lang="en-US" sz="971">
                <a:solidFill>
                  <a:srgbClr val="7FA2BF"/>
                </a:solidFill>
                <a:latin typeface="Arial"/>
                <a:ea typeface="Arial"/>
                <a:cs typeface="Arial"/>
                <a:sym typeface="Arial"/>
              </a:rPr>
              <a:t>GR05 · 2026</a:t>
            </a:r>
            <a:endParaRPr sz="97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5143500" y="571500"/>
            <a:ext cx="13620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4590B8"/>
                </a:solidFill>
                <a:latin typeface="Arial"/>
                <a:ea typeface="Arial"/>
                <a:cs typeface="Arial"/>
                <a:sym typeface="Arial"/>
              </a:rPr>
              <a:t>CONTENIDO DE LA PRESENTACIÓN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4599459" y="8312646"/>
            <a:ext cx="12753975" cy="15293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C2330"/>
              </a:buClr>
              <a:buSzPts val="1873"/>
              <a:buFont typeface="Arial"/>
              <a:buNone/>
            </a:pPr>
            <a:r>
              <a:rPr lang="en-US" sz="1873">
                <a:solidFill>
                  <a:srgbClr val="1C2330"/>
                </a:solidFill>
                <a:latin typeface="Arial"/>
                <a:ea typeface="Arial"/>
                <a:cs typeface="Arial"/>
                <a:sym typeface="Arial"/>
              </a:rPr>
              <a:t>Un </a:t>
            </a:r>
            <a:r>
              <a:rPr b="1" lang="en-US" sz="1873">
                <a:solidFill>
                  <a:srgbClr val="1C2330"/>
                </a:solidFill>
                <a:latin typeface="Arial"/>
                <a:ea typeface="Arial"/>
                <a:cs typeface="Arial"/>
                <a:sym typeface="Arial"/>
              </a:rPr>
              <a:t>Mashup de dos Web Services SOAP en Java</a:t>
            </a:r>
            <a:r>
              <a:rPr lang="en-US" sz="1873">
                <a:solidFill>
                  <a:srgbClr val="1C233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1" lang="en-US" sz="1873">
                <a:solidFill>
                  <a:srgbClr val="1C2330"/>
                </a:solidFill>
                <a:latin typeface="Arial"/>
                <a:ea typeface="Arial"/>
                <a:cs typeface="Arial"/>
                <a:sym typeface="Arial"/>
              </a:rPr>
              <a:t>WSFederacion </a:t>
            </a:r>
            <a:r>
              <a:rPr lang="en-US" sz="1873">
                <a:solidFill>
                  <a:srgbClr val="1C2330"/>
                </a:solidFill>
                <a:latin typeface="Arial"/>
                <a:ea typeface="Arial"/>
                <a:cs typeface="Arial"/>
                <a:sym typeface="Arial"/>
              </a:rPr>
              <a:t>(Payara + MySQL local) gestiona la venta de boletos del </a:t>
            </a:r>
            <a:r>
              <a:rPr b="1" lang="en-US" sz="1873">
                <a:solidFill>
                  <a:srgbClr val="1C2330"/>
                </a:solidFill>
                <a:latin typeface="Arial"/>
                <a:ea typeface="Arial"/>
                <a:cs typeface="Arial"/>
                <a:sym typeface="Arial"/>
              </a:rPr>
              <a:t>Mundial 2026 </a:t>
            </a:r>
            <a:r>
              <a:rPr lang="en-US" sz="1873">
                <a:solidFill>
                  <a:srgbClr val="1C2330"/>
                </a:solidFill>
                <a:latin typeface="Arial"/>
                <a:ea typeface="Arial"/>
                <a:cs typeface="Arial"/>
                <a:sym typeface="Arial"/>
              </a:rPr>
              <a:t>con asientos individuales, y </a:t>
            </a:r>
            <a:r>
              <a:rPr b="1" lang="en-US" sz="1873">
                <a:solidFill>
                  <a:srgbClr val="1C2330"/>
                </a:solidFill>
                <a:latin typeface="Arial"/>
                <a:ea typeface="Arial"/>
                <a:cs typeface="Arial"/>
                <a:sym typeface="Arial"/>
              </a:rPr>
              <a:t>WSBancoCore </a:t>
            </a:r>
            <a:r>
              <a:rPr lang="en-US" sz="1873">
                <a:solidFill>
                  <a:srgbClr val="1C2330"/>
                </a:solidFill>
                <a:latin typeface="Arial"/>
                <a:ea typeface="Arial"/>
                <a:cs typeface="Arial"/>
                <a:sym typeface="Arial"/>
              </a:rPr>
              <a:t>(Payara + </a:t>
            </a:r>
            <a:r>
              <a:rPr b="1" lang="en-US" sz="1873">
                <a:solidFill>
                  <a:srgbClr val="B45F0E"/>
                </a:solidFill>
                <a:latin typeface="Arial"/>
                <a:ea typeface="Arial"/>
                <a:cs typeface="Arial"/>
                <a:sym typeface="Arial"/>
              </a:rPr>
              <a:t>MySQL en AWS RDS </a:t>
            </a:r>
            <a:r>
              <a:rPr lang="en-US" sz="1873">
                <a:solidFill>
                  <a:srgbClr val="1C2330"/>
                </a:solidFill>
                <a:latin typeface="Arial"/>
                <a:ea typeface="Arial"/>
                <a:cs typeface="Arial"/>
                <a:sym typeface="Arial"/>
              </a:rPr>
              <a:t>) evalúa el crédito bancario. El cliente orquesta ambos servicios para ofrecer una compra con pago en efectivo o a crédito.</a:t>
            </a:r>
            <a:endParaRPr sz="187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5143500" y="9772650"/>
            <a:ext cx="4565734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10"/>
              <a:buFont typeface="Arial"/>
              <a:buNone/>
            </a:pPr>
            <a:r>
              <a:rPr b="1" lang="en-US" sz="111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TP_SOAP_JAVA_MASHUP_AWS_G5 · ÍNDICE</a:t>
            </a:r>
            <a:endParaRPr sz="111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17571393" y="9744075"/>
            <a:ext cx="335607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4590B8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0" y="10153650"/>
            <a:ext cx="18288000" cy="133350"/>
          </a:xfrm>
          <a:prstGeom prst="rect">
            <a:avLst/>
          </a:prstGeom>
          <a:gradFill>
            <a:gsLst>
              <a:gs pos="0">
                <a:srgbClr val="1A3260"/>
              </a:gs>
              <a:gs pos="50000">
                <a:srgbClr val="1A3260"/>
              </a:gs>
              <a:gs pos="75000">
                <a:srgbClr val="42955F"/>
              </a:gs>
              <a:gs pos="100000">
                <a:srgbClr val="E8821E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8" name="Google Shape;5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22265"/>
            <a:ext cx="18288000" cy="3455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AGENDA PNG" id="59" name="Google Shape;59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50507" y="1429905"/>
            <a:ext cx="12656493" cy="6305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5"/>
          <p:cNvSpPr/>
          <p:nvPr/>
        </p:nvSpPr>
        <p:spPr>
          <a:xfrm>
            <a:off x="0" y="0"/>
            <a:ext cx="4381500" cy="10287000"/>
          </a:xfrm>
          <a:prstGeom prst="rect">
            <a:avLst/>
          </a:prstGeom>
          <a:solidFill>
            <a:srgbClr val="1A32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5"/>
          <p:cNvSpPr/>
          <p:nvPr/>
        </p:nvSpPr>
        <p:spPr>
          <a:xfrm>
            <a:off x="533400" y="628650"/>
            <a:ext cx="133350" cy="133350"/>
          </a:xfrm>
          <a:prstGeom prst="rect">
            <a:avLst/>
          </a:prstGeom>
          <a:solidFill>
            <a:srgbClr val="45C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800100" y="571500"/>
            <a:ext cx="1641038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CONTENIDO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533400" y="1219200"/>
            <a:ext cx="4000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990600" y="1219200"/>
            <a:ext cx="154081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Introducción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533400" y="1628775"/>
            <a:ext cx="4000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CBE8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45CBE8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990600" y="1666875"/>
            <a:ext cx="964109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6E8"/>
              </a:buClr>
              <a:buSzPts val="1575"/>
              <a:buFont typeface="Arial"/>
              <a:buNone/>
            </a:pPr>
            <a:r>
              <a:rPr lang="en-US" sz="1575">
                <a:solidFill>
                  <a:srgbClr val="BFD6E8"/>
                </a:solidFill>
                <a:latin typeface="Arial"/>
                <a:ea typeface="Arial"/>
                <a:cs typeface="Arial"/>
                <a:sym typeface="Arial"/>
              </a:rPr>
              <a:t>Objetivos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533400" y="2038350"/>
            <a:ext cx="4000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CBE8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45CBE8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990600" y="2076450"/>
            <a:ext cx="1406723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6E8"/>
              </a:buClr>
              <a:buSzPts val="1575"/>
              <a:buFont typeface="Arial"/>
              <a:buNone/>
            </a:pPr>
            <a:r>
              <a:rPr lang="en-US" sz="1575">
                <a:solidFill>
                  <a:srgbClr val="BFD6E8"/>
                </a:solidFill>
                <a:latin typeface="Arial"/>
                <a:ea typeface="Arial"/>
                <a:cs typeface="Arial"/>
                <a:sym typeface="Arial"/>
              </a:rPr>
              <a:t>Marco Teórico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533400" y="2447925"/>
            <a:ext cx="4000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CBE8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45CBE8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990600" y="2486025"/>
            <a:ext cx="122679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6E8"/>
              </a:buClr>
              <a:buSzPts val="1575"/>
              <a:buFont typeface="Arial"/>
              <a:buNone/>
            </a:pPr>
            <a:r>
              <a:rPr lang="en-US" sz="1575">
                <a:solidFill>
                  <a:srgbClr val="BFD6E8"/>
                </a:solidFill>
                <a:latin typeface="Arial"/>
                <a:ea typeface="Arial"/>
                <a:cs typeface="Arial"/>
                <a:sym typeface="Arial"/>
              </a:rPr>
              <a:t>Arquitectura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533400" y="2857500"/>
            <a:ext cx="4000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CBE8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45CBE8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990600" y="2895600"/>
            <a:ext cx="1572369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6E8"/>
              </a:buClr>
              <a:buSzPts val="1575"/>
              <a:buFont typeface="Arial"/>
              <a:buNone/>
            </a:pPr>
            <a:r>
              <a:rPr lang="en-US" sz="1575">
                <a:solidFill>
                  <a:srgbClr val="BFD6E8"/>
                </a:solidFill>
                <a:latin typeface="Arial"/>
                <a:ea typeface="Arial"/>
                <a:cs typeface="Arial"/>
                <a:sym typeface="Arial"/>
              </a:rPr>
              <a:t>Bases de Datos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533400" y="3267075"/>
            <a:ext cx="4000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CBE8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45CBE8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990600" y="3305175"/>
            <a:ext cx="1471166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6E8"/>
              </a:buClr>
              <a:buSzPts val="1575"/>
              <a:buFont typeface="Arial"/>
              <a:buNone/>
            </a:pPr>
            <a:r>
              <a:rPr lang="en-US" sz="1575">
                <a:solidFill>
                  <a:srgbClr val="BFD6E8"/>
                </a:solidFill>
                <a:latin typeface="Arial"/>
                <a:ea typeface="Arial"/>
                <a:cs typeface="Arial"/>
                <a:sym typeface="Arial"/>
              </a:rPr>
              <a:t>WSFederacion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533400" y="3676650"/>
            <a:ext cx="4000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CBE8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45CBE8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990600" y="3714750"/>
            <a:ext cx="1465213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6E8"/>
              </a:buClr>
              <a:buSzPts val="1575"/>
              <a:buFont typeface="Arial"/>
              <a:buNone/>
            </a:pPr>
            <a:r>
              <a:rPr lang="en-US" sz="1575">
                <a:solidFill>
                  <a:srgbClr val="BFD6E8"/>
                </a:solidFill>
                <a:latin typeface="Arial"/>
                <a:ea typeface="Arial"/>
                <a:cs typeface="Arial"/>
                <a:sym typeface="Arial"/>
              </a:rPr>
              <a:t>WSBancoCore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533400" y="4086225"/>
            <a:ext cx="4000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CBE8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45CBE8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990600" y="4124325"/>
            <a:ext cx="846981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6E8"/>
              </a:buClr>
              <a:buSzPts val="1575"/>
              <a:buFont typeface="Arial"/>
              <a:buNone/>
            </a:pPr>
            <a:r>
              <a:rPr lang="en-US" sz="1575">
                <a:solidFill>
                  <a:srgbClr val="BFD6E8"/>
                </a:solidFill>
                <a:latin typeface="Arial"/>
                <a:ea typeface="Arial"/>
                <a:cs typeface="Arial"/>
                <a:sym typeface="Arial"/>
              </a:rPr>
              <a:t>Clientes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533400" y="9563100"/>
            <a:ext cx="37719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A2BF"/>
              </a:buClr>
              <a:buSzPts val="971"/>
              <a:buFont typeface="Arial"/>
              <a:buNone/>
            </a:pPr>
            <a:r>
              <a:rPr lang="en-US" sz="971">
                <a:solidFill>
                  <a:srgbClr val="7FA2BF"/>
                </a:solidFill>
                <a:latin typeface="Arial"/>
                <a:ea typeface="Arial"/>
                <a:cs typeface="Arial"/>
                <a:sym typeface="Arial"/>
              </a:rPr>
              <a:t>GR05 · 2026</a:t>
            </a:r>
            <a:endParaRPr sz="97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5143500" y="571500"/>
            <a:ext cx="13620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4590B8"/>
                </a:solidFill>
                <a:latin typeface="Arial"/>
                <a:ea typeface="Arial"/>
                <a:cs typeface="Arial"/>
                <a:sym typeface="Arial"/>
              </a:rPr>
              <a:t>01 · INTRODUCCIÓN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5143500" y="952500"/>
            <a:ext cx="12753975" cy="11980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3260"/>
              </a:buClr>
              <a:buSzPts val="4350"/>
              <a:buFont typeface="Arial"/>
              <a:buNone/>
            </a:pPr>
            <a:r>
              <a:rPr b="1" lang="en-US" sz="4350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Dos servicios, una </a:t>
            </a:r>
            <a:r>
              <a:rPr b="1" lang="en-US" sz="4350">
                <a:solidFill>
                  <a:srgbClr val="42955F"/>
                </a:solidFill>
                <a:latin typeface="Arial"/>
                <a:ea typeface="Arial"/>
                <a:cs typeface="Arial"/>
                <a:sym typeface="Arial"/>
              </a:rPr>
              <a:t>experiencia de compra</a:t>
            </a:r>
            <a:endParaRPr sz="4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5143500" y="2188666"/>
            <a:ext cx="1143000" cy="57150"/>
          </a:xfrm>
          <a:prstGeom prst="rect">
            <a:avLst/>
          </a:prstGeom>
          <a:solidFill>
            <a:srgbClr val="C124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5"/>
          <p:cNvSpPr/>
          <p:nvPr/>
        </p:nvSpPr>
        <p:spPr>
          <a:xfrm>
            <a:off x="5143500" y="2531566"/>
            <a:ext cx="12753975" cy="130849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C2330"/>
              </a:buClr>
              <a:buSzPts val="1725"/>
              <a:buFont typeface="Arial"/>
              <a:buNone/>
            </a:pPr>
            <a:r>
              <a:rPr lang="en-US" sz="1725">
                <a:solidFill>
                  <a:srgbClr val="1C2330"/>
                </a:solidFill>
                <a:latin typeface="Arial"/>
                <a:ea typeface="Arial"/>
                <a:cs typeface="Arial"/>
                <a:sym typeface="Arial"/>
              </a:rPr>
              <a:t>El sistema </a:t>
            </a:r>
            <a:r>
              <a:rPr b="1" lang="en-US" sz="1725">
                <a:solidFill>
                  <a:srgbClr val="1C2330"/>
                </a:solidFill>
                <a:latin typeface="Arial"/>
                <a:ea typeface="Arial"/>
                <a:cs typeface="Arial"/>
                <a:sym typeface="Arial"/>
              </a:rPr>
              <a:t>TicketPremium Mashup </a:t>
            </a:r>
            <a:r>
              <a:rPr lang="en-US" sz="1725">
                <a:solidFill>
                  <a:srgbClr val="1C2330"/>
                </a:solidFill>
                <a:latin typeface="Arial"/>
                <a:ea typeface="Arial"/>
                <a:cs typeface="Arial"/>
                <a:sym typeface="Arial"/>
              </a:rPr>
              <a:t>integra </a:t>
            </a:r>
            <a:r>
              <a:rPr b="1" lang="en-US" sz="1725">
                <a:solidFill>
                  <a:srgbClr val="1C2330"/>
                </a:solidFill>
                <a:latin typeface="Arial"/>
                <a:ea typeface="Arial"/>
                <a:cs typeface="Arial"/>
                <a:sym typeface="Arial"/>
              </a:rPr>
              <a:t>dos Web Services SOAP independientes </a:t>
            </a:r>
            <a:r>
              <a:rPr lang="en-US" sz="1725">
                <a:solidFill>
                  <a:srgbClr val="1C2330"/>
                </a:solidFill>
                <a:latin typeface="Arial"/>
                <a:ea typeface="Arial"/>
                <a:cs typeface="Arial"/>
                <a:sym typeface="Arial"/>
              </a:rPr>
              <a:t>para gestionar la venta de boletos de los partidos del </a:t>
            </a:r>
            <a:r>
              <a:rPr b="1" lang="en-US" sz="1725">
                <a:solidFill>
                  <a:srgbClr val="1C2330"/>
                </a:solidFill>
                <a:latin typeface="Arial"/>
                <a:ea typeface="Arial"/>
                <a:cs typeface="Arial"/>
                <a:sym typeface="Arial"/>
              </a:rPr>
              <a:t>FIFA World Cup 2026</a:t>
            </a:r>
            <a:r>
              <a:rPr lang="en-US" sz="1725">
                <a:solidFill>
                  <a:srgbClr val="1C2330"/>
                </a:solidFill>
                <a:latin typeface="Arial"/>
                <a:ea typeface="Arial"/>
                <a:cs typeface="Arial"/>
                <a:sym typeface="Arial"/>
              </a:rPr>
              <a:t>. El patrón Mashup combina el servicio de la Federación de Fútbol (</a:t>
            </a:r>
            <a:r>
              <a:rPr b="1" lang="en-US" sz="1725">
                <a:solidFill>
                  <a:srgbClr val="1C2330"/>
                </a:solidFill>
                <a:latin typeface="Arial"/>
                <a:ea typeface="Arial"/>
                <a:cs typeface="Arial"/>
                <a:sym typeface="Arial"/>
              </a:rPr>
              <a:t>WSFederacion </a:t>
            </a:r>
            <a:r>
              <a:rPr lang="en-US" sz="1725">
                <a:solidFill>
                  <a:srgbClr val="1C2330"/>
                </a:solidFill>
                <a:latin typeface="Arial"/>
                <a:ea typeface="Arial"/>
                <a:cs typeface="Arial"/>
                <a:sym typeface="Arial"/>
              </a:rPr>
              <a:t>) con el servicio financiero </a:t>
            </a:r>
            <a:r>
              <a:rPr b="1" lang="en-US" sz="1725">
                <a:solidFill>
                  <a:srgbClr val="1C2330"/>
                </a:solidFill>
                <a:latin typeface="Arial"/>
                <a:ea typeface="Arial"/>
                <a:cs typeface="Arial"/>
                <a:sym typeface="Arial"/>
              </a:rPr>
              <a:t>Banco Core </a:t>
            </a:r>
            <a:r>
              <a:rPr lang="en-US" sz="1725">
                <a:solidFill>
                  <a:srgbClr val="1C233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lang="en-US" sz="1725">
                <a:solidFill>
                  <a:srgbClr val="B45F0E"/>
                </a:solidFill>
                <a:latin typeface="Arial"/>
                <a:ea typeface="Arial"/>
                <a:cs typeface="Arial"/>
                <a:sym typeface="Arial"/>
              </a:rPr>
              <a:t>WSBancoCore</a:t>
            </a:r>
            <a:r>
              <a:rPr lang="en-US" sz="1725">
                <a:solidFill>
                  <a:srgbClr val="1C2330"/>
                </a:solidFill>
                <a:latin typeface="Arial"/>
                <a:ea typeface="Arial"/>
                <a:cs typeface="Arial"/>
                <a:sym typeface="Arial"/>
              </a:rPr>
              <a:t>) para ofrecer una compra completa con pago en </a:t>
            </a:r>
            <a:r>
              <a:rPr b="1" lang="en-US" sz="1725">
                <a:solidFill>
                  <a:srgbClr val="1C2330"/>
                </a:solidFill>
                <a:latin typeface="Arial"/>
                <a:ea typeface="Arial"/>
                <a:cs typeface="Arial"/>
                <a:sym typeface="Arial"/>
              </a:rPr>
              <a:t>efectivo o crédito bancario </a:t>
            </a:r>
            <a:r>
              <a:rPr lang="en-US" sz="1725">
                <a:solidFill>
                  <a:srgbClr val="1C233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7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5143500" y="3944838"/>
            <a:ext cx="12753975" cy="130849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C2330"/>
              </a:buClr>
              <a:buSzPts val="1595"/>
              <a:buFont typeface="Arial"/>
              <a:buNone/>
            </a:pPr>
            <a:r>
              <a:rPr b="1" lang="en-US" sz="1596">
                <a:solidFill>
                  <a:srgbClr val="1C2330"/>
                </a:solidFill>
                <a:latin typeface="Arial"/>
                <a:ea typeface="Arial"/>
                <a:cs typeface="Arial"/>
                <a:sym typeface="Arial"/>
              </a:rPr>
              <a:t>WSFederacion</a:t>
            </a:r>
            <a:r>
              <a:rPr lang="en-US" sz="1596">
                <a:solidFill>
                  <a:srgbClr val="1C2330"/>
                </a:solidFill>
                <a:latin typeface="Arial"/>
                <a:ea typeface="Arial"/>
                <a:cs typeface="Arial"/>
                <a:sym typeface="Arial"/>
              </a:rPr>
              <a:t>, en </a:t>
            </a:r>
            <a:r>
              <a:rPr b="1" lang="en-US" sz="1596">
                <a:solidFill>
                  <a:srgbClr val="1C2330"/>
                </a:solidFill>
                <a:latin typeface="Arial"/>
                <a:ea typeface="Arial"/>
                <a:cs typeface="Arial"/>
                <a:sym typeface="Arial"/>
              </a:rPr>
              <a:t>Payara Server 6 </a:t>
            </a:r>
            <a:r>
              <a:rPr lang="en-US" sz="1596">
                <a:solidFill>
                  <a:srgbClr val="1C2330"/>
                </a:solidFill>
                <a:latin typeface="Arial"/>
                <a:ea typeface="Arial"/>
                <a:cs typeface="Arial"/>
                <a:sym typeface="Arial"/>
              </a:rPr>
              <a:t>con MySQL local, expone un CRUD completo del torneo (países, estadios, equipos, clientes, partidos y localidades) más la venta con </a:t>
            </a:r>
            <a:r>
              <a:rPr b="1" lang="en-US" sz="1596">
                <a:solidFill>
                  <a:srgbClr val="1C2330"/>
                </a:solidFill>
                <a:latin typeface="Arial"/>
                <a:ea typeface="Arial"/>
                <a:cs typeface="Arial"/>
                <a:sym typeface="Arial"/>
              </a:rPr>
              <a:t>asientos individuales numerados</a:t>
            </a:r>
            <a:r>
              <a:rPr lang="en-US" sz="1596">
                <a:solidFill>
                  <a:srgbClr val="1C233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b="1" lang="en-US" sz="1596">
                <a:solidFill>
                  <a:srgbClr val="1C2330"/>
                </a:solidFill>
                <a:latin typeface="Arial"/>
                <a:ea typeface="Arial"/>
                <a:cs typeface="Arial"/>
                <a:sym typeface="Arial"/>
              </a:rPr>
              <a:t>WSBancoCore</a:t>
            </a:r>
            <a:r>
              <a:rPr lang="en-US" sz="1596">
                <a:solidFill>
                  <a:srgbClr val="1C2330"/>
                </a:solidFill>
                <a:latin typeface="Arial"/>
                <a:ea typeface="Arial"/>
                <a:cs typeface="Arial"/>
                <a:sym typeface="Arial"/>
              </a:rPr>
              <a:t>, respaldado por </a:t>
            </a:r>
            <a:r>
              <a:rPr b="1" lang="en-US" sz="1596">
                <a:solidFill>
                  <a:srgbClr val="B45F0E"/>
                </a:solidFill>
                <a:latin typeface="Arial"/>
                <a:ea typeface="Arial"/>
                <a:cs typeface="Arial"/>
                <a:sym typeface="Arial"/>
              </a:rPr>
              <a:t>MySQL en AWS RDS </a:t>
            </a:r>
            <a:r>
              <a:rPr lang="en-US" sz="1596">
                <a:solidFill>
                  <a:srgbClr val="1C2330"/>
                </a:solidFill>
                <a:latin typeface="Arial"/>
                <a:ea typeface="Arial"/>
                <a:cs typeface="Arial"/>
                <a:sym typeface="Arial"/>
              </a:rPr>
              <a:t>, provee </a:t>
            </a:r>
            <a:r>
              <a:rPr lang="en-US" sz="1596">
                <a:solidFill>
                  <a:srgbClr val="1C2330"/>
                </a:solidFill>
                <a:latin typeface="Courier New"/>
                <a:ea typeface="Courier New"/>
                <a:cs typeface="Courier New"/>
                <a:sym typeface="Courier New"/>
              </a:rPr>
              <a:t>verificarYCrearCredito</a:t>
            </a:r>
            <a:r>
              <a:rPr lang="en-US" sz="1596">
                <a:solidFill>
                  <a:srgbClr val="1C2330"/>
                </a:solidFill>
                <a:latin typeface="Arial"/>
                <a:ea typeface="Arial"/>
                <a:cs typeface="Arial"/>
                <a:sym typeface="Arial"/>
              </a:rPr>
              <a:t>, que evalúa la elegibilidad del cliente y genera la tabla de amortización al </a:t>
            </a:r>
            <a:r>
              <a:rPr b="1" lang="en-US" sz="1596">
                <a:solidFill>
                  <a:srgbClr val="1C2330"/>
                </a:solidFill>
                <a:latin typeface="Arial"/>
                <a:ea typeface="Arial"/>
                <a:cs typeface="Arial"/>
                <a:sym typeface="Arial"/>
              </a:rPr>
              <a:t>16.5% anual</a:t>
            </a:r>
            <a:r>
              <a:rPr lang="en-US" sz="1596">
                <a:solidFill>
                  <a:srgbClr val="1C233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59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5143500" y="5358110"/>
            <a:ext cx="12753975" cy="6732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C2330"/>
              </a:buClr>
              <a:buSzPts val="1595"/>
              <a:buFont typeface="Arial"/>
              <a:buNone/>
            </a:pPr>
            <a:r>
              <a:rPr lang="en-US" sz="1596">
                <a:solidFill>
                  <a:srgbClr val="1C2330"/>
                </a:solidFill>
                <a:latin typeface="Arial"/>
                <a:ea typeface="Arial"/>
                <a:cs typeface="Arial"/>
                <a:sym typeface="Arial"/>
              </a:rPr>
              <a:t>Los cuatro clientes — consola, escritorio Swing/FlatDarkLaf, web JSP y móvil Android/Kotlin — consumen ambos servicios de forma coordinada: </a:t>
            </a:r>
            <a:r>
              <a:rPr lang="en-US" sz="1596">
                <a:solidFill>
                  <a:srgbClr val="1C2330"/>
                </a:solidFill>
                <a:latin typeface="Courier New"/>
                <a:ea typeface="Courier New"/>
                <a:cs typeface="Courier New"/>
                <a:sym typeface="Courier New"/>
              </a:rPr>
              <a:t>ClienteFederacion </a:t>
            </a:r>
            <a:r>
              <a:rPr lang="en-US" sz="1596">
                <a:solidFill>
                  <a:srgbClr val="1C2330"/>
                </a:solidFill>
                <a:latin typeface="Arial"/>
                <a:ea typeface="Arial"/>
                <a:cs typeface="Arial"/>
                <a:sym typeface="Arial"/>
              </a:rPr>
              <a:t>con </a:t>
            </a:r>
            <a:r>
              <a:rPr b="1" lang="en-US" sz="1596">
                <a:solidFill>
                  <a:srgbClr val="1C2330"/>
                </a:solidFill>
                <a:latin typeface="Arial"/>
                <a:ea typeface="Arial"/>
                <a:cs typeface="Arial"/>
                <a:sym typeface="Arial"/>
              </a:rPr>
              <a:t>stubs JAX-WS </a:t>
            </a:r>
            <a:r>
              <a:rPr lang="en-US" sz="1596">
                <a:solidFill>
                  <a:srgbClr val="1C2330"/>
                </a:solidFill>
                <a:latin typeface="Arial"/>
                <a:ea typeface="Arial"/>
                <a:cs typeface="Arial"/>
                <a:sym typeface="Arial"/>
              </a:rPr>
              <a:t>(wsimport) y </a:t>
            </a:r>
            <a:r>
              <a:rPr lang="en-US" sz="1596">
                <a:solidFill>
                  <a:srgbClr val="1C2330"/>
                </a:solidFill>
                <a:latin typeface="Courier New"/>
                <a:ea typeface="Courier New"/>
                <a:cs typeface="Courier New"/>
                <a:sym typeface="Courier New"/>
              </a:rPr>
              <a:t>BancoSoapClient </a:t>
            </a:r>
            <a:r>
              <a:rPr lang="en-US" sz="1596">
                <a:solidFill>
                  <a:srgbClr val="1C2330"/>
                </a:solidFill>
                <a:latin typeface="Arial"/>
                <a:ea typeface="Arial"/>
                <a:cs typeface="Arial"/>
                <a:sym typeface="Arial"/>
              </a:rPr>
              <a:t>con </a:t>
            </a:r>
            <a:r>
              <a:rPr b="1" lang="en-US" sz="1596">
                <a:solidFill>
                  <a:srgbClr val="1C2330"/>
                </a:solidFill>
                <a:latin typeface="Arial"/>
                <a:ea typeface="Arial"/>
                <a:cs typeface="Arial"/>
                <a:sym typeface="Arial"/>
              </a:rPr>
              <a:t>SOAP manual + DOM</a:t>
            </a:r>
            <a:r>
              <a:rPr lang="en-US" sz="1596">
                <a:solidFill>
                  <a:srgbClr val="1C233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59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5143500" y="9772650"/>
            <a:ext cx="5775722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10"/>
              <a:buFont typeface="Arial"/>
              <a:buNone/>
            </a:pPr>
            <a:r>
              <a:rPr b="1" lang="en-US" sz="111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TP_SOAP_JAVA_MASHUP_AWS_G5 · 01 INTRODUCCIÓN</a:t>
            </a:r>
            <a:endParaRPr sz="111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17571393" y="9744075"/>
            <a:ext cx="335607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4590B8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0" y="10153650"/>
            <a:ext cx="18288000" cy="133350"/>
          </a:xfrm>
          <a:prstGeom prst="rect">
            <a:avLst/>
          </a:prstGeom>
          <a:gradFill>
            <a:gsLst>
              <a:gs pos="0">
                <a:srgbClr val="1A3260"/>
              </a:gs>
              <a:gs pos="50000">
                <a:srgbClr val="1A3260"/>
              </a:gs>
              <a:gs pos="75000">
                <a:srgbClr val="42955F"/>
              </a:gs>
              <a:gs pos="100000">
                <a:srgbClr val="E8821E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4" name="Google Shape;9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22265"/>
            <a:ext cx="18288000" cy="3455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"/>
          <p:cNvSpPr/>
          <p:nvPr/>
        </p:nvSpPr>
        <p:spPr>
          <a:xfrm>
            <a:off x="0" y="0"/>
            <a:ext cx="4381500" cy="10287000"/>
          </a:xfrm>
          <a:prstGeom prst="rect">
            <a:avLst/>
          </a:prstGeom>
          <a:solidFill>
            <a:srgbClr val="1A32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6"/>
          <p:cNvSpPr/>
          <p:nvPr/>
        </p:nvSpPr>
        <p:spPr>
          <a:xfrm>
            <a:off x="533400" y="628650"/>
            <a:ext cx="133350" cy="133350"/>
          </a:xfrm>
          <a:prstGeom prst="rect">
            <a:avLst/>
          </a:prstGeom>
          <a:solidFill>
            <a:srgbClr val="45C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6"/>
          <p:cNvSpPr/>
          <p:nvPr/>
        </p:nvSpPr>
        <p:spPr>
          <a:xfrm>
            <a:off x="800100" y="571500"/>
            <a:ext cx="1641038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CONTENIDO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533400" y="1219200"/>
            <a:ext cx="4000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CBE8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45CBE8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990600" y="1257300"/>
            <a:ext cx="1237952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6E8"/>
              </a:buClr>
              <a:buSzPts val="1575"/>
              <a:buFont typeface="Arial"/>
              <a:buNone/>
            </a:pPr>
            <a:r>
              <a:rPr lang="en-US" sz="1575">
                <a:solidFill>
                  <a:srgbClr val="BFD6E8"/>
                </a:solidFill>
                <a:latin typeface="Arial"/>
                <a:ea typeface="Arial"/>
                <a:cs typeface="Arial"/>
                <a:sym typeface="Arial"/>
              </a:rPr>
              <a:t>Introducción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533400" y="1628775"/>
            <a:ext cx="4000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990600" y="1628775"/>
            <a:ext cx="115832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Objetivos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990600" y="2038350"/>
            <a:ext cx="3314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FBCD3"/>
              </a:buClr>
              <a:buSzPts val="1275"/>
              <a:buFont typeface="Arial"/>
              <a:buNone/>
            </a:pPr>
            <a:r>
              <a:rPr lang="en-US" sz="1275">
                <a:solidFill>
                  <a:srgbClr val="9FBCD3"/>
                </a:solidFill>
                <a:latin typeface="Arial"/>
                <a:ea typeface="Arial"/>
                <a:cs typeface="Arial"/>
                <a:sym typeface="Arial"/>
              </a:rPr>
              <a:t>— Objetivo General</a:t>
            </a:r>
            <a:endParaRPr sz="12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990600" y="2352675"/>
            <a:ext cx="33147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75"/>
              <a:buFont typeface="Arial"/>
              <a:buNone/>
            </a:pPr>
            <a:r>
              <a:rPr b="1" lang="en-US" sz="12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— Objetivos Específicos</a:t>
            </a:r>
            <a:endParaRPr sz="12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533400" y="2705100"/>
            <a:ext cx="4000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CBE8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45CBE8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990600" y="2743200"/>
            <a:ext cx="1406723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6E8"/>
              </a:buClr>
              <a:buSzPts val="1575"/>
              <a:buFont typeface="Arial"/>
              <a:buNone/>
            </a:pPr>
            <a:r>
              <a:rPr lang="en-US" sz="1575">
                <a:solidFill>
                  <a:srgbClr val="BFD6E8"/>
                </a:solidFill>
                <a:latin typeface="Arial"/>
                <a:ea typeface="Arial"/>
                <a:cs typeface="Arial"/>
                <a:sym typeface="Arial"/>
              </a:rPr>
              <a:t>Marco Teórico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533400" y="3114675"/>
            <a:ext cx="4000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CBE8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45CBE8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990600" y="3152775"/>
            <a:ext cx="122679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6E8"/>
              </a:buClr>
              <a:buSzPts val="1575"/>
              <a:buFont typeface="Arial"/>
              <a:buNone/>
            </a:pPr>
            <a:r>
              <a:rPr lang="en-US" sz="1575">
                <a:solidFill>
                  <a:srgbClr val="BFD6E8"/>
                </a:solidFill>
                <a:latin typeface="Arial"/>
                <a:ea typeface="Arial"/>
                <a:cs typeface="Arial"/>
                <a:sym typeface="Arial"/>
              </a:rPr>
              <a:t>Arquitectura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533400" y="3524250"/>
            <a:ext cx="4000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CBE8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45CBE8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990600" y="3562350"/>
            <a:ext cx="1572369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6E8"/>
              </a:buClr>
              <a:buSzPts val="1575"/>
              <a:buFont typeface="Arial"/>
              <a:buNone/>
            </a:pPr>
            <a:r>
              <a:rPr lang="en-US" sz="1575">
                <a:solidFill>
                  <a:srgbClr val="BFD6E8"/>
                </a:solidFill>
                <a:latin typeface="Arial"/>
                <a:ea typeface="Arial"/>
                <a:cs typeface="Arial"/>
                <a:sym typeface="Arial"/>
              </a:rPr>
              <a:t>Bases de Datos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533400" y="3933825"/>
            <a:ext cx="4000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CBE8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45CBE8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990600" y="3971925"/>
            <a:ext cx="1471166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6E8"/>
              </a:buClr>
              <a:buSzPts val="1575"/>
              <a:buFont typeface="Arial"/>
              <a:buNone/>
            </a:pPr>
            <a:r>
              <a:rPr lang="en-US" sz="1575">
                <a:solidFill>
                  <a:srgbClr val="BFD6E8"/>
                </a:solidFill>
                <a:latin typeface="Arial"/>
                <a:ea typeface="Arial"/>
                <a:cs typeface="Arial"/>
                <a:sym typeface="Arial"/>
              </a:rPr>
              <a:t>WSFederacion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533400" y="4343400"/>
            <a:ext cx="4000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CBE8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45CBE8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990600" y="4381500"/>
            <a:ext cx="1465213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6E8"/>
              </a:buClr>
              <a:buSzPts val="1575"/>
              <a:buFont typeface="Arial"/>
              <a:buNone/>
            </a:pPr>
            <a:r>
              <a:rPr lang="en-US" sz="1575">
                <a:solidFill>
                  <a:srgbClr val="BFD6E8"/>
                </a:solidFill>
                <a:latin typeface="Arial"/>
                <a:ea typeface="Arial"/>
                <a:cs typeface="Arial"/>
                <a:sym typeface="Arial"/>
              </a:rPr>
              <a:t>WSBancoCore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533400" y="4752975"/>
            <a:ext cx="4000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CBE8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45CBE8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990600" y="4791075"/>
            <a:ext cx="846981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6E8"/>
              </a:buClr>
              <a:buSzPts val="1575"/>
              <a:buFont typeface="Arial"/>
              <a:buNone/>
            </a:pPr>
            <a:r>
              <a:rPr lang="en-US" sz="1575">
                <a:solidFill>
                  <a:srgbClr val="BFD6E8"/>
                </a:solidFill>
                <a:latin typeface="Arial"/>
                <a:ea typeface="Arial"/>
                <a:cs typeface="Arial"/>
                <a:sym typeface="Arial"/>
              </a:rPr>
              <a:t>Clientes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533400" y="9563100"/>
            <a:ext cx="37719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A2BF"/>
              </a:buClr>
              <a:buSzPts val="971"/>
              <a:buFont typeface="Arial"/>
              <a:buNone/>
            </a:pPr>
            <a:r>
              <a:rPr lang="en-US" sz="971">
                <a:solidFill>
                  <a:srgbClr val="7FA2BF"/>
                </a:solidFill>
                <a:latin typeface="Arial"/>
                <a:ea typeface="Arial"/>
                <a:cs typeface="Arial"/>
                <a:sym typeface="Arial"/>
              </a:rPr>
              <a:t>GR05 · 2026</a:t>
            </a:r>
            <a:endParaRPr sz="97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5143500" y="571500"/>
            <a:ext cx="13620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4590B8"/>
                </a:solidFill>
                <a:latin typeface="Arial"/>
                <a:ea typeface="Arial"/>
                <a:cs typeface="Arial"/>
                <a:sym typeface="Arial"/>
              </a:rPr>
              <a:t>02 · OBJETIVOS — 2.2 ESPECÍFICOS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5143500" y="952500"/>
            <a:ext cx="13620750" cy="6180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A3260"/>
              </a:buClr>
              <a:buSzPts val="4023"/>
              <a:buFont typeface="Arial"/>
              <a:buNone/>
            </a:pPr>
            <a:r>
              <a:rPr b="1" lang="en-US" sz="4024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Objetivos </a:t>
            </a:r>
            <a:r>
              <a:rPr b="1" lang="en-US" sz="4024">
                <a:solidFill>
                  <a:srgbClr val="42955F"/>
                </a:solidFill>
                <a:latin typeface="Arial"/>
                <a:ea typeface="Arial"/>
                <a:cs typeface="Arial"/>
                <a:sym typeface="Arial"/>
              </a:rPr>
              <a:t>Específicos</a:t>
            </a:r>
            <a:endParaRPr sz="4024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5143500" y="1608683"/>
            <a:ext cx="1143000" cy="57150"/>
          </a:xfrm>
          <a:prstGeom prst="rect">
            <a:avLst/>
          </a:prstGeom>
          <a:solidFill>
            <a:srgbClr val="C124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"/>
          <p:cNvSpPr/>
          <p:nvPr/>
        </p:nvSpPr>
        <p:spPr>
          <a:xfrm>
            <a:off x="5143500" y="2027783"/>
            <a:ext cx="4000500" cy="1978819"/>
          </a:xfrm>
          <a:prstGeom prst="roundRect">
            <a:avLst>
              <a:gd fmla="val 192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"/>
          <p:cNvSpPr/>
          <p:nvPr/>
        </p:nvSpPr>
        <p:spPr>
          <a:xfrm>
            <a:off x="5143500" y="3997077"/>
            <a:ext cx="4000500" cy="9525"/>
          </a:xfrm>
          <a:prstGeom prst="rect">
            <a:avLst/>
          </a:prstGeom>
          <a:solidFill>
            <a:srgbClr val="DBE3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"/>
          <p:cNvSpPr/>
          <p:nvPr/>
        </p:nvSpPr>
        <p:spPr>
          <a:xfrm>
            <a:off x="5143500" y="2027783"/>
            <a:ext cx="4000500" cy="9525"/>
          </a:xfrm>
          <a:prstGeom prst="rect">
            <a:avLst/>
          </a:prstGeom>
          <a:solidFill>
            <a:srgbClr val="DBE3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"/>
          <p:cNvSpPr/>
          <p:nvPr/>
        </p:nvSpPr>
        <p:spPr>
          <a:xfrm>
            <a:off x="5143500" y="2027783"/>
            <a:ext cx="76200" cy="1978819"/>
          </a:xfrm>
          <a:prstGeom prst="rect">
            <a:avLst/>
          </a:prstGeom>
          <a:solidFill>
            <a:srgbClr val="4590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"/>
          <p:cNvSpPr/>
          <p:nvPr/>
        </p:nvSpPr>
        <p:spPr>
          <a:xfrm>
            <a:off x="9134475" y="2027783"/>
            <a:ext cx="9525" cy="1978819"/>
          </a:xfrm>
          <a:prstGeom prst="rect">
            <a:avLst/>
          </a:prstGeom>
          <a:solidFill>
            <a:srgbClr val="DBE3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"/>
          <p:cNvSpPr/>
          <p:nvPr/>
        </p:nvSpPr>
        <p:spPr>
          <a:xfrm>
            <a:off x="5448300" y="2227808"/>
            <a:ext cx="380333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4590B8"/>
                </a:solidFill>
                <a:latin typeface="Arial"/>
                <a:ea typeface="Arial"/>
                <a:cs typeface="Arial"/>
                <a:sym typeface="Arial"/>
              </a:rPr>
              <a:t>2.2.1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5448300" y="2465933"/>
            <a:ext cx="380333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260"/>
              </a:buClr>
              <a:buSzPts val="1725"/>
              <a:buFont typeface="Arial"/>
              <a:buNone/>
            </a:pPr>
            <a:r>
              <a:rPr b="1" lang="en-US" sz="1725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WSFederacion</a:t>
            </a:r>
            <a:endParaRPr sz="17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5448300" y="2846933"/>
            <a:ext cx="3561302" cy="9977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48"/>
              <a:buFont typeface="Arial"/>
              <a:buNone/>
            </a:pPr>
            <a:r>
              <a:rPr lang="en-US" sz="1249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CRUD completo (países, estadios, equipos, clientes, partidos) + venta con </a:t>
            </a:r>
            <a:r>
              <a:rPr b="1" lang="en-US" sz="1249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asientos individuales </a:t>
            </a:r>
            <a:r>
              <a:rPr lang="en-US" sz="1249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y pago múltiple (efectivo/crédito) sobre Payara 6.</a:t>
            </a:r>
            <a:endParaRPr sz="124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9334500" y="2027783"/>
            <a:ext cx="4000500" cy="1978819"/>
          </a:xfrm>
          <a:prstGeom prst="roundRect">
            <a:avLst>
              <a:gd fmla="val 192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"/>
          <p:cNvSpPr/>
          <p:nvPr/>
        </p:nvSpPr>
        <p:spPr>
          <a:xfrm>
            <a:off x="9334500" y="3997077"/>
            <a:ext cx="4000500" cy="9525"/>
          </a:xfrm>
          <a:prstGeom prst="rect">
            <a:avLst/>
          </a:prstGeom>
          <a:solidFill>
            <a:srgbClr val="DBE3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"/>
          <p:cNvSpPr/>
          <p:nvPr/>
        </p:nvSpPr>
        <p:spPr>
          <a:xfrm>
            <a:off x="9334500" y="2027783"/>
            <a:ext cx="4000500" cy="9525"/>
          </a:xfrm>
          <a:prstGeom prst="rect">
            <a:avLst/>
          </a:prstGeom>
          <a:solidFill>
            <a:srgbClr val="DBE3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6"/>
          <p:cNvSpPr/>
          <p:nvPr/>
        </p:nvSpPr>
        <p:spPr>
          <a:xfrm>
            <a:off x="9334500" y="2027783"/>
            <a:ext cx="76200" cy="1978819"/>
          </a:xfrm>
          <a:prstGeom prst="rect">
            <a:avLst/>
          </a:prstGeom>
          <a:solidFill>
            <a:srgbClr val="E882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6"/>
          <p:cNvSpPr/>
          <p:nvPr/>
        </p:nvSpPr>
        <p:spPr>
          <a:xfrm>
            <a:off x="13325475" y="2027783"/>
            <a:ext cx="9525" cy="1978819"/>
          </a:xfrm>
          <a:prstGeom prst="rect">
            <a:avLst/>
          </a:prstGeom>
          <a:solidFill>
            <a:srgbClr val="DBE3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"/>
          <p:cNvSpPr/>
          <p:nvPr/>
        </p:nvSpPr>
        <p:spPr>
          <a:xfrm>
            <a:off x="9639300" y="2227808"/>
            <a:ext cx="380333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F0E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B45F0E"/>
                </a:solidFill>
                <a:latin typeface="Arial"/>
                <a:ea typeface="Arial"/>
                <a:cs typeface="Arial"/>
                <a:sym typeface="Arial"/>
              </a:rPr>
              <a:t>2.2.2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9639300" y="2465933"/>
            <a:ext cx="380333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260"/>
              </a:buClr>
              <a:buSzPts val="1725"/>
              <a:buFont typeface="Arial"/>
              <a:buNone/>
            </a:pPr>
            <a:r>
              <a:rPr b="1" lang="en-US" sz="1725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WSBancoCore · AWS</a:t>
            </a:r>
            <a:endParaRPr sz="17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9639300" y="2846933"/>
            <a:ext cx="3561302" cy="9977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48"/>
              <a:buFont typeface="Arial"/>
              <a:buNone/>
            </a:pPr>
            <a:r>
              <a:rPr lang="en-US" sz="1249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Servicio sobre Payara respaldado por </a:t>
            </a:r>
            <a:r>
              <a:rPr b="1" lang="en-US" sz="1249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AWS RDS </a:t>
            </a:r>
            <a:r>
              <a:rPr lang="en-US" sz="1249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que evalúa elegibilidad (edad, saldo, historial) y genera tabla de amortización al </a:t>
            </a:r>
            <a:r>
              <a:rPr b="1" lang="en-US" sz="1249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16.5% anual</a:t>
            </a:r>
            <a:r>
              <a:rPr lang="en-US" sz="1249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24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13525500" y="2027783"/>
            <a:ext cx="4000500" cy="1978819"/>
          </a:xfrm>
          <a:prstGeom prst="roundRect">
            <a:avLst>
              <a:gd fmla="val 192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"/>
          <p:cNvSpPr/>
          <p:nvPr/>
        </p:nvSpPr>
        <p:spPr>
          <a:xfrm>
            <a:off x="13525500" y="3997077"/>
            <a:ext cx="4000500" cy="9525"/>
          </a:xfrm>
          <a:prstGeom prst="rect">
            <a:avLst/>
          </a:prstGeom>
          <a:solidFill>
            <a:srgbClr val="DBE3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"/>
          <p:cNvSpPr/>
          <p:nvPr/>
        </p:nvSpPr>
        <p:spPr>
          <a:xfrm>
            <a:off x="13525500" y="2027783"/>
            <a:ext cx="4000500" cy="9525"/>
          </a:xfrm>
          <a:prstGeom prst="rect">
            <a:avLst/>
          </a:prstGeom>
          <a:solidFill>
            <a:srgbClr val="DBE3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"/>
          <p:cNvSpPr/>
          <p:nvPr/>
        </p:nvSpPr>
        <p:spPr>
          <a:xfrm>
            <a:off x="13525500" y="2027783"/>
            <a:ext cx="76200" cy="1978819"/>
          </a:xfrm>
          <a:prstGeom prst="rect">
            <a:avLst/>
          </a:prstGeom>
          <a:solidFill>
            <a:srgbClr val="4295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"/>
          <p:cNvSpPr/>
          <p:nvPr/>
        </p:nvSpPr>
        <p:spPr>
          <a:xfrm>
            <a:off x="17516475" y="2027783"/>
            <a:ext cx="9525" cy="1978819"/>
          </a:xfrm>
          <a:prstGeom prst="rect">
            <a:avLst/>
          </a:prstGeom>
          <a:solidFill>
            <a:srgbClr val="DBE3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"/>
          <p:cNvSpPr/>
          <p:nvPr/>
        </p:nvSpPr>
        <p:spPr>
          <a:xfrm>
            <a:off x="13830300" y="2227808"/>
            <a:ext cx="380333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4590B8"/>
                </a:solidFill>
                <a:latin typeface="Arial"/>
                <a:ea typeface="Arial"/>
                <a:cs typeface="Arial"/>
                <a:sym typeface="Arial"/>
              </a:rPr>
              <a:t>2.2.3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13830300" y="2465933"/>
            <a:ext cx="380333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260"/>
              </a:buClr>
              <a:buSzPts val="1725"/>
              <a:buFont typeface="Arial"/>
              <a:buNone/>
            </a:pPr>
            <a:r>
              <a:rPr b="1" lang="en-US" sz="1725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Bases de datos</a:t>
            </a:r>
            <a:endParaRPr sz="17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13830300" y="2846933"/>
            <a:ext cx="3561302" cy="9977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48"/>
              <a:buFont typeface="Arial"/>
              <a:buNone/>
            </a:pPr>
            <a:r>
              <a:rPr lang="en-US" sz="1249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Configurar </a:t>
            </a:r>
            <a:r>
              <a:rPr b="1" lang="en-US" sz="1249">
                <a:solidFill>
                  <a:srgbClr val="1A3260"/>
                </a:solidFill>
                <a:latin typeface="Consolas"/>
                <a:ea typeface="Consolas"/>
                <a:cs typeface="Consolas"/>
                <a:sym typeface="Consolas"/>
              </a:rPr>
              <a:t>ticketpremium_db </a:t>
            </a:r>
            <a:r>
              <a:rPr lang="en-US" sz="1249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(MySQL local) y </a:t>
            </a:r>
            <a:r>
              <a:rPr b="1" lang="en-US" sz="1249">
                <a:solidFill>
                  <a:srgbClr val="1A3260"/>
                </a:solidFill>
                <a:latin typeface="Consolas"/>
                <a:ea typeface="Consolas"/>
                <a:cs typeface="Consolas"/>
                <a:sym typeface="Consolas"/>
              </a:rPr>
              <a:t>banco_core_db </a:t>
            </a:r>
            <a:r>
              <a:rPr lang="en-US" sz="1249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(AWS RDS), ejecutando </a:t>
            </a:r>
            <a:r>
              <a:rPr b="1" lang="en-US" sz="1249">
                <a:solidFill>
                  <a:srgbClr val="1A3260"/>
                </a:solidFill>
                <a:latin typeface="Consolas"/>
                <a:ea typeface="Consolas"/>
                <a:cs typeface="Consolas"/>
                <a:sym typeface="Consolas"/>
              </a:rPr>
              <a:t>Crea_BD.sql </a:t>
            </a:r>
            <a:r>
              <a:rPr lang="en-US" sz="1249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y </a:t>
            </a:r>
            <a:r>
              <a:rPr b="1" lang="en-US" sz="1249">
                <a:solidFill>
                  <a:srgbClr val="1A3260"/>
                </a:solidFill>
                <a:latin typeface="Consolas"/>
                <a:ea typeface="Consolas"/>
                <a:cs typeface="Consolas"/>
                <a:sym typeface="Consolas"/>
              </a:rPr>
              <a:t>Carga_Datos.sql</a:t>
            </a:r>
            <a:r>
              <a:rPr lang="en-US" sz="1249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24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5143500" y="4197102"/>
            <a:ext cx="4000500" cy="1978819"/>
          </a:xfrm>
          <a:prstGeom prst="roundRect">
            <a:avLst>
              <a:gd fmla="val 192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"/>
          <p:cNvSpPr/>
          <p:nvPr/>
        </p:nvSpPr>
        <p:spPr>
          <a:xfrm>
            <a:off x="5143500" y="6166396"/>
            <a:ext cx="4000500" cy="9525"/>
          </a:xfrm>
          <a:prstGeom prst="rect">
            <a:avLst/>
          </a:prstGeom>
          <a:solidFill>
            <a:srgbClr val="DBE3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6"/>
          <p:cNvSpPr/>
          <p:nvPr/>
        </p:nvSpPr>
        <p:spPr>
          <a:xfrm>
            <a:off x="5143500" y="4197102"/>
            <a:ext cx="4000500" cy="9525"/>
          </a:xfrm>
          <a:prstGeom prst="rect">
            <a:avLst/>
          </a:prstGeom>
          <a:solidFill>
            <a:srgbClr val="DBE3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6"/>
          <p:cNvSpPr/>
          <p:nvPr/>
        </p:nvSpPr>
        <p:spPr>
          <a:xfrm>
            <a:off x="5143500" y="4197102"/>
            <a:ext cx="76200" cy="1978819"/>
          </a:xfrm>
          <a:prstGeom prst="rect">
            <a:avLst/>
          </a:prstGeom>
          <a:solidFill>
            <a:srgbClr val="45C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"/>
          <p:cNvSpPr/>
          <p:nvPr/>
        </p:nvSpPr>
        <p:spPr>
          <a:xfrm>
            <a:off x="9134475" y="4197102"/>
            <a:ext cx="9525" cy="1978819"/>
          </a:xfrm>
          <a:prstGeom prst="rect">
            <a:avLst/>
          </a:prstGeom>
          <a:solidFill>
            <a:srgbClr val="DBE3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"/>
          <p:cNvSpPr/>
          <p:nvPr/>
        </p:nvSpPr>
        <p:spPr>
          <a:xfrm>
            <a:off x="5448300" y="4397127"/>
            <a:ext cx="380333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4590B8"/>
                </a:solidFill>
                <a:latin typeface="Arial"/>
                <a:ea typeface="Arial"/>
                <a:cs typeface="Arial"/>
                <a:sym typeface="Arial"/>
              </a:rPr>
              <a:t>2.2.4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5448300" y="4635252"/>
            <a:ext cx="380333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260"/>
              </a:buClr>
              <a:buSzPts val="1725"/>
              <a:buFont typeface="Arial"/>
              <a:buNone/>
            </a:pPr>
            <a:r>
              <a:rPr b="1" lang="en-US" sz="1725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Consola Java</a:t>
            </a:r>
            <a:endParaRPr sz="17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5448300" y="5016252"/>
            <a:ext cx="3561302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48"/>
              <a:buFont typeface="Arial"/>
              <a:buNone/>
            </a:pPr>
            <a:r>
              <a:rPr lang="en-US" sz="1249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Menú interactivo con </a:t>
            </a:r>
            <a:r>
              <a:rPr b="1" lang="en-US" sz="1249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colores ANSI </a:t>
            </a:r>
            <a:r>
              <a:rPr lang="en-US" sz="1249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: selección de partidos, localidades, asientos, pago y reporte de ventas.</a:t>
            </a:r>
            <a:endParaRPr sz="124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9334500" y="4197102"/>
            <a:ext cx="4000500" cy="1978819"/>
          </a:xfrm>
          <a:prstGeom prst="roundRect">
            <a:avLst>
              <a:gd fmla="val 192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"/>
          <p:cNvSpPr/>
          <p:nvPr/>
        </p:nvSpPr>
        <p:spPr>
          <a:xfrm>
            <a:off x="9334500" y="6166396"/>
            <a:ext cx="4000500" cy="9525"/>
          </a:xfrm>
          <a:prstGeom prst="rect">
            <a:avLst/>
          </a:prstGeom>
          <a:solidFill>
            <a:srgbClr val="DBE3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6"/>
          <p:cNvSpPr/>
          <p:nvPr/>
        </p:nvSpPr>
        <p:spPr>
          <a:xfrm>
            <a:off x="9334500" y="4197102"/>
            <a:ext cx="4000500" cy="9525"/>
          </a:xfrm>
          <a:prstGeom prst="rect">
            <a:avLst/>
          </a:prstGeom>
          <a:solidFill>
            <a:srgbClr val="DBE3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6"/>
          <p:cNvSpPr/>
          <p:nvPr/>
        </p:nvSpPr>
        <p:spPr>
          <a:xfrm>
            <a:off x="9334500" y="4197102"/>
            <a:ext cx="76200" cy="1978819"/>
          </a:xfrm>
          <a:prstGeom prst="rect">
            <a:avLst/>
          </a:prstGeom>
          <a:solidFill>
            <a:srgbClr val="4590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"/>
          <p:cNvSpPr/>
          <p:nvPr/>
        </p:nvSpPr>
        <p:spPr>
          <a:xfrm>
            <a:off x="13325475" y="4197102"/>
            <a:ext cx="9525" cy="1978819"/>
          </a:xfrm>
          <a:prstGeom prst="rect">
            <a:avLst/>
          </a:prstGeom>
          <a:solidFill>
            <a:srgbClr val="DBE3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"/>
          <p:cNvSpPr/>
          <p:nvPr/>
        </p:nvSpPr>
        <p:spPr>
          <a:xfrm>
            <a:off x="9639300" y="4397127"/>
            <a:ext cx="380333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4590B8"/>
                </a:solidFill>
                <a:latin typeface="Arial"/>
                <a:ea typeface="Arial"/>
                <a:cs typeface="Arial"/>
                <a:sym typeface="Arial"/>
              </a:rPr>
              <a:t>2.2.5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9639300" y="4635252"/>
            <a:ext cx="380333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260"/>
              </a:buClr>
              <a:buSzPts val="1725"/>
              <a:buFont typeface="Arial"/>
              <a:buNone/>
            </a:pPr>
            <a:r>
              <a:rPr b="1" lang="en-US" sz="1725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Escritorio + Web</a:t>
            </a:r>
            <a:endParaRPr sz="17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9639300" y="5016252"/>
            <a:ext cx="3561302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48"/>
              <a:buFont typeface="Arial"/>
              <a:buNone/>
            </a:pPr>
            <a:r>
              <a:rPr lang="en-US" sz="1249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Swing con </a:t>
            </a:r>
            <a:r>
              <a:rPr b="1" lang="en-US" sz="1249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FlatDarkLaf </a:t>
            </a:r>
            <a:r>
              <a:rPr lang="en-US" sz="1249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y gradiente Indigo-Púrpura; web JSP con </a:t>
            </a:r>
            <a:r>
              <a:rPr b="1" lang="en-US" sz="1249">
                <a:solidFill>
                  <a:srgbClr val="1A3260"/>
                </a:solidFill>
                <a:latin typeface="Consolas"/>
                <a:ea typeface="Consolas"/>
                <a:cs typeface="Consolas"/>
                <a:sym typeface="Consolas"/>
              </a:rPr>
              <a:t>TicketServlet </a:t>
            </a:r>
            <a:r>
              <a:rPr lang="en-US" sz="1249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MVC que coordina ambos servicios SOAP.</a:t>
            </a:r>
            <a:endParaRPr sz="124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13525500" y="4197102"/>
            <a:ext cx="4000500" cy="1978819"/>
          </a:xfrm>
          <a:prstGeom prst="roundRect">
            <a:avLst>
              <a:gd fmla="val 192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"/>
          <p:cNvSpPr/>
          <p:nvPr/>
        </p:nvSpPr>
        <p:spPr>
          <a:xfrm>
            <a:off x="13525500" y="6166396"/>
            <a:ext cx="4000500" cy="9525"/>
          </a:xfrm>
          <a:prstGeom prst="rect">
            <a:avLst/>
          </a:prstGeom>
          <a:solidFill>
            <a:srgbClr val="DBE3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"/>
          <p:cNvSpPr/>
          <p:nvPr/>
        </p:nvSpPr>
        <p:spPr>
          <a:xfrm>
            <a:off x="13525500" y="4197102"/>
            <a:ext cx="4000500" cy="9525"/>
          </a:xfrm>
          <a:prstGeom prst="rect">
            <a:avLst/>
          </a:prstGeom>
          <a:solidFill>
            <a:srgbClr val="DBE3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"/>
          <p:cNvSpPr/>
          <p:nvPr/>
        </p:nvSpPr>
        <p:spPr>
          <a:xfrm>
            <a:off x="13525500" y="4197102"/>
            <a:ext cx="76200" cy="1978819"/>
          </a:xfrm>
          <a:prstGeom prst="rect">
            <a:avLst/>
          </a:prstGeom>
          <a:solidFill>
            <a:srgbClr val="E882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6"/>
          <p:cNvSpPr/>
          <p:nvPr/>
        </p:nvSpPr>
        <p:spPr>
          <a:xfrm>
            <a:off x="17516475" y="4197102"/>
            <a:ext cx="9525" cy="1978819"/>
          </a:xfrm>
          <a:prstGeom prst="rect">
            <a:avLst/>
          </a:prstGeom>
          <a:solidFill>
            <a:srgbClr val="DBE3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6"/>
          <p:cNvSpPr/>
          <p:nvPr/>
        </p:nvSpPr>
        <p:spPr>
          <a:xfrm>
            <a:off x="13830300" y="4397127"/>
            <a:ext cx="380333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F0E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B45F0E"/>
                </a:solidFill>
                <a:latin typeface="Arial"/>
                <a:ea typeface="Arial"/>
                <a:cs typeface="Arial"/>
                <a:sym typeface="Arial"/>
              </a:rPr>
              <a:t>2.2.6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13830300" y="4635252"/>
            <a:ext cx="380333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260"/>
              </a:buClr>
              <a:buSzPts val="1725"/>
              <a:buFont typeface="Arial"/>
              <a:buNone/>
            </a:pPr>
            <a:r>
              <a:rPr b="1" lang="en-US" sz="1725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Móvil Android</a:t>
            </a:r>
            <a:endParaRPr sz="17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13830300" y="5016252"/>
            <a:ext cx="3561302" cy="9977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48"/>
              <a:buFont typeface="Arial"/>
              <a:buNone/>
            </a:pPr>
            <a:r>
              <a:rPr lang="en-US" sz="1249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Cliente Kotlin con </a:t>
            </a:r>
            <a:r>
              <a:rPr b="1" lang="en-US" sz="1249">
                <a:solidFill>
                  <a:srgbClr val="1A3260"/>
                </a:solidFill>
                <a:latin typeface="Consolas"/>
                <a:ea typeface="Consolas"/>
                <a:cs typeface="Consolas"/>
                <a:sym typeface="Consolas"/>
              </a:rPr>
              <a:t>TicketPremiumSoapService </a:t>
            </a:r>
            <a:r>
              <a:rPr lang="en-US" sz="1249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: envelopes SOAP con </a:t>
            </a:r>
            <a:r>
              <a:rPr b="1" lang="en-US" sz="1249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OkHttp </a:t>
            </a:r>
            <a:r>
              <a:rPr lang="en-US" sz="1249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y parseo con </a:t>
            </a:r>
            <a:r>
              <a:rPr b="1" lang="en-US" sz="1249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XmlPullParser</a:t>
            </a:r>
            <a:r>
              <a:rPr lang="en-US" sz="1249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24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5143500" y="9772650"/>
            <a:ext cx="5351056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10"/>
              <a:buFont typeface="Arial"/>
              <a:buNone/>
            </a:pPr>
            <a:r>
              <a:rPr b="1" lang="en-US" sz="111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TP_SOAP_JAVA_MASHUP_AWS_G5 · 02 OBJETIVOS</a:t>
            </a:r>
            <a:endParaRPr sz="111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17571393" y="9744075"/>
            <a:ext cx="335607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4590B8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0" y="10153650"/>
            <a:ext cx="18288000" cy="133350"/>
          </a:xfrm>
          <a:prstGeom prst="rect">
            <a:avLst/>
          </a:prstGeom>
          <a:gradFill>
            <a:gsLst>
              <a:gs pos="0">
                <a:srgbClr val="1A3260"/>
              </a:gs>
              <a:gs pos="50000">
                <a:srgbClr val="1A3260"/>
              </a:gs>
              <a:gs pos="75000">
                <a:srgbClr val="42955F"/>
              </a:gs>
              <a:gs pos="100000">
                <a:srgbClr val="E8821E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6" name="Google Shape;17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22265"/>
            <a:ext cx="18288000" cy="3455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7"/>
          <p:cNvSpPr/>
          <p:nvPr/>
        </p:nvSpPr>
        <p:spPr>
          <a:xfrm>
            <a:off x="0" y="0"/>
            <a:ext cx="4381500" cy="10287000"/>
          </a:xfrm>
          <a:prstGeom prst="rect">
            <a:avLst/>
          </a:prstGeom>
          <a:solidFill>
            <a:srgbClr val="1A32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7"/>
          <p:cNvSpPr/>
          <p:nvPr/>
        </p:nvSpPr>
        <p:spPr>
          <a:xfrm>
            <a:off x="533400" y="628650"/>
            <a:ext cx="133350" cy="133350"/>
          </a:xfrm>
          <a:prstGeom prst="rect">
            <a:avLst/>
          </a:prstGeom>
          <a:solidFill>
            <a:srgbClr val="45C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7"/>
          <p:cNvSpPr/>
          <p:nvPr/>
        </p:nvSpPr>
        <p:spPr>
          <a:xfrm>
            <a:off x="800100" y="571500"/>
            <a:ext cx="2327478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MARCO TEÓRICO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533400" y="1219200"/>
            <a:ext cx="4000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3.1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990600" y="1219200"/>
            <a:ext cx="178102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Patrón Mashup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533400" y="1628775"/>
            <a:ext cx="4000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3.2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990600" y="1628775"/>
            <a:ext cx="226084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JAX-WS · wsimport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533400" y="2038350"/>
            <a:ext cx="4000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CBE8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45CBE8"/>
                </a:solidFill>
                <a:latin typeface="Arial"/>
                <a:ea typeface="Arial"/>
                <a:cs typeface="Arial"/>
                <a:sym typeface="Arial"/>
              </a:rPr>
              <a:t>3.3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990600" y="2076450"/>
            <a:ext cx="1044327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6E8"/>
              </a:buClr>
              <a:buSzPts val="1575"/>
              <a:buFont typeface="Arial"/>
              <a:buNone/>
            </a:pPr>
            <a:r>
              <a:rPr lang="en-US" sz="1575">
                <a:solidFill>
                  <a:srgbClr val="BFD6E8"/>
                </a:solidFill>
                <a:latin typeface="Arial"/>
                <a:ea typeface="Arial"/>
                <a:cs typeface="Arial"/>
                <a:sym typeface="Arial"/>
              </a:rPr>
              <a:t>AWS RDS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533400" y="2447925"/>
            <a:ext cx="4000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CBE8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45CBE8"/>
                </a:solidFill>
                <a:latin typeface="Arial"/>
                <a:ea typeface="Arial"/>
                <a:cs typeface="Arial"/>
                <a:sym typeface="Arial"/>
              </a:rPr>
              <a:t>3.4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990600" y="2486025"/>
            <a:ext cx="1639937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6E8"/>
              </a:buClr>
              <a:buSzPts val="1575"/>
              <a:buFont typeface="Arial"/>
              <a:buNone/>
            </a:pPr>
            <a:r>
              <a:rPr lang="en-US" sz="1575">
                <a:solidFill>
                  <a:srgbClr val="BFD6E8"/>
                </a:solidFill>
                <a:latin typeface="Arial"/>
                <a:ea typeface="Arial"/>
                <a:cs typeface="Arial"/>
                <a:sym typeface="Arial"/>
              </a:rPr>
              <a:t>Crédito bancario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533400" y="2857500"/>
            <a:ext cx="4000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CBE8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45CBE8"/>
                </a:solidFill>
                <a:latin typeface="Arial"/>
                <a:ea typeface="Arial"/>
                <a:cs typeface="Arial"/>
                <a:sym typeface="Arial"/>
              </a:rPr>
              <a:t>3.5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990600" y="2895600"/>
            <a:ext cx="146119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6E8"/>
              </a:buClr>
              <a:buSzPts val="1575"/>
              <a:buFont typeface="Arial"/>
              <a:buNone/>
            </a:pPr>
            <a:r>
              <a:rPr lang="en-US" sz="1575">
                <a:solidFill>
                  <a:srgbClr val="BFD6E8"/>
                </a:solidFill>
                <a:latin typeface="Arial"/>
                <a:ea typeface="Arial"/>
                <a:cs typeface="Arial"/>
                <a:sym typeface="Arial"/>
              </a:rPr>
              <a:t>AsientoPartido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533400" y="3267075"/>
            <a:ext cx="4000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CBE8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45CBE8"/>
                </a:solidFill>
                <a:latin typeface="Arial"/>
                <a:ea typeface="Arial"/>
                <a:cs typeface="Arial"/>
                <a:sym typeface="Arial"/>
              </a:rPr>
              <a:t>3.6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990600" y="3305175"/>
            <a:ext cx="208657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6E8"/>
              </a:buClr>
              <a:buSzPts val="1575"/>
              <a:buFont typeface="Arial"/>
              <a:buNone/>
            </a:pPr>
            <a:r>
              <a:rPr lang="en-US" sz="1575">
                <a:solidFill>
                  <a:srgbClr val="BFD6E8"/>
                </a:solidFill>
                <a:latin typeface="Arial"/>
                <a:ea typeface="Arial"/>
                <a:cs typeface="Arial"/>
                <a:sym typeface="Arial"/>
              </a:rPr>
              <a:t>SOAP manual · DOM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533400" y="9563100"/>
            <a:ext cx="37719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A2BF"/>
              </a:buClr>
              <a:buSzPts val="971"/>
              <a:buFont typeface="Arial"/>
              <a:buNone/>
            </a:pPr>
            <a:r>
              <a:rPr lang="en-US" sz="971">
                <a:solidFill>
                  <a:srgbClr val="7FA2BF"/>
                </a:solidFill>
                <a:latin typeface="Arial"/>
                <a:ea typeface="Arial"/>
                <a:cs typeface="Arial"/>
                <a:sym typeface="Arial"/>
              </a:rPr>
              <a:t>GR05 · 2026</a:t>
            </a:r>
            <a:endParaRPr sz="97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5143500" y="571500"/>
            <a:ext cx="13620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4590B8"/>
                </a:solidFill>
                <a:latin typeface="Arial"/>
                <a:ea typeface="Arial"/>
                <a:cs typeface="Arial"/>
                <a:sym typeface="Arial"/>
              </a:rPr>
              <a:t>03 · MARCO TEÓRICO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5143500" y="952500"/>
            <a:ext cx="13620750" cy="6180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A3260"/>
              </a:buClr>
              <a:buSzPts val="4023"/>
              <a:buFont typeface="Arial"/>
              <a:buNone/>
            </a:pPr>
            <a:r>
              <a:rPr b="1" lang="en-US" sz="4024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Patrón </a:t>
            </a:r>
            <a:r>
              <a:rPr b="1" lang="en-US" sz="4024">
                <a:solidFill>
                  <a:srgbClr val="42955F"/>
                </a:solidFill>
                <a:latin typeface="Arial"/>
                <a:ea typeface="Arial"/>
                <a:cs typeface="Arial"/>
                <a:sym typeface="Arial"/>
              </a:rPr>
              <a:t>Mashup </a:t>
            </a:r>
            <a:r>
              <a:rPr b="1" lang="en-US" sz="4024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b="1" lang="en-US" sz="4024">
                <a:solidFill>
                  <a:srgbClr val="45CBE8"/>
                </a:solidFill>
                <a:latin typeface="Arial"/>
                <a:ea typeface="Arial"/>
                <a:cs typeface="Arial"/>
                <a:sym typeface="Arial"/>
              </a:rPr>
              <a:t>JAX-WS / wsimport</a:t>
            </a:r>
            <a:endParaRPr sz="4024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5143500" y="1608683"/>
            <a:ext cx="1143000" cy="57150"/>
          </a:xfrm>
          <a:prstGeom prst="rect">
            <a:avLst/>
          </a:prstGeom>
          <a:solidFill>
            <a:srgbClr val="C124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7"/>
          <p:cNvSpPr/>
          <p:nvPr/>
        </p:nvSpPr>
        <p:spPr>
          <a:xfrm>
            <a:off x="5143500" y="2027783"/>
            <a:ext cx="6048375" cy="2534841"/>
          </a:xfrm>
          <a:prstGeom prst="roundRect">
            <a:avLst>
              <a:gd fmla="val 150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7"/>
          <p:cNvSpPr/>
          <p:nvPr/>
        </p:nvSpPr>
        <p:spPr>
          <a:xfrm>
            <a:off x="5143500" y="4553099"/>
            <a:ext cx="6048375" cy="9525"/>
          </a:xfrm>
          <a:prstGeom prst="rect">
            <a:avLst/>
          </a:prstGeom>
          <a:solidFill>
            <a:srgbClr val="DBE3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7"/>
          <p:cNvSpPr/>
          <p:nvPr/>
        </p:nvSpPr>
        <p:spPr>
          <a:xfrm>
            <a:off x="5143500" y="2027783"/>
            <a:ext cx="6048375" cy="9525"/>
          </a:xfrm>
          <a:prstGeom prst="rect">
            <a:avLst/>
          </a:prstGeom>
          <a:solidFill>
            <a:srgbClr val="DBE3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7"/>
          <p:cNvSpPr/>
          <p:nvPr/>
        </p:nvSpPr>
        <p:spPr>
          <a:xfrm>
            <a:off x="5143500" y="2027783"/>
            <a:ext cx="76200" cy="2534841"/>
          </a:xfrm>
          <a:prstGeom prst="rect">
            <a:avLst/>
          </a:prstGeom>
          <a:solidFill>
            <a:srgbClr val="1A32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7"/>
          <p:cNvSpPr/>
          <p:nvPr/>
        </p:nvSpPr>
        <p:spPr>
          <a:xfrm>
            <a:off x="11182350" y="2027783"/>
            <a:ext cx="9525" cy="2534841"/>
          </a:xfrm>
          <a:prstGeom prst="rect">
            <a:avLst/>
          </a:prstGeom>
          <a:solidFill>
            <a:srgbClr val="DBE3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7"/>
          <p:cNvSpPr/>
          <p:nvPr/>
        </p:nvSpPr>
        <p:spPr>
          <a:xfrm>
            <a:off x="5486400" y="2265908"/>
            <a:ext cx="59721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4590B8"/>
                </a:solidFill>
                <a:latin typeface="Arial"/>
                <a:ea typeface="Arial"/>
                <a:cs typeface="Arial"/>
                <a:sym typeface="Arial"/>
              </a:rPr>
              <a:t>3.1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5486400" y="2504033"/>
            <a:ext cx="59721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260"/>
              </a:buClr>
              <a:buSzPts val="1725"/>
              <a:buFont typeface="Arial"/>
              <a:buNone/>
            </a:pPr>
            <a:r>
              <a:rPr b="1" lang="en-US" sz="1725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Mashup de servicios SOAP</a:t>
            </a:r>
            <a:endParaRPr sz="17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5486400" y="2885033"/>
            <a:ext cx="5592128" cy="14775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48"/>
              <a:buFont typeface="Arial"/>
              <a:buNone/>
            </a:pPr>
            <a:r>
              <a:rPr lang="en-US" sz="1249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Un </a:t>
            </a:r>
            <a:r>
              <a:rPr b="1" lang="en-US" sz="1249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Mashup </a:t>
            </a:r>
            <a:r>
              <a:rPr lang="en-US" sz="1249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combina las capacidades de múltiples servicios independientes para una funcionalidad compuesta que ninguno provee por sí solo. Aquí, la </a:t>
            </a:r>
            <a:r>
              <a:rPr b="1" lang="en-US" sz="1249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compra con crédito </a:t>
            </a:r>
            <a:r>
              <a:rPr lang="en-US" sz="1249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es el mashup: el cliente consulta localidades y asientos en </a:t>
            </a:r>
            <a:r>
              <a:rPr b="1" lang="en-US" sz="1249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WSFederacion</a:t>
            </a:r>
            <a:r>
              <a:rPr lang="en-US" sz="1249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, llama a </a:t>
            </a:r>
            <a:r>
              <a:rPr b="1" lang="en-US" sz="1249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WSBancoCore </a:t>
            </a:r>
            <a:r>
              <a:rPr lang="en-US" sz="1249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para crear el crédito, y confirma la compra con el </a:t>
            </a:r>
            <a:r>
              <a:rPr b="1" lang="en-US" sz="1249">
                <a:solidFill>
                  <a:srgbClr val="1A3260"/>
                </a:solidFill>
                <a:latin typeface="Consolas"/>
                <a:ea typeface="Consolas"/>
                <a:cs typeface="Consolas"/>
                <a:sym typeface="Consolas"/>
              </a:rPr>
              <a:t>idCredito </a:t>
            </a:r>
            <a:r>
              <a:rPr lang="en-US" sz="1249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retornado. La orquestación vive en el cliente.</a:t>
            </a:r>
            <a:endParaRPr sz="124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11477625" y="2027783"/>
            <a:ext cx="6048375" cy="2534841"/>
          </a:xfrm>
          <a:prstGeom prst="roundRect">
            <a:avLst>
              <a:gd fmla="val 150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7"/>
          <p:cNvSpPr/>
          <p:nvPr/>
        </p:nvSpPr>
        <p:spPr>
          <a:xfrm>
            <a:off x="11477625" y="4553099"/>
            <a:ext cx="6048375" cy="9525"/>
          </a:xfrm>
          <a:prstGeom prst="rect">
            <a:avLst/>
          </a:prstGeom>
          <a:solidFill>
            <a:srgbClr val="DBE3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7"/>
          <p:cNvSpPr/>
          <p:nvPr/>
        </p:nvSpPr>
        <p:spPr>
          <a:xfrm>
            <a:off x="11477625" y="2027783"/>
            <a:ext cx="6048375" cy="9525"/>
          </a:xfrm>
          <a:prstGeom prst="rect">
            <a:avLst/>
          </a:prstGeom>
          <a:solidFill>
            <a:srgbClr val="DBE3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7"/>
          <p:cNvSpPr/>
          <p:nvPr/>
        </p:nvSpPr>
        <p:spPr>
          <a:xfrm>
            <a:off x="11477625" y="2027783"/>
            <a:ext cx="76200" cy="2534841"/>
          </a:xfrm>
          <a:prstGeom prst="rect">
            <a:avLst/>
          </a:prstGeom>
          <a:solidFill>
            <a:srgbClr val="45C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7"/>
          <p:cNvSpPr/>
          <p:nvPr/>
        </p:nvSpPr>
        <p:spPr>
          <a:xfrm>
            <a:off x="17516475" y="2027783"/>
            <a:ext cx="9525" cy="2534841"/>
          </a:xfrm>
          <a:prstGeom prst="rect">
            <a:avLst/>
          </a:prstGeom>
          <a:solidFill>
            <a:srgbClr val="DBE3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7"/>
          <p:cNvSpPr/>
          <p:nvPr/>
        </p:nvSpPr>
        <p:spPr>
          <a:xfrm>
            <a:off x="11820525" y="2265908"/>
            <a:ext cx="59721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4590B8"/>
                </a:solidFill>
                <a:latin typeface="Arial"/>
                <a:ea typeface="Arial"/>
                <a:cs typeface="Arial"/>
                <a:sym typeface="Arial"/>
              </a:rPr>
              <a:t>3.2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11820525" y="2504033"/>
            <a:ext cx="59721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260"/>
              </a:buClr>
              <a:buSzPts val="1725"/>
              <a:buFont typeface="Arial"/>
              <a:buNone/>
            </a:pPr>
            <a:r>
              <a:rPr b="1" lang="en-US" sz="1725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JAX-WS · @WebService · stubs wsimport</a:t>
            </a:r>
            <a:endParaRPr sz="17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11820525" y="2885033"/>
            <a:ext cx="5592128" cy="123765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48"/>
              <a:buFont typeface="Arial"/>
              <a:buNone/>
            </a:pPr>
            <a:r>
              <a:rPr b="1" lang="en-US" sz="1249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JAX-WS </a:t>
            </a:r>
            <a:r>
              <a:rPr lang="en-US" sz="1249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expone clases Java como servicios SOAP con </a:t>
            </a:r>
            <a:r>
              <a:rPr b="1" lang="en-US" sz="1249">
                <a:solidFill>
                  <a:srgbClr val="1A3260"/>
                </a:solidFill>
                <a:latin typeface="Consolas"/>
                <a:ea typeface="Consolas"/>
                <a:cs typeface="Consolas"/>
                <a:sym typeface="Consolas"/>
              </a:rPr>
              <a:t>@WebService </a:t>
            </a:r>
            <a:r>
              <a:rPr lang="en-US" sz="1249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y </a:t>
            </a:r>
            <a:r>
              <a:rPr b="1" lang="en-US" sz="1249">
                <a:solidFill>
                  <a:srgbClr val="1A3260"/>
                </a:solidFill>
                <a:latin typeface="Consolas"/>
                <a:ea typeface="Consolas"/>
                <a:cs typeface="Consolas"/>
                <a:sym typeface="Consolas"/>
              </a:rPr>
              <a:t>@WebMethod</a:t>
            </a:r>
            <a:r>
              <a:rPr lang="en-US" sz="1249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. Los stubs del cliente (</a:t>
            </a:r>
            <a:r>
              <a:rPr b="1" lang="en-US" sz="1249">
                <a:solidFill>
                  <a:srgbClr val="1A3260"/>
                </a:solidFill>
                <a:latin typeface="Consolas"/>
                <a:ea typeface="Consolas"/>
                <a:cs typeface="Consolas"/>
                <a:sym typeface="Consolas"/>
              </a:rPr>
              <a:t>WSFederacion</a:t>
            </a:r>
            <a:r>
              <a:rPr lang="en-US" sz="1249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-US" sz="1249">
                <a:solidFill>
                  <a:srgbClr val="1A3260"/>
                </a:solidFill>
                <a:latin typeface="Consolas"/>
                <a:ea typeface="Consolas"/>
                <a:cs typeface="Consolas"/>
                <a:sym typeface="Consolas"/>
              </a:rPr>
              <a:t>WSFederacion_Service </a:t>
            </a:r>
            <a:r>
              <a:rPr lang="en-US" sz="1249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y modelos) se generan con </a:t>
            </a:r>
            <a:r>
              <a:rPr b="1" lang="en-US" sz="1249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wsimport </a:t>
            </a:r>
            <a:r>
              <a:rPr lang="en-US" sz="1249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desde el WSDL. </a:t>
            </a:r>
            <a:r>
              <a:rPr b="1" lang="en-US" sz="1249">
                <a:solidFill>
                  <a:srgbClr val="1A3260"/>
                </a:solidFill>
                <a:latin typeface="Consolas"/>
                <a:ea typeface="Consolas"/>
                <a:cs typeface="Consolas"/>
                <a:sym typeface="Consolas"/>
              </a:rPr>
              <a:t>ClienteFederacion </a:t>
            </a:r>
            <a:r>
              <a:rPr lang="en-US" sz="1249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envuelve el stub y fija la IP en runtime con </a:t>
            </a:r>
            <a:r>
              <a:rPr b="1" lang="en-US" sz="1249">
                <a:solidFill>
                  <a:srgbClr val="1A3260"/>
                </a:solidFill>
                <a:latin typeface="Consolas"/>
                <a:ea typeface="Consolas"/>
                <a:cs typeface="Consolas"/>
                <a:sym typeface="Consolas"/>
              </a:rPr>
              <a:t>BindingProvider.ENDPOINT_ADDRESS_PROPERTY </a:t>
            </a:r>
            <a:r>
              <a:rPr lang="en-US" sz="1249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sin recompilar.</a:t>
            </a:r>
            <a:endParaRPr sz="124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5143500" y="4772174"/>
            <a:ext cx="12382500" cy="2655987"/>
          </a:xfrm>
          <a:prstGeom prst="roundRect">
            <a:avLst>
              <a:gd fmla="val 2869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7"/>
          <p:cNvSpPr/>
          <p:nvPr/>
        </p:nvSpPr>
        <p:spPr>
          <a:xfrm>
            <a:off x="5391150" y="4981724"/>
            <a:ext cx="12258675" cy="22749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46"/>
              <a:buFont typeface="Consolas"/>
              <a:buNone/>
            </a:pPr>
            <a:r>
              <a:rPr lang="en-US" sz="1046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-US" sz="1046">
                <a:solidFill>
                  <a:srgbClr val="FFA657"/>
                </a:solidFill>
                <a:latin typeface="Consolas"/>
                <a:ea typeface="Consolas"/>
                <a:cs typeface="Consolas"/>
                <a:sym typeface="Consolas"/>
              </a:rPr>
              <a:t>@WebService</a:t>
            </a:r>
            <a:r>
              <a:rPr lang="en-US" sz="1046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(serviceName = </a:t>
            </a:r>
            <a:r>
              <a:rPr lang="en-US" sz="1046">
                <a:solidFill>
                  <a:srgbClr val="A5D6FF"/>
                </a:solidFill>
                <a:latin typeface="Consolas"/>
                <a:ea typeface="Consolas"/>
                <a:cs typeface="Consolas"/>
                <a:sym typeface="Consolas"/>
              </a:rPr>
              <a:t>"WSFederacion"</a:t>
            </a:r>
            <a:r>
              <a:rPr lang="en-US" sz="1046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)]  </a:t>
            </a:r>
            <a:r>
              <a:rPr i="1" lang="en-US" sz="1046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// ec.edu.monster </a:t>
            </a:r>
            <a:r>
              <a:rPr lang="en-US" sz="1046">
                <a:solidFill>
                  <a:srgbClr val="79C0FF"/>
                </a:solidFill>
                <a:latin typeface="Consolas"/>
                <a:ea typeface="Consolas"/>
                <a:cs typeface="Consolas"/>
                <a:sym typeface="Consolas"/>
              </a:rPr>
              <a:t>public class</a:t>
            </a:r>
            <a:r>
              <a:rPr lang="en-US" sz="1046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46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WSFederacion </a:t>
            </a:r>
            <a:r>
              <a:rPr lang="en-US" sz="1046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04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46"/>
              <a:buFont typeface="Consolas"/>
              <a:buNone/>
            </a:pPr>
            <a:r>
              <a:rPr lang="en-US" sz="1046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endParaRPr sz="104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9C0FF"/>
              </a:buClr>
              <a:buSzPts val="1046"/>
              <a:buFont typeface="Consolas"/>
              <a:buNone/>
            </a:pPr>
            <a:r>
              <a:rPr lang="en-US" sz="1046">
                <a:solidFill>
                  <a:srgbClr val="79C0FF"/>
                </a:solidFill>
                <a:latin typeface="Consolas"/>
                <a:ea typeface="Consolas"/>
                <a:cs typeface="Consolas"/>
                <a:sym typeface="Consolas"/>
              </a:rPr>
              <a:t>private final</a:t>
            </a:r>
            <a:r>
              <a:rPr lang="en-US" sz="1046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46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FederacionService</a:t>
            </a:r>
            <a:r>
              <a:rPr lang="en-US" sz="1046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servicio = </a:t>
            </a:r>
            <a:r>
              <a:rPr lang="en-US" sz="1046">
                <a:solidFill>
                  <a:srgbClr val="79C0FF"/>
                </a:solidFill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-US" sz="1046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46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FederacionService </a:t>
            </a:r>
            <a:r>
              <a:rPr lang="en-US" sz="1046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();</a:t>
            </a:r>
            <a:endParaRPr sz="104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6"/>
              <a:buFont typeface="Calibri"/>
              <a:buNone/>
            </a:pPr>
            <a:r>
              <a:t/>
            </a:r>
            <a:endParaRPr sz="104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46"/>
              <a:buFont typeface="Consolas"/>
              <a:buNone/>
            </a:pPr>
            <a:r>
              <a:rPr lang="en-US" sz="1046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 [ </a:t>
            </a:r>
            <a:endParaRPr sz="104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A657"/>
              </a:buClr>
              <a:buSzPts val="1046"/>
              <a:buFont typeface="Consolas"/>
              <a:buNone/>
            </a:pPr>
            <a:r>
              <a:rPr lang="en-US" sz="1046">
                <a:solidFill>
                  <a:srgbClr val="FFA657"/>
                </a:solidFill>
                <a:latin typeface="Consolas"/>
                <a:ea typeface="Consolas"/>
                <a:cs typeface="Consolas"/>
                <a:sym typeface="Consolas"/>
              </a:rPr>
              <a:t>@WebMethod</a:t>
            </a:r>
            <a:r>
              <a:rPr lang="en-US" sz="1046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(operationName = </a:t>
            </a:r>
            <a:r>
              <a:rPr lang="en-US" sz="1046">
                <a:solidFill>
                  <a:srgbClr val="A5D6FF"/>
                </a:solidFill>
                <a:latin typeface="Consolas"/>
                <a:ea typeface="Consolas"/>
                <a:cs typeface="Consolas"/>
                <a:sym typeface="Consolas"/>
              </a:rPr>
              <a:t>"obtenerAsientosPartido" </a:t>
            </a:r>
            <a:r>
              <a:rPr lang="en-US" sz="1046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)]</a:t>
            </a:r>
            <a:endParaRPr sz="104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46"/>
              <a:buFont typeface="Consolas"/>
              <a:buNone/>
            </a:pPr>
            <a:r>
              <a:rPr lang="en-US" sz="1046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endParaRPr sz="104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9C0FF"/>
              </a:buClr>
              <a:buSzPts val="1046"/>
              <a:buFont typeface="Consolas"/>
              <a:buNone/>
            </a:pPr>
            <a:r>
              <a:rPr lang="en-US" sz="1046">
                <a:solidFill>
                  <a:srgbClr val="79C0FF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-US" sz="1046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46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r>
              <a:rPr lang="en-US" sz="1046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046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AsientoPartido</a:t>
            </a:r>
            <a:r>
              <a:rPr lang="en-US" sz="1046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&gt; obtenerAsientosPartido([</a:t>
            </a:r>
            <a:r>
              <a:rPr lang="en-US" sz="1046">
                <a:solidFill>
                  <a:srgbClr val="FFA657"/>
                </a:solidFill>
                <a:latin typeface="Consolas"/>
                <a:ea typeface="Consolas"/>
                <a:cs typeface="Consolas"/>
                <a:sym typeface="Consolas"/>
              </a:rPr>
              <a:t>@WebParam</a:t>
            </a:r>
            <a:r>
              <a:rPr lang="en-US" sz="1046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(name=</a:t>
            </a:r>
            <a:r>
              <a:rPr lang="en-US" sz="1046">
                <a:solidFill>
                  <a:srgbClr val="A5D6FF"/>
                </a:solidFill>
                <a:latin typeface="Consolas"/>
                <a:ea typeface="Consolas"/>
                <a:cs typeface="Consolas"/>
                <a:sym typeface="Consolas"/>
              </a:rPr>
              <a:t>"codPartido"</a:t>
            </a:r>
            <a:r>
              <a:rPr lang="en-US" sz="1046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)] </a:t>
            </a:r>
            <a:r>
              <a:rPr lang="en-US" sz="1046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int </a:t>
            </a:r>
            <a:r>
              <a:rPr lang="en-US" sz="1046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cod) {</a:t>
            </a:r>
            <a:endParaRPr sz="104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46"/>
              <a:buFont typeface="Consolas"/>
              <a:buNone/>
            </a:pPr>
            <a:r>
              <a:rPr lang="en-US" sz="1046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    </a:t>
            </a:r>
            <a:endParaRPr sz="104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9C0FF"/>
              </a:buClr>
              <a:buSzPts val="1046"/>
              <a:buFont typeface="Consolas"/>
              <a:buNone/>
            </a:pPr>
            <a:r>
              <a:rPr lang="en-US" sz="1046">
                <a:solidFill>
                  <a:srgbClr val="79C0FF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US" sz="1046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servicio.obtenerAsientosPartido(cod);   </a:t>
            </a:r>
            <a:r>
              <a:rPr i="1" lang="en-US" sz="1046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// JDBC → ticketpremium_db </a:t>
            </a:r>
            <a:r>
              <a:rPr lang="en-US" sz="1046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04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46"/>
              <a:buFont typeface="Consolas"/>
              <a:buNone/>
            </a:pPr>
            <a:r>
              <a:rPr lang="en-US" sz="1046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4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5143500" y="9772650"/>
            <a:ext cx="594238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10"/>
              <a:buFont typeface="Arial"/>
              <a:buNone/>
            </a:pPr>
            <a:r>
              <a:rPr b="1" lang="en-US" sz="111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TP_SOAP_JAVA_MASHUP_AWS_G5 · 03 MARCO TEÓRICO</a:t>
            </a:r>
            <a:endParaRPr sz="111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7"/>
          <p:cNvSpPr/>
          <p:nvPr/>
        </p:nvSpPr>
        <p:spPr>
          <a:xfrm>
            <a:off x="17571393" y="9744075"/>
            <a:ext cx="335607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4590B8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7"/>
          <p:cNvSpPr/>
          <p:nvPr/>
        </p:nvSpPr>
        <p:spPr>
          <a:xfrm>
            <a:off x="0" y="10153650"/>
            <a:ext cx="18288000" cy="133350"/>
          </a:xfrm>
          <a:prstGeom prst="rect">
            <a:avLst/>
          </a:prstGeom>
          <a:gradFill>
            <a:gsLst>
              <a:gs pos="0">
                <a:srgbClr val="1A3260"/>
              </a:gs>
              <a:gs pos="50000">
                <a:srgbClr val="1A3260"/>
              </a:gs>
              <a:gs pos="75000">
                <a:srgbClr val="42955F"/>
              </a:gs>
              <a:gs pos="100000">
                <a:srgbClr val="E8821E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2" name="Google Shape;22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22265"/>
            <a:ext cx="18288000" cy="3455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8"/>
          <p:cNvSpPr/>
          <p:nvPr/>
        </p:nvSpPr>
        <p:spPr>
          <a:xfrm>
            <a:off x="0" y="0"/>
            <a:ext cx="4381500" cy="10287000"/>
          </a:xfrm>
          <a:prstGeom prst="rect">
            <a:avLst/>
          </a:prstGeom>
          <a:solidFill>
            <a:srgbClr val="1A32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8"/>
          <p:cNvSpPr/>
          <p:nvPr/>
        </p:nvSpPr>
        <p:spPr>
          <a:xfrm>
            <a:off x="533400" y="628650"/>
            <a:ext cx="133350" cy="133350"/>
          </a:xfrm>
          <a:prstGeom prst="rect">
            <a:avLst/>
          </a:prstGeom>
          <a:solidFill>
            <a:srgbClr val="45C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8"/>
          <p:cNvSpPr/>
          <p:nvPr/>
        </p:nvSpPr>
        <p:spPr>
          <a:xfrm>
            <a:off x="800100" y="571500"/>
            <a:ext cx="2327478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MARCO TEÓRICO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8"/>
          <p:cNvSpPr/>
          <p:nvPr/>
        </p:nvSpPr>
        <p:spPr>
          <a:xfrm>
            <a:off x="533400" y="1219200"/>
            <a:ext cx="4000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CBE8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45CBE8"/>
                </a:solidFill>
                <a:latin typeface="Arial"/>
                <a:ea typeface="Arial"/>
                <a:cs typeface="Arial"/>
                <a:sym typeface="Arial"/>
              </a:rPr>
              <a:t>3.1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8"/>
          <p:cNvSpPr/>
          <p:nvPr/>
        </p:nvSpPr>
        <p:spPr>
          <a:xfrm>
            <a:off x="990600" y="1257300"/>
            <a:ext cx="1510754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6E8"/>
              </a:buClr>
              <a:buSzPts val="1575"/>
              <a:buFont typeface="Arial"/>
              <a:buNone/>
            </a:pPr>
            <a:r>
              <a:rPr lang="en-US" sz="1575">
                <a:solidFill>
                  <a:srgbClr val="BFD6E8"/>
                </a:solidFill>
                <a:latin typeface="Arial"/>
                <a:ea typeface="Arial"/>
                <a:cs typeface="Arial"/>
                <a:sym typeface="Arial"/>
              </a:rPr>
              <a:t>Patrón Mashup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8"/>
          <p:cNvSpPr/>
          <p:nvPr/>
        </p:nvSpPr>
        <p:spPr>
          <a:xfrm>
            <a:off x="533400" y="1628775"/>
            <a:ext cx="4000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CBE8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45CBE8"/>
                </a:solidFill>
                <a:latin typeface="Arial"/>
                <a:ea typeface="Arial"/>
                <a:cs typeface="Arial"/>
                <a:sym typeface="Arial"/>
              </a:rPr>
              <a:t>3.2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8"/>
          <p:cNvSpPr/>
          <p:nvPr/>
        </p:nvSpPr>
        <p:spPr>
          <a:xfrm>
            <a:off x="990600" y="1666875"/>
            <a:ext cx="1911846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6E8"/>
              </a:buClr>
              <a:buSzPts val="1575"/>
              <a:buFont typeface="Arial"/>
              <a:buNone/>
            </a:pPr>
            <a:r>
              <a:rPr lang="en-US" sz="1575">
                <a:solidFill>
                  <a:srgbClr val="BFD6E8"/>
                </a:solidFill>
                <a:latin typeface="Arial"/>
                <a:ea typeface="Arial"/>
                <a:cs typeface="Arial"/>
                <a:sym typeface="Arial"/>
              </a:rPr>
              <a:t>JAX-WS · wsimport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8"/>
          <p:cNvSpPr/>
          <p:nvPr/>
        </p:nvSpPr>
        <p:spPr>
          <a:xfrm>
            <a:off x="533400" y="2038350"/>
            <a:ext cx="4000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3.3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8"/>
          <p:cNvSpPr/>
          <p:nvPr/>
        </p:nvSpPr>
        <p:spPr>
          <a:xfrm>
            <a:off x="990600" y="2038350"/>
            <a:ext cx="114225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AWS RDS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8"/>
          <p:cNvSpPr/>
          <p:nvPr/>
        </p:nvSpPr>
        <p:spPr>
          <a:xfrm>
            <a:off x="533400" y="2447925"/>
            <a:ext cx="4000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3.4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8"/>
          <p:cNvSpPr/>
          <p:nvPr/>
        </p:nvSpPr>
        <p:spPr>
          <a:xfrm>
            <a:off x="990600" y="2447925"/>
            <a:ext cx="199489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Crédito bancario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8"/>
          <p:cNvSpPr/>
          <p:nvPr/>
        </p:nvSpPr>
        <p:spPr>
          <a:xfrm>
            <a:off x="533400" y="2857500"/>
            <a:ext cx="4000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CBE8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45CBE8"/>
                </a:solidFill>
                <a:latin typeface="Arial"/>
                <a:ea typeface="Arial"/>
                <a:cs typeface="Arial"/>
                <a:sym typeface="Arial"/>
              </a:rPr>
              <a:t>3.5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8"/>
          <p:cNvSpPr/>
          <p:nvPr/>
        </p:nvSpPr>
        <p:spPr>
          <a:xfrm>
            <a:off x="990600" y="2895600"/>
            <a:ext cx="146119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6E8"/>
              </a:buClr>
              <a:buSzPts val="1575"/>
              <a:buFont typeface="Arial"/>
              <a:buNone/>
            </a:pPr>
            <a:r>
              <a:rPr lang="en-US" sz="1575">
                <a:solidFill>
                  <a:srgbClr val="BFD6E8"/>
                </a:solidFill>
                <a:latin typeface="Arial"/>
                <a:ea typeface="Arial"/>
                <a:cs typeface="Arial"/>
                <a:sym typeface="Arial"/>
              </a:rPr>
              <a:t>AsientoPartido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8"/>
          <p:cNvSpPr/>
          <p:nvPr/>
        </p:nvSpPr>
        <p:spPr>
          <a:xfrm>
            <a:off x="533400" y="3267075"/>
            <a:ext cx="4000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CBE8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45CBE8"/>
                </a:solidFill>
                <a:latin typeface="Arial"/>
                <a:ea typeface="Arial"/>
                <a:cs typeface="Arial"/>
                <a:sym typeface="Arial"/>
              </a:rPr>
              <a:t>3.6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8"/>
          <p:cNvSpPr/>
          <p:nvPr/>
        </p:nvSpPr>
        <p:spPr>
          <a:xfrm>
            <a:off x="990600" y="3305175"/>
            <a:ext cx="208657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6E8"/>
              </a:buClr>
              <a:buSzPts val="1575"/>
              <a:buFont typeface="Arial"/>
              <a:buNone/>
            </a:pPr>
            <a:r>
              <a:rPr lang="en-US" sz="1575">
                <a:solidFill>
                  <a:srgbClr val="BFD6E8"/>
                </a:solidFill>
                <a:latin typeface="Arial"/>
                <a:ea typeface="Arial"/>
                <a:cs typeface="Arial"/>
                <a:sym typeface="Arial"/>
              </a:rPr>
              <a:t>SOAP manual · DOM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8"/>
          <p:cNvSpPr/>
          <p:nvPr/>
        </p:nvSpPr>
        <p:spPr>
          <a:xfrm>
            <a:off x="533400" y="9563100"/>
            <a:ext cx="37719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A2BF"/>
              </a:buClr>
              <a:buSzPts val="971"/>
              <a:buFont typeface="Arial"/>
              <a:buNone/>
            </a:pPr>
            <a:r>
              <a:rPr lang="en-US" sz="971">
                <a:solidFill>
                  <a:srgbClr val="7FA2BF"/>
                </a:solidFill>
                <a:latin typeface="Arial"/>
                <a:ea typeface="Arial"/>
                <a:cs typeface="Arial"/>
                <a:sym typeface="Arial"/>
              </a:rPr>
              <a:t>GR05 · 2026</a:t>
            </a:r>
            <a:endParaRPr sz="97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8"/>
          <p:cNvSpPr/>
          <p:nvPr/>
        </p:nvSpPr>
        <p:spPr>
          <a:xfrm>
            <a:off x="5143500" y="571500"/>
            <a:ext cx="13620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4590B8"/>
                </a:solidFill>
                <a:latin typeface="Arial"/>
                <a:ea typeface="Arial"/>
                <a:cs typeface="Arial"/>
                <a:sym typeface="Arial"/>
              </a:rPr>
              <a:t>03 · MARCO TEÓRICO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8"/>
          <p:cNvSpPr/>
          <p:nvPr/>
        </p:nvSpPr>
        <p:spPr>
          <a:xfrm>
            <a:off x="5143500" y="952500"/>
            <a:ext cx="12753975" cy="11980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3260"/>
              </a:buClr>
              <a:buSzPts val="4350"/>
              <a:buFont typeface="Arial"/>
              <a:buNone/>
            </a:pPr>
            <a:r>
              <a:rPr b="1" lang="en-US" sz="4350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Persistencia en la nube · </a:t>
            </a:r>
            <a:r>
              <a:rPr b="1" lang="en-US" sz="4350">
                <a:solidFill>
                  <a:srgbClr val="E8821E"/>
                </a:solidFill>
                <a:latin typeface="Arial"/>
                <a:ea typeface="Arial"/>
                <a:cs typeface="Arial"/>
                <a:sym typeface="Arial"/>
              </a:rPr>
              <a:t>AWS RDS </a:t>
            </a:r>
            <a:r>
              <a:rPr b="1" lang="en-US" sz="4350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+ crédito</a:t>
            </a:r>
            <a:endParaRPr sz="4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8"/>
          <p:cNvSpPr/>
          <p:nvPr/>
        </p:nvSpPr>
        <p:spPr>
          <a:xfrm>
            <a:off x="5143500" y="2188666"/>
            <a:ext cx="1143000" cy="57150"/>
          </a:xfrm>
          <a:prstGeom prst="rect">
            <a:avLst/>
          </a:prstGeom>
          <a:solidFill>
            <a:srgbClr val="C124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8"/>
          <p:cNvSpPr/>
          <p:nvPr/>
        </p:nvSpPr>
        <p:spPr>
          <a:xfrm>
            <a:off x="5143500" y="2607766"/>
            <a:ext cx="6048375" cy="2256830"/>
          </a:xfrm>
          <a:prstGeom prst="roundRect">
            <a:avLst>
              <a:gd fmla="val 168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8"/>
          <p:cNvSpPr/>
          <p:nvPr/>
        </p:nvSpPr>
        <p:spPr>
          <a:xfrm>
            <a:off x="5143500" y="4855071"/>
            <a:ext cx="6048375" cy="9525"/>
          </a:xfrm>
          <a:prstGeom prst="rect">
            <a:avLst/>
          </a:prstGeom>
          <a:solidFill>
            <a:srgbClr val="DBE3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8"/>
          <p:cNvSpPr/>
          <p:nvPr/>
        </p:nvSpPr>
        <p:spPr>
          <a:xfrm>
            <a:off x="5143500" y="2607766"/>
            <a:ext cx="6048375" cy="9525"/>
          </a:xfrm>
          <a:prstGeom prst="rect">
            <a:avLst/>
          </a:prstGeom>
          <a:solidFill>
            <a:srgbClr val="DBE3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8"/>
          <p:cNvSpPr/>
          <p:nvPr/>
        </p:nvSpPr>
        <p:spPr>
          <a:xfrm>
            <a:off x="5143500" y="2607766"/>
            <a:ext cx="76200" cy="2256830"/>
          </a:xfrm>
          <a:prstGeom prst="rect">
            <a:avLst/>
          </a:prstGeom>
          <a:solidFill>
            <a:srgbClr val="E882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8"/>
          <p:cNvSpPr/>
          <p:nvPr/>
        </p:nvSpPr>
        <p:spPr>
          <a:xfrm>
            <a:off x="11182350" y="2607766"/>
            <a:ext cx="9525" cy="2256830"/>
          </a:xfrm>
          <a:prstGeom prst="rect">
            <a:avLst/>
          </a:prstGeom>
          <a:solidFill>
            <a:srgbClr val="DBE3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8"/>
          <p:cNvSpPr/>
          <p:nvPr/>
        </p:nvSpPr>
        <p:spPr>
          <a:xfrm>
            <a:off x="5467350" y="2826841"/>
            <a:ext cx="601408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F0E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B45F0E"/>
                </a:solidFill>
                <a:latin typeface="Arial"/>
                <a:ea typeface="Arial"/>
                <a:cs typeface="Arial"/>
                <a:sym typeface="Arial"/>
              </a:rPr>
              <a:t>3.3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8"/>
          <p:cNvSpPr/>
          <p:nvPr/>
        </p:nvSpPr>
        <p:spPr>
          <a:xfrm>
            <a:off x="5467350" y="3064966"/>
            <a:ext cx="601408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260"/>
              </a:buClr>
              <a:buSzPts val="1725"/>
              <a:buFont typeface="Arial"/>
              <a:buNone/>
            </a:pPr>
            <a:r>
              <a:rPr b="1" lang="en-US" sz="1725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Amazon RDS · MySQL gestionado</a:t>
            </a:r>
            <a:endParaRPr sz="17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8"/>
          <p:cNvSpPr/>
          <p:nvPr/>
        </p:nvSpPr>
        <p:spPr>
          <a:xfrm>
            <a:off x="5467350" y="3445966"/>
            <a:ext cx="5631371" cy="123765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48"/>
              <a:buFont typeface="Arial"/>
              <a:buNone/>
            </a:pPr>
            <a:r>
              <a:rPr b="1" lang="en-US" sz="1249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Amazon RDS </a:t>
            </a:r>
            <a:r>
              <a:rPr lang="en-US" sz="1249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es un servicio gestionado de bases de datos relacionales en la nube. </a:t>
            </a:r>
            <a:r>
              <a:rPr b="1" lang="en-US" sz="1249">
                <a:solidFill>
                  <a:srgbClr val="1A3260"/>
                </a:solidFill>
                <a:latin typeface="Consolas"/>
                <a:ea typeface="Consolas"/>
                <a:cs typeface="Consolas"/>
                <a:sym typeface="Consolas"/>
              </a:rPr>
              <a:t>BancoCoreService </a:t>
            </a:r>
            <a:r>
              <a:rPr lang="en-US" sz="1249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conecta vía JDBC al endpoint público de RDS ( </a:t>
            </a:r>
            <a:r>
              <a:rPr b="1" lang="en-US" sz="1249">
                <a:solidFill>
                  <a:srgbClr val="1A3260"/>
                </a:solidFill>
                <a:latin typeface="Consolas"/>
                <a:ea typeface="Consolas"/>
                <a:cs typeface="Consolas"/>
                <a:sym typeface="Consolas"/>
              </a:rPr>
              <a:t>...us-east-2.rds.amazonaws.com </a:t>
            </a:r>
            <a:r>
              <a:rPr lang="en-US" sz="1249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). Elimina la administración del servidor de BD del banco y garantiza </a:t>
            </a:r>
            <a:r>
              <a:rPr b="1" lang="en-US" sz="1249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alta disponibilidad, backups y recuperación </a:t>
            </a:r>
            <a:r>
              <a:rPr lang="en-US" sz="1249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automáticos.</a:t>
            </a:r>
            <a:endParaRPr sz="124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8"/>
          <p:cNvSpPr/>
          <p:nvPr/>
        </p:nvSpPr>
        <p:spPr>
          <a:xfrm>
            <a:off x="11477625" y="2607766"/>
            <a:ext cx="6048375" cy="2256830"/>
          </a:xfrm>
          <a:prstGeom prst="roundRect">
            <a:avLst>
              <a:gd fmla="val 168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8"/>
          <p:cNvSpPr/>
          <p:nvPr/>
        </p:nvSpPr>
        <p:spPr>
          <a:xfrm>
            <a:off x="11477625" y="4855071"/>
            <a:ext cx="6048375" cy="9525"/>
          </a:xfrm>
          <a:prstGeom prst="rect">
            <a:avLst/>
          </a:prstGeom>
          <a:solidFill>
            <a:srgbClr val="DBE3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8"/>
          <p:cNvSpPr/>
          <p:nvPr/>
        </p:nvSpPr>
        <p:spPr>
          <a:xfrm>
            <a:off x="11477625" y="2607766"/>
            <a:ext cx="6048375" cy="9525"/>
          </a:xfrm>
          <a:prstGeom prst="rect">
            <a:avLst/>
          </a:prstGeom>
          <a:solidFill>
            <a:srgbClr val="DBE3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8"/>
          <p:cNvSpPr/>
          <p:nvPr/>
        </p:nvSpPr>
        <p:spPr>
          <a:xfrm>
            <a:off x="11477625" y="2607766"/>
            <a:ext cx="76200" cy="2256830"/>
          </a:xfrm>
          <a:prstGeom prst="rect">
            <a:avLst/>
          </a:prstGeom>
          <a:solidFill>
            <a:srgbClr val="1A32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8"/>
          <p:cNvSpPr/>
          <p:nvPr/>
        </p:nvSpPr>
        <p:spPr>
          <a:xfrm>
            <a:off x="17516475" y="2607766"/>
            <a:ext cx="9525" cy="2256830"/>
          </a:xfrm>
          <a:prstGeom prst="rect">
            <a:avLst/>
          </a:prstGeom>
          <a:solidFill>
            <a:srgbClr val="DBE3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8"/>
          <p:cNvSpPr/>
          <p:nvPr/>
        </p:nvSpPr>
        <p:spPr>
          <a:xfrm>
            <a:off x="11801475" y="2826841"/>
            <a:ext cx="601408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4590B8"/>
                </a:solidFill>
                <a:latin typeface="Arial"/>
                <a:ea typeface="Arial"/>
                <a:cs typeface="Arial"/>
                <a:sym typeface="Arial"/>
              </a:rPr>
              <a:t>3.4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8"/>
          <p:cNvSpPr/>
          <p:nvPr/>
        </p:nvSpPr>
        <p:spPr>
          <a:xfrm>
            <a:off x="11801475" y="3064966"/>
            <a:ext cx="601408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260"/>
              </a:buClr>
              <a:buSzPts val="1725"/>
              <a:buFont typeface="Arial"/>
              <a:buNone/>
            </a:pPr>
            <a:r>
              <a:rPr b="1" lang="en-US" sz="1725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Lógica de evaluación de crédito</a:t>
            </a:r>
            <a:endParaRPr sz="17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8"/>
          <p:cNvSpPr/>
          <p:nvPr/>
        </p:nvSpPr>
        <p:spPr>
          <a:xfrm>
            <a:off x="11801475" y="3445966"/>
            <a:ext cx="5631371" cy="9977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3260"/>
              </a:buClr>
              <a:buSzPts val="1248"/>
              <a:buFont typeface="Consolas"/>
              <a:buNone/>
            </a:pPr>
            <a:r>
              <a:rPr b="1" lang="en-US" sz="1249">
                <a:solidFill>
                  <a:srgbClr val="1A3260"/>
                </a:solidFill>
                <a:latin typeface="Consolas"/>
                <a:ea typeface="Consolas"/>
                <a:cs typeface="Consolas"/>
                <a:sym typeface="Consolas"/>
              </a:rPr>
              <a:t>verificarYCrearCredito() </a:t>
            </a:r>
            <a:r>
              <a:rPr lang="en-US" sz="1249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aplica: (1) cliente registrado en </a:t>
            </a:r>
            <a:r>
              <a:rPr b="1" lang="en-US" sz="1249">
                <a:solidFill>
                  <a:srgbClr val="1A3260"/>
                </a:solidFill>
                <a:latin typeface="Consolas"/>
                <a:ea typeface="Consolas"/>
                <a:cs typeface="Consolas"/>
                <a:sym typeface="Consolas"/>
              </a:rPr>
              <a:t>banco_core_db</a:t>
            </a:r>
            <a:r>
              <a:rPr lang="en-US" sz="1249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; (2) si es masculino, </a:t>
            </a:r>
            <a:r>
              <a:rPr b="1" lang="en-US" sz="1249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≥ 25 años </a:t>
            </a:r>
            <a:r>
              <a:rPr lang="en-US" sz="1249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; (3) cuenta activa con saldo para la 1ª cuota; (4) plazo entre </a:t>
            </a:r>
            <a:r>
              <a:rPr b="1" lang="en-US" sz="1249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3 y 18 meses</a:t>
            </a:r>
            <a:r>
              <a:rPr lang="en-US" sz="1249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; (5) tasa </a:t>
            </a:r>
            <a:r>
              <a:rPr b="1" lang="en-US" sz="1249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16.5% anual </a:t>
            </a:r>
            <a:r>
              <a:rPr lang="en-US" sz="1249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(1.375% mensual).</a:t>
            </a:r>
            <a:endParaRPr sz="124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8"/>
          <p:cNvSpPr/>
          <p:nvPr/>
        </p:nvSpPr>
        <p:spPr>
          <a:xfrm>
            <a:off x="5143500" y="5074146"/>
            <a:ext cx="12382500" cy="1309688"/>
          </a:xfrm>
          <a:prstGeom prst="roundRect">
            <a:avLst>
              <a:gd fmla="val 2909" name="adj"/>
            </a:avLst>
          </a:prstGeom>
          <a:solidFill>
            <a:srgbClr val="1A32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8"/>
          <p:cNvSpPr/>
          <p:nvPr/>
        </p:nvSpPr>
        <p:spPr>
          <a:xfrm>
            <a:off x="5448300" y="5367040"/>
            <a:ext cx="555340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CBE8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45CBE8"/>
                </a:solidFill>
                <a:latin typeface="Arial"/>
                <a:ea typeface="Arial"/>
                <a:cs typeface="Arial"/>
                <a:sym typeface="Arial"/>
              </a:rPr>
              <a:t>AMORTIZACIÓN FRANCESA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8"/>
          <p:cNvSpPr/>
          <p:nvPr/>
        </p:nvSpPr>
        <p:spPr>
          <a:xfrm>
            <a:off x="5448300" y="5643265"/>
            <a:ext cx="555340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onsolas"/>
              <a:buNone/>
            </a:pPr>
            <a:r>
              <a:rPr b="1" lang="en-US" sz="3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 = P · r / (1 − (1+r)</a:t>
            </a:r>
            <a:r>
              <a:rPr b="1" baseline="30000" lang="en-US" sz="16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−n</a:t>
            </a:r>
            <a:r>
              <a:rPr b="1" lang="en-US" sz="3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8"/>
          <p:cNvSpPr/>
          <p:nvPr/>
        </p:nvSpPr>
        <p:spPr>
          <a:xfrm>
            <a:off x="10877848" y="5321796"/>
            <a:ext cx="19050" cy="814388"/>
          </a:xfrm>
          <a:prstGeom prst="rect">
            <a:avLst/>
          </a:prstGeom>
          <a:solidFill>
            <a:srgbClr val="2F4C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8"/>
          <p:cNvSpPr/>
          <p:nvPr/>
        </p:nvSpPr>
        <p:spPr>
          <a:xfrm>
            <a:off x="11182648" y="5321796"/>
            <a:ext cx="6228853" cy="8524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25"/>
              <a:buFont typeface="Arial"/>
              <a:buNone/>
            </a:pPr>
            <a:r>
              <a:rPr b="1" lang="en-US" sz="142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 </a:t>
            </a:r>
            <a:r>
              <a:rPr lang="en-US" sz="1425">
                <a:solidFill>
                  <a:srgbClr val="BFD6E8"/>
                </a:solidFill>
                <a:latin typeface="Arial"/>
                <a:ea typeface="Arial"/>
                <a:cs typeface="Arial"/>
                <a:sym typeface="Arial"/>
              </a:rPr>
              <a:t>= monto del crédito · </a:t>
            </a:r>
            <a:r>
              <a:rPr b="1" lang="en-US" sz="142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 </a:t>
            </a:r>
            <a:r>
              <a:rPr lang="en-US" sz="1425">
                <a:solidFill>
                  <a:srgbClr val="BFD6E8"/>
                </a:solidFill>
                <a:latin typeface="Arial"/>
                <a:ea typeface="Arial"/>
                <a:cs typeface="Arial"/>
                <a:sym typeface="Arial"/>
              </a:rPr>
              <a:t>= tasa mensual (1.375%) · </a:t>
            </a:r>
            <a:r>
              <a:rPr b="1" lang="en-US" sz="142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lang="en-US" sz="1425">
                <a:solidFill>
                  <a:srgbClr val="BFD6E8"/>
                </a:solidFill>
                <a:latin typeface="Arial"/>
                <a:ea typeface="Arial"/>
                <a:cs typeface="Arial"/>
                <a:sym typeface="Arial"/>
              </a:rPr>
              <a:t>= plazo en meses. Si aprueba, se crea el registro </a:t>
            </a:r>
            <a:r>
              <a:rPr b="1" lang="en-US" sz="1425">
                <a:solidFill>
                  <a:srgbClr val="45CBE8"/>
                </a:solidFill>
                <a:latin typeface="Consolas"/>
                <a:ea typeface="Consolas"/>
                <a:cs typeface="Consolas"/>
                <a:sym typeface="Consolas"/>
              </a:rPr>
              <a:t>CREDITO </a:t>
            </a:r>
            <a:r>
              <a:rPr lang="en-US" sz="1425">
                <a:solidFill>
                  <a:srgbClr val="BFD6E8"/>
                </a:solidFill>
                <a:latin typeface="Arial"/>
                <a:ea typeface="Arial"/>
                <a:cs typeface="Arial"/>
                <a:sym typeface="Arial"/>
              </a:rPr>
              <a:t>y su </a:t>
            </a:r>
            <a:r>
              <a:rPr b="1" lang="en-US" sz="1425">
                <a:solidFill>
                  <a:srgbClr val="45CBE8"/>
                </a:solidFill>
                <a:latin typeface="Consolas"/>
                <a:ea typeface="Consolas"/>
                <a:cs typeface="Consolas"/>
                <a:sym typeface="Consolas"/>
              </a:rPr>
              <a:t>TABLA_AMORTIZACION </a:t>
            </a:r>
            <a:r>
              <a:rPr lang="en-US" sz="1425">
                <a:solidFill>
                  <a:srgbClr val="BFD6E8"/>
                </a:solidFill>
                <a:latin typeface="Arial"/>
                <a:ea typeface="Arial"/>
                <a:cs typeface="Arial"/>
                <a:sym typeface="Arial"/>
              </a:rPr>
              <a:t>completa.</a:t>
            </a:r>
            <a:endParaRPr sz="14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8"/>
          <p:cNvSpPr/>
          <p:nvPr/>
        </p:nvSpPr>
        <p:spPr>
          <a:xfrm>
            <a:off x="5143500" y="9772650"/>
            <a:ext cx="594238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10"/>
              <a:buFont typeface="Arial"/>
              <a:buNone/>
            </a:pPr>
            <a:r>
              <a:rPr b="1" lang="en-US" sz="111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TP_SOAP_JAVA_MASHUP_AWS_G5 · 03 MARCO TEÓRICO</a:t>
            </a:r>
            <a:endParaRPr sz="111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8"/>
          <p:cNvSpPr/>
          <p:nvPr/>
        </p:nvSpPr>
        <p:spPr>
          <a:xfrm>
            <a:off x="17571393" y="9744075"/>
            <a:ext cx="335607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4590B8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8"/>
          <p:cNvSpPr/>
          <p:nvPr/>
        </p:nvSpPr>
        <p:spPr>
          <a:xfrm>
            <a:off x="0" y="10153650"/>
            <a:ext cx="18288000" cy="133350"/>
          </a:xfrm>
          <a:prstGeom prst="rect">
            <a:avLst/>
          </a:prstGeom>
          <a:gradFill>
            <a:gsLst>
              <a:gs pos="0">
                <a:srgbClr val="1A3260"/>
              </a:gs>
              <a:gs pos="50000">
                <a:srgbClr val="1A3260"/>
              </a:gs>
              <a:gs pos="75000">
                <a:srgbClr val="42955F"/>
              </a:gs>
              <a:gs pos="100000">
                <a:srgbClr val="E8821E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1" name="Google Shape;27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22265"/>
            <a:ext cx="18288000" cy="3455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9"/>
          <p:cNvSpPr/>
          <p:nvPr/>
        </p:nvSpPr>
        <p:spPr>
          <a:xfrm>
            <a:off x="0" y="0"/>
            <a:ext cx="4381500" cy="10287000"/>
          </a:xfrm>
          <a:prstGeom prst="rect">
            <a:avLst/>
          </a:prstGeom>
          <a:solidFill>
            <a:srgbClr val="1A32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9"/>
          <p:cNvSpPr/>
          <p:nvPr/>
        </p:nvSpPr>
        <p:spPr>
          <a:xfrm>
            <a:off x="533400" y="628650"/>
            <a:ext cx="133350" cy="133350"/>
          </a:xfrm>
          <a:prstGeom prst="rect">
            <a:avLst/>
          </a:prstGeom>
          <a:solidFill>
            <a:srgbClr val="45C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9"/>
          <p:cNvSpPr/>
          <p:nvPr/>
        </p:nvSpPr>
        <p:spPr>
          <a:xfrm>
            <a:off x="800100" y="571500"/>
            <a:ext cx="2327478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MARCO TEÓRICO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9"/>
          <p:cNvSpPr/>
          <p:nvPr/>
        </p:nvSpPr>
        <p:spPr>
          <a:xfrm>
            <a:off x="533400" y="1219200"/>
            <a:ext cx="4000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CBE8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45CBE8"/>
                </a:solidFill>
                <a:latin typeface="Arial"/>
                <a:ea typeface="Arial"/>
                <a:cs typeface="Arial"/>
                <a:sym typeface="Arial"/>
              </a:rPr>
              <a:t>3.1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9"/>
          <p:cNvSpPr/>
          <p:nvPr/>
        </p:nvSpPr>
        <p:spPr>
          <a:xfrm>
            <a:off x="990600" y="1257300"/>
            <a:ext cx="1510754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6E8"/>
              </a:buClr>
              <a:buSzPts val="1575"/>
              <a:buFont typeface="Arial"/>
              <a:buNone/>
            </a:pPr>
            <a:r>
              <a:rPr lang="en-US" sz="1575">
                <a:solidFill>
                  <a:srgbClr val="BFD6E8"/>
                </a:solidFill>
                <a:latin typeface="Arial"/>
                <a:ea typeface="Arial"/>
                <a:cs typeface="Arial"/>
                <a:sym typeface="Arial"/>
              </a:rPr>
              <a:t>Patrón Mashup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9"/>
          <p:cNvSpPr/>
          <p:nvPr/>
        </p:nvSpPr>
        <p:spPr>
          <a:xfrm>
            <a:off x="533400" y="1628775"/>
            <a:ext cx="4000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CBE8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45CBE8"/>
                </a:solidFill>
                <a:latin typeface="Arial"/>
                <a:ea typeface="Arial"/>
                <a:cs typeface="Arial"/>
                <a:sym typeface="Arial"/>
              </a:rPr>
              <a:t>3.2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9"/>
          <p:cNvSpPr/>
          <p:nvPr/>
        </p:nvSpPr>
        <p:spPr>
          <a:xfrm>
            <a:off x="990600" y="1666875"/>
            <a:ext cx="1911846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6E8"/>
              </a:buClr>
              <a:buSzPts val="1575"/>
              <a:buFont typeface="Arial"/>
              <a:buNone/>
            </a:pPr>
            <a:r>
              <a:rPr lang="en-US" sz="1575">
                <a:solidFill>
                  <a:srgbClr val="BFD6E8"/>
                </a:solidFill>
                <a:latin typeface="Arial"/>
                <a:ea typeface="Arial"/>
                <a:cs typeface="Arial"/>
                <a:sym typeface="Arial"/>
              </a:rPr>
              <a:t>JAX-WS · wsimport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9"/>
          <p:cNvSpPr/>
          <p:nvPr/>
        </p:nvSpPr>
        <p:spPr>
          <a:xfrm>
            <a:off x="533400" y="2038350"/>
            <a:ext cx="4000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CBE8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45CBE8"/>
                </a:solidFill>
                <a:latin typeface="Arial"/>
                <a:ea typeface="Arial"/>
                <a:cs typeface="Arial"/>
                <a:sym typeface="Arial"/>
              </a:rPr>
              <a:t>3.3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9"/>
          <p:cNvSpPr/>
          <p:nvPr/>
        </p:nvSpPr>
        <p:spPr>
          <a:xfrm>
            <a:off x="990600" y="2076450"/>
            <a:ext cx="1044327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6E8"/>
              </a:buClr>
              <a:buSzPts val="1575"/>
              <a:buFont typeface="Arial"/>
              <a:buNone/>
            </a:pPr>
            <a:r>
              <a:rPr lang="en-US" sz="1575">
                <a:solidFill>
                  <a:srgbClr val="BFD6E8"/>
                </a:solidFill>
                <a:latin typeface="Arial"/>
                <a:ea typeface="Arial"/>
                <a:cs typeface="Arial"/>
                <a:sym typeface="Arial"/>
              </a:rPr>
              <a:t>AWS RDS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9"/>
          <p:cNvSpPr/>
          <p:nvPr/>
        </p:nvSpPr>
        <p:spPr>
          <a:xfrm>
            <a:off x="533400" y="2447925"/>
            <a:ext cx="4000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CBE8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45CBE8"/>
                </a:solidFill>
                <a:latin typeface="Arial"/>
                <a:ea typeface="Arial"/>
                <a:cs typeface="Arial"/>
                <a:sym typeface="Arial"/>
              </a:rPr>
              <a:t>3.4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9"/>
          <p:cNvSpPr/>
          <p:nvPr/>
        </p:nvSpPr>
        <p:spPr>
          <a:xfrm>
            <a:off x="990600" y="2486025"/>
            <a:ext cx="1639937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6E8"/>
              </a:buClr>
              <a:buSzPts val="1575"/>
              <a:buFont typeface="Arial"/>
              <a:buNone/>
            </a:pPr>
            <a:r>
              <a:rPr lang="en-US" sz="1575">
                <a:solidFill>
                  <a:srgbClr val="BFD6E8"/>
                </a:solidFill>
                <a:latin typeface="Arial"/>
                <a:ea typeface="Arial"/>
                <a:cs typeface="Arial"/>
                <a:sym typeface="Arial"/>
              </a:rPr>
              <a:t>Crédito bancario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9"/>
          <p:cNvSpPr/>
          <p:nvPr/>
        </p:nvSpPr>
        <p:spPr>
          <a:xfrm>
            <a:off x="533400" y="2857500"/>
            <a:ext cx="4000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3.5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9"/>
          <p:cNvSpPr/>
          <p:nvPr/>
        </p:nvSpPr>
        <p:spPr>
          <a:xfrm>
            <a:off x="990600" y="2857500"/>
            <a:ext cx="178906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AsientoPartido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9"/>
          <p:cNvSpPr/>
          <p:nvPr/>
        </p:nvSpPr>
        <p:spPr>
          <a:xfrm>
            <a:off x="533400" y="3267075"/>
            <a:ext cx="4000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3.6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9"/>
          <p:cNvSpPr/>
          <p:nvPr/>
        </p:nvSpPr>
        <p:spPr>
          <a:xfrm>
            <a:off x="990600" y="3267075"/>
            <a:ext cx="236071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SOAP manual · DOM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9"/>
          <p:cNvSpPr/>
          <p:nvPr/>
        </p:nvSpPr>
        <p:spPr>
          <a:xfrm>
            <a:off x="533400" y="9563100"/>
            <a:ext cx="37719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A2BF"/>
              </a:buClr>
              <a:buSzPts val="971"/>
              <a:buFont typeface="Arial"/>
              <a:buNone/>
            </a:pPr>
            <a:r>
              <a:rPr lang="en-US" sz="971">
                <a:solidFill>
                  <a:srgbClr val="7FA2BF"/>
                </a:solidFill>
                <a:latin typeface="Arial"/>
                <a:ea typeface="Arial"/>
                <a:cs typeface="Arial"/>
                <a:sym typeface="Arial"/>
              </a:rPr>
              <a:t>GR05 · 2026</a:t>
            </a:r>
            <a:endParaRPr sz="97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9"/>
          <p:cNvSpPr/>
          <p:nvPr/>
        </p:nvSpPr>
        <p:spPr>
          <a:xfrm>
            <a:off x="5143500" y="571500"/>
            <a:ext cx="13620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4590B8"/>
                </a:solidFill>
                <a:latin typeface="Arial"/>
                <a:ea typeface="Arial"/>
                <a:cs typeface="Arial"/>
                <a:sym typeface="Arial"/>
              </a:rPr>
              <a:t>03 · MARCO TEÓRICO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9"/>
          <p:cNvSpPr/>
          <p:nvPr/>
        </p:nvSpPr>
        <p:spPr>
          <a:xfrm>
            <a:off x="5143500" y="952500"/>
            <a:ext cx="12753975" cy="11980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3260"/>
              </a:buClr>
              <a:buSzPts val="4350"/>
              <a:buFont typeface="Arial"/>
              <a:buNone/>
            </a:pPr>
            <a:r>
              <a:rPr b="1" lang="en-US" sz="4350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Asientos individuales y </a:t>
            </a:r>
            <a:r>
              <a:rPr b="1" lang="en-US" sz="4350">
                <a:solidFill>
                  <a:srgbClr val="42955F"/>
                </a:solidFill>
                <a:latin typeface="Arial"/>
                <a:ea typeface="Arial"/>
                <a:cs typeface="Arial"/>
                <a:sym typeface="Arial"/>
              </a:rPr>
              <a:t>SOAP manual con DOM</a:t>
            </a:r>
            <a:endParaRPr sz="4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9"/>
          <p:cNvSpPr/>
          <p:nvPr/>
        </p:nvSpPr>
        <p:spPr>
          <a:xfrm>
            <a:off x="5143500" y="2188666"/>
            <a:ext cx="1143000" cy="57150"/>
          </a:xfrm>
          <a:prstGeom prst="rect">
            <a:avLst/>
          </a:prstGeom>
          <a:solidFill>
            <a:srgbClr val="C124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9"/>
          <p:cNvSpPr/>
          <p:nvPr/>
        </p:nvSpPr>
        <p:spPr>
          <a:xfrm>
            <a:off x="5143500" y="2607766"/>
            <a:ext cx="6048375" cy="2256830"/>
          </a:xfrm>
          <a:prstGeom prst="roundRect">
            <a:avLst>
              <a:gd fmla="val 168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9"/>
          <p:cNvSpPr/>
          <p:nvPr/>
        </p:nvSpPr>
        <p:spPr>
          <a:xfrm>
            <a:off x="5143500" y="4855071"/>
            <a:ext cx="6048375" cy="9525"/>
          </a:xfrm>
          <a:prstGeom prst="rect">
            <a:avLst/>
          </a:prstGeom>
          <a:solidFill>
            <a:srgbClr val="DBE3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9"/>
          <p:cNvSpPr/>
          <p:nvPr/>
        </p:nvSpPr>
        <p:spPr>
          <a:xfrm>
            <a:off x="5143500" y="2607766"/>
            <a:ext cx="6048375" cy="9525"/>
          </a:xfrm>
          <a:prstGeom prst="rect">
            <a:avLst/>
          </a:prstGeom>
          <a:solidFill>
            <a:srgbClr val="DBE3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9"/>
          <p:cNvSpPr/>
          <p:nvPr/>
        </p:nvSpPr>
        <p:spPr>
          <a:xfrm>
            <a:off x="5143500" y="2607766"/>
            <a:ext cx="76200" cy="2256830"/>
          </a:xfrm>
          <a:prstGeom prst="rect">
            <a:avLst/>
          </a:prstGeom>
          <a:solidFill>
            <a:srgbClr val="4295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9"/>
          <p:cNvSpPr/>
          <p:nvPr/>
        </p:nvSpPr>
        <p:spPr>
          <a:xfrm>
            <a:off x="11182350" y="2607766"/>
            <a:ext cx="9525" cy="2256830"/>
          </a:xfrm>
          <a:prstGeom prst="rect">
            <a:avLst/>
          </a:prstGeom>
          <a:solidFill>
            <a:srgbClr val="DBE3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9"/>
          <p:cNvSpPr/>
          <p:nvPr/>
        </p:nvSpPr>
        <p:spPr>
          <a:xfrm>
            <a:off x="5467350" y="2826841"/>
            <a:ext cx="601408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4590B8"/>
                </a:solidFill>
                <a:latin typeface="Arial"/>
                <a:ea typeface="Arial"/>
                <a:cs typeface="Arial"/>
                <a:sym typeface="Arial"/>
              </a:rPr>
              <a:t>3.5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9"/>
          <p:cNvSpPr/>
          <p:nvPr/>
        </p:nvSpPr>
        <p:spPr>
          <a:xfrm>
            <a:off x="5467350" y="3064966"/>
            <a:ext cx="601408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260"/>
              </a:buClr>
              <a:buSzPts val="1725"/>
              <a:buFont typeface="Arial"/>
              <a:buNone/>
            </a:pPr>
            <a:r>
              <a:rPr b="1" lang="en-US" sz="1725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AsientoPartido · reserva temporal</a:t>
            </a:r>
            <a:endParaRPr sz="17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9"/>
          <p:cNvSpPr/>
          <p:nvPr/>
        </p:nvSpPr>
        <p:spPr>
          <a:xfrm>
            <a:off x="5467350" y="3445966"/>
            <a:ext cx="5631371" cy="123765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48"/>
              <a:buFont typeface="Arial"/>
              <a:buNone/>
            </a:pPr>
            <a:r>
              <a:rPr b="1" lang="en-US" sz="1249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AsientoPartido </a:t>
            </a:r>
            <a:r>
              <a:rPr lang="en-US" sz="1249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representa un asiento específico de una localidad: </a:t>
            </a:r>
            <a:r>
              <a:rPr b="1" lang="en-US" sz="1249">
                <a:solidFill>
                  <a:srgbClr val="1A3260"/>
                </a:solidFill>
                <a:latin typeface="Consolas"/>
                <a:ea typeface="Consolas"/>
                <a:cs typeface="Consolas"/>
                <a:sym typeface="Consolas"/>
              </a:rPr>
              <a:t>FILA</a:t>
            </a:r>
            <a:r>
              <a:rPr lang="en-US" sz="1249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-US" sz="1249">
                <a:solidFill>
                  <a:srgbClr val="1A3260"/>
                </a:solidFill>
                <a:latin typeface="Consolas"/>
                <a:ea typeface="Consolas"/>
                <a:cs typeface="Consolas"/>
                <a:sym typeface="Consolas"/>
              </a:rPr>
              <a:t>NUMERO</a:t>
            </a:r>
            <a:r>
              <a:rPr lang="en-US" sz="1249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-US" sz="1249">
                <a:solidFill>
                  <a:srgbClr val="1A3260"/>
                </a:solidFill>
                <a:latin typeface="Consolas"/>
                <a:ea typeface="Consolas"/>
                <a:cs typeface="Consolas"/>
                <a:sym typeface="Consolas"/>
              </a:rPr>
              <a:t>ESTADO </a:t>
            </a:r>
            <a:r>
              <a:rPr lang="en-US" sz="1249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(DISPONIBLE/OCUPADO/RESERVADO) y una </a:t>
            </a:r>
            <a:r>
              <a:rPr b="1" lang="en-US" sz="1249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reserva temporal de 10 min</a:t>
            </a:r>
            <a:r>
              <a:rPr lang="en-US" sz="1249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b="1" lang="en-US" sz="1249">
                <a:solidFill>
                  <a:srgbClr val="1A3260"/>
                </a:solidFill>
                <a:latin typeface="Consolas"/>
                <a:ea typeface="Consolas"/>
                <a:cs typeface="Consolas"/>
                <a:sym typeface="Consolas"/>
              </a:rPr>
              <a:t>obtenerAsientosPartido() </a:t>
            </a:r>
            <a:r>
              <a:rPr lang="en-US" sz="1249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lista los asientos y </a:t>
            </a:r>
            <a:r>
              <a:rPr b="1" lang="en-US" sz="1249">
                <a:solidFill>
                  <a:srgbClr val="1A3260"/>
                </a:solidFill>
                <a:latin typeface="Consolas"/>
                <a:ea typeface="Consolas"/>
                <a:cs typeface="Consolas"/>
                <a:sym typeface="Consolas"/>
              </a:rPr>
              <a:t>reservarAsientoTemporal() </a:t>
            </a:r>
            <a:r>
              <a:rPr lang="en-US" sz="1249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bloquea uno durante la compra — concurrencia optimista contra la doble venta.</a:t>
            </a:r>
            <a:endParaRPr sz="124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9"/>
          <p:cNvSpPr/>
          <p:nvPr/>
        </p:nvSpPr>
        <p:spPr>
          <a:xfrm>
            <a:off x="5143500" y="5036046"/>
            <a:ext cx="6048375" cy="2256830"/>
          </a:xfrm>
          <a:prstGeom prst="roundRect">
            <a:avLst>
              <a:gd fmla="val 168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9"/>
          <p:cNvSpPr/>
          <p:nvPr/>
        </p:nvSpPr>
        <p:spPr>
          <a:xfrm>
            <a:off x="5143500" y="7283351"/>
            <a:ext cx="6048375" cy="9525"/>
          </a:xfrm>
          <a:prstGeom prst="rect">
            <a:avLst/>
          </a:prstGeom>
          <a:solidFill>
            <a:srgbClr val="DBE3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9"/>
          <p:cNvSpPr/>
          <p:nvPr/>
        </p:nvSpPr>
        <p:spPr>
          <a:xfrm>
            <a:off x="5143500" y="5036046"/>
            <a:ext cx="6048375" cy="9525"/>
          </a:xfrm>
          <a:prstGeom prst="rect">
            <a:avLst/>
          </a:prstGeom>
          <a:solidFill>
            <a:srgbClr val="DBE3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9"/>
          <p:cNvSpPr/>
          <p:nvPr/>
        </p:nvSpPr>
        <p:spPr>
          <a:xfrm>
            <a:off x="5143500" y="5036046"/>
            <a:ext cx="76200" cy="2256830"/>
          </a:xfrm>
          <a:prstGeom prst="rect">
            <a:avLst/>
          </a:prstGeom>
          <a:solidFill>
            <a:srgbClr val="E882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9"/>
          <p:cNvSpPr/>
          <p:nvPr/>
        </p:nvSpPr>
        <p:spPr>
          <a:xfrm>
            <a:off x="11182350" y="5036046"/>
            <a:ext cx="9525" cy="2256830"/>
          </a:xfrm>
          <a:prstGeom prst="rect">
            <a:avLst/>
          </a:prstGeom>
          <a:solidFill>
            <a:srgbClr val="DBE3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9"/>
          <p:cNvSpPr/>
          <p:nvPr/>
        </p:nvSpPr>
        <p:spPr>
          <a:xfrm>
            <a:off x="5467350" y="5255121"/>
            <a:ext cx="601408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F0E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B45F0E"/>
                </a:solidFill>
                <a:latin typeface="Arial"/>
                <a:ea typeface="Arial"/>
                <a:cs typeface="Arial"/>
                <a:sym typeface="Arial"/>
              </a:rPr>
              <a:t>3.6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9"/>
          <p:cNvSpPr/>
          <p:nvPr/>
        </p:nvSpPr>
        <p:spPr>
          <a:xfrm>
            <a:off x="5467350" y="5493246"/>
            <a:ext cx="601408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260"/>
              </a:buClr>
              <a:buSzPts val="1725"/>
              <a:buFont typeface="Arial"/>
              <a:buNone/>
            </a:pPr>
            <a:r>
              <a:rPr b="1" lang="en-US" sz="1725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BancoSoapClient · SOAP manual + DOM</a:t>
            </a:r>
            <a:endParaRPr sz="17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9"/>
          <p:cNvSpPr/>
          <p:nvPr/>
        </p:nvSpPr>
        <p:spPr>
          <a:xfrm>
            <a:off x="5467350" y="5874246"/>
            <a:ext cx="5631371" cy="123765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48"/>
              <a:buFont typeface="Arial"/>
              <a:buNone/>
            </a:pPr>
            <a:r>
              <a:rPr lang="en-US" sz="1249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Para </a:t>
            </a:r>
            <a:r>
              <a:rPr b="1" lang="en-US" sz="1249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WSBancoCore</a:t>
            </a:r>
            <a:r>
              <a:rPr lang="en-US" sz="1249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, los clientes Java usan </a:t>
            </a:r>
            <a:r>
              <a:rPr b="1" lang="en-US" sz="1249">
                <a:solidFill>
                  <a:srgbClr val="1A3260"/>
                </a:solidFill>
                <a:latin typeface="Consolas"/>
                <a:ea typeface="Consolas"/>
                <a:cs typeface="Consolas"/>
                <a:sym typeface="Consolas"/>
              </a:rPr>
              <a:t>BancoSoapClient </a:t>
            </a:r>
            <a:r>
              <a:rPr lang="en-US" sz="1249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: construyen el envelope como </a:t>
            </a:r>
            <a:r>
              <a:rPr b="1" lang="en-US" sz="1249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String XML</a:t>
            </a:r>
            <a:r>
              <a:rPr lang="en-US" sz="1249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, lo envían con </a:t>
            </a:r>
            <a:r>
              <a:rPr b="1" lang="en-US" sz="1249">
                <a:solidFill>
                  <a:srgbClr val="1A3260"/>
                </a:solidFill>
                <a:latin typeface="Consolas"/>
                <a:ea typeface="Consolas"/>
                <a:cs typeface="Consolas"/>
                <a:sym typeface="Consolas"/>
              </a:rPr>
              <a:t>HttpURLConnection </a:t>
            </a:r>
            <a:r>
              <a:rPr lang="en-US" sz="1249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lang="en-US" sz="1249">
                <a:solidFill>
                  <a:srgbClr val="1A3260"/>
                </a:solidFill>
                <a:latin typeface="Consolas"/>
                <a:ea typeface="Consolas"/>
                <a:cs typeface="Consolas"/>
                <a:sym typeface="Consolas"/>
              </a:rPr>
              <a:t>text/xml</a:t>
            </a:r>
            <a:r>
              <a:rPr lang="en-US" sz="1249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) y parsean la respuesta con </a:t>
            </a:r>
            <a:r>
              <a:rPr b="1" lang="en-US" sz="1249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DOM </a:t>
            </a:r>
            <a:r>
              <a:rPr lang="en-US" sz="1249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lang="en-US" sz="1249">
                <a:solidFill>
                  <a:srgbClr val="1A3260"/>
                </a:solidFill>
                <a:latin typeface="Consolas"/>
                <a:ea typeface="Consolas"/>
                <a:cs typeface="Consolas"/>
                <a:sym typeface="Consolas"/>
              </a:rPr>
              <a:t>DocumentBuilder</a:t>
            </a:r>
            <a:r>
              <a:rPr lang="en-US" sz="1249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-US" sz="1249">
                <a:solidFill>
                  <a:srgbClr val="1A3260"/>
                </a:solidFill>
                <a:latin typeface="Consolas"/>
                <a:ea typeface="Consolas"/>
                <a:cs typeface="Consolas"/>
                <a:sym typeface="Consolas"/>
              </a:rPr>
              <a:t>NodeList </a:t>
            </a:r>
            <a:r>
              <a:rPr lang="en-US" sz="1249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) — ideal para extraer las cuotas anidadas de amortización.</a:t>
            </a:r>
            <a:endParaRPr sz="124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9"/>
          <p:cNvSpPr/>
          <p:nvPr/>
        </p:nvSpPr>
        <p:spPr>
          <a:xfrm>
            <a:off x="11477625" y="2607766"/>
            <a:ext cx="6048375" cy="4679007"/>
          </a:xfrm>
          <a:prstGeom prst="roundRect">
            <a:avLst>
              <a:gd fmla="val 1629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9"/>
          <p:cNvSpPr/>
          <p:nvPr/>
        </p:nvSpPr>
        <p:spPr>
          <a:xfrm>
            <a:off x="11725275" y="2817316"/>
            <a:ext cx="5734526" cy="429800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787"/>
              <a:buFont typeface="Consolas"/>
              <a:buNone/>
            </a:pPr>
            <a:r>
              <a:rPr lang="en-US" sz="788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String </a:t>
            </a:r>
            <a:r>
              <a:rPr lang="en-US" sz="788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soap =</a:t>
            </a:r>
            <a:endParaRPr sz="78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87"/>
              <a:buFont typeface="Consolas"/>
              <a:buNone/>
            </a:pPr>
            <a:r>
              <a:rPr lang="en-US" sz="788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endParaRPr sz="78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A5D6FF"/>
              </a:buClr>
              <a:buSzPts val="787"/>
              <a:buFont typeface="Consolas"/>
              <a:buNone/>
            </a:pPr>
            <a:r>
              <a:rPr lang="en-US" sz="788">
                <a:solidFill>
                  <a:srgbClr val="A5D6FF"/>
                </a:solidFill>
                <a:latin typeface="Consolas"/>
                <a:ea typeface="Consolas"/>
                <a:cs typeface="Consolas"/>
                <a:sym typeface="Consolas"/>
              </a:rPr>
              <a:t>"&lt;soapenv:Envelope xmlns:soapenv=...\n" </a:t>
            </a:r>
            <a:r>
              <a:rPr lang="en-US" sz="788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+</a:t>
            </a:r>
            <a:endParaRPr sz="78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87"/>
              <a:buFont typeface="Consolas"/>
              <a:buNone/>
            </a:pPr>
            <a:r>
              <a:rPr lang="en-US" sz="788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endParaRPr sz="78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A5D6FF"/>
              </a:buClr>
              <a:buSzPts val="787"/>
              <a:buFont typeface="Consolas"/>
              <a:buNone/>
            </a:pPr>
            <a:r>
              <a:rPr lang="en-US" sz="788">
                <a:solidFill>
                  <a:srgbClr val="A5D6FF"/>
                </a:solidFill>
                <a:latin typeface="Consolas"/>
                <a:ea typeface="Consolas"/>
                <a:cs typeface="Consolas"/>
                <a:sym typeface="Consolas"/>
              </a:rPr>
              <a:t>"   xmlns:ws=\"http://ws.monster.edu.ec/\"&gt;" </a:t>
            </a:r>
            <a:r>
              <a:rPr lang="en-US" sz="788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+</a:t>
            </a:r>
            <a:endParaRPr sz="78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87"/>
              <a:buFont typeface="Consolas"/>
              <a:buNone/>
            </a:pPr>
            <a:r>
              <a:rPr lang="en-US" sz="788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endParaRPr sz="78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A5D6FF"/>
              </a:buClr>
              <a:buSzPts val="787"/>
              <a:buFont typeface="Consolas"/>
              <a:buNone/>
            </a:pPr>
            <a:r>
              <a:rPr lang="en-US" sz="788">
                <a:solidFill>
                  <a:srgbClr val="A5D6FF"/>
                </a:solidFill>
                <a:latin typeface="Consolas"/>
                <a:ea typeface="Consolas"/>
                <a:cs typeface="Consolas"/>
                <a:sym typeface="Consolas"/>
              </a:rPr>
              <a:t>"&lt;soapenv:Body&gt;" </a:t>
            </a:r>
            <a:r>
              <a:rPr lang="en-US" sz="788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+</a:t>
            </a:r>
            <a:endParaRPr sz="78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87"/>
              <a:buFont typeface="Consolas"/>
              <a:buNone/>
            </a:pPr>
            <a:r>
              <a:rPr lang="en-US" sz="788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endParaRPr sz="78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A5D6FF"/>
              </a:buClr>
              <a:buSzPts val="787"/>
              <a:buFont typeface="Consolas"/>
              <a:buNone/>
            </a:pPr>
            <a:r>
              <a:rPr lang="en-US" sz="788">
                <a:solidFill>
                  <a:srgbClr val="A5D6FF"/>
                </a:solidFill>
                <a:latin typeface="Consolas"/>
                <a:ea typeface="Consolas"/>
                <a:cs typeface="Consolas"/>
                <a:sym typeface="Consolas"/>
              </a:rPr>
              <a:t>"&lt;ws:verificarYCrearCredito&gt;" </a:t>
            </a:r>
            <a:r>
              <a:rPr lang="en-US" sz="788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+</a:t>
            </a:r>
            <a:endParaRPr sz="78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87"/>
              <a:buFont typeface="Consolas"/>
              <a:buNone/>
            </a:pPr>
            <a:r>
              <a:rPr lang="en-US" sz="788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endParaRPr sz="78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A5D6FF"/>
              </a:buClr>
              <a:buSzPts val="787"/>
              <a:buFont typeface="Consolas"/>
              <a:buNone/>
            </a:pPr>
            <a:r>
              <a:rPr lang="en-US" sz="788">
                <a:solidFill>
                  <a:srgbClr val="A5D6FF"/>
                </a:solidFill>
                <a:latin typeface="Consolas"/>
                <a:ea typeface="Consolas"/>
                <a:cs typeface="Consolas"/>
                <a:sym typeface="Consolas"/>
              </a:rPr>
              <a:t>"  &lt;cedula&gt;"</a:t>
            </a:r>
            <a:r>
              <a:rPr lang="en-US" sz="788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+ cedula + </a:t>
            </a:r>
            <a:r>
              <a:rPr lang="en-US" sz="788">
                <a:solidFill>
                  <a:srgbClr val="A5D6FF"/>
                </a:solidFill>
                <a:latin typeface="Consolas"/>
                <a:ea typeface="Consolas"/>
                <a:cs typeface="Consolas"/>
                <a:sym typeface="Consolas"/>
              </a:rPr>
              <a:t>"&lt;/cedula&gt;" </a:t>
            </a:r>
            <a:r>
              <a:rPr lang="en-US" sz="788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+</a:t>
            </a:r>
            <a:endParaRPr sz="78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87"/>
              <a:buFont typeface="Consolas"/>
              <a:buNone/>
            </a:pPr>
            <a:r>
              <a:rPr lang="en-US" sz="788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endParaRPr sz="78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A5D6FF"/>
              </a:buClr>
              <a:buSzPts val="787"/>
              <a:buFont typeface="Consolas"/>
              <a:buNone/>
            </a:pPr>
            <a:r>
              <a:rPr lang="en-US" sz="788">
                <a:solidFill>
                  <a:srgbClr val="A5D6FF"/>
                </a:solidFill>
                <a:latin typeface="Consolas"/>
                <a:ea typeface="Consolas"/>
                <a:cs typeface="Consolas"/>
                <a:sym typeface="Consolas"/>
              </a:rPr>
              <a:t>"  &lt;montoCompra&gt;"</a:t>
            </a:r>
            <a:r>
              <a:rPr lang="en-US" sz="788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+ monto + </a:t>
            </a:r>
            <a:r>
              <a:rPr lang="en-US" sz="788">
                <a:solidFill>
                  <a:srgbClr val="A5D6FF"/>
                </a:solidFill>
                <a:latin typeface="Consolas"/>
                <a:ea typeface="Consolas"/>
                <a:cs typeface="Consolas"/>
                <a:sym typeface="Consolas"/>
              </a:rPr>
              <a:t>"&lt;/montoCompra&gt;" </a:t>
            </a:r>
            <a:r>
              <a:rPr lang="en-US" sz="788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+</a:t>
            </a:r>
            <a:endParaRPr sz="78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87"/>
              <a:buFont typeface="Consolas"/>
              <a:buNone/>
            </a:pPr>
            <a:r>
              <a:rPr lang="en-US" sz="788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endParaRPr sz="78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A5D6FF"/>
              </a:buClr>
              <a:buSzPts val="787"/>
              <a:buFont typeface="Consolas"/>
              <a:buNone/>
            </a:pPr>
            <a:r>
              <a:rPr lang="en-US" sz="788">
                <a:solidFill>
                  <a:srgbClr val="A5D6FF"/>
                </a:solidFill>
                <a:latin typeface="Consolas"/>
                <a:ea typeface="Consolas"/>
                <a:cs typeface="Consolas"/>
                <a:sym typeface="Consolas"/>
              </a:rPr>
              <a:t>"  &lt;plazoMeses&gt;"</a:t>
            </a:r>
            <a:r>
              <a:rPr lang="en-US" sz="788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+ plazo + </a:t>
            </a:r>
            <a:r>
              <a:rPr lang="en-US" sz="788">
                <a:solidFill>
                  <a:srgbClr val="A5D6FF"/>
                </a:solidFill>
                <a:latin typeface="Consolas"/>
                <a:ea typeface="Consolas"/>
                <a:cs typeface="Consolas"/>
                <a:sym typeface="Consolas"/>
              </a:rPr>
              <a:t>"&lt;/plazoMeses&gt;" </a:t>
            </a:r>
            <a:r>
              <a:rPr lang="en-US" sz="788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+</a:t>
            </a:r>
            <a:endParaRPr sz="78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87"/>
              <a:buFont typeface="Consolas"/>
              <a:buNone/>
            </a:pPr>
            <a:r>
              <a:rPr lang="en-US" sz="788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endParaRPr sz="78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A5D6FF"/>
              </a:buClr>
              <a:buSzPts val="787"/>
              <a:buFont typeface="Consolas"/>
              <a:buNone/>
            </a:pPr>
            <a:r>
              <a:rPr lang="en-US" sz="788">
                <a:solidFill>
                  <a:srgbClr val="A5D6FF"/>
                </a:solidFill>
                <a:latin typeface="Consolas"/>
                <a:ea typeface="Consolas"/>
                <a:cs typeface="Consolas"/>
                <a:sym typeface="Consolas"/>
              </a:rPr>
              <a:t>"&lt;/ws:verificarYCrearCredito&gt;" </a:t>
            </a:r>
            <a:r>
              <a:rPr lang="en-US" sz="788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+</a:t>
            </a:r>
            <a:endParaRPr sz="78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87"/>
              <a:buFont typeface="Consolas"/>
              <a:buNone/>
            </a:pPr>
            <a:r>
              <a:rPr lang="en-US" sz="788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endParaRPr sz="78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A5D6FF"/>
              </a:buClr>
              <a:buSzPts val="787"/>
              <a:buFont typeface="Consolas"/>
              <a:buNone/>
            </a:pPr>
            <a:r>
              <a:rPr lang="en-US" sz="788">
                <a:solidFill>
                  <a:srgbClr val="A5D6FF"/>
                </a:solidFill>
                <a:latin typeface="Consolas"/>
                <a:ea typeface="Consolas"/>
                <a:cs typeface="Consolas"/>
                <a:sym typeface="Consolas"/>
              </a:rPr>
              <a:t>"&lt;/soapenv:Body&gt;&lt;/soapenv:Envelope&gt;"</a:t>
            </a:r>
            <a:r>
              <a:rPr lang="en-US" sz="788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i="1" lang="en-US" sz="788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// Envío manual por HttpURLConnection </a:t>
            </a:r>
            <a:r>
              <a:rPr lang="en-US" sz="788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HttpURLConnection</a:t>
            </a:r>
            <a:r>
              <a:rPr lang="en-US" sz="788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c = (</a:t>
            </a:r>
            <a:r>
              <a:rPr lang="en-US" sz="788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HttpURLConnection </a:t>
            </a:r>
            <a:r>
              <a:rPr lang="en-US" sz="788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) url.openConnection();</a:t>
            </a:r>
            <a:endParaRPr sz="78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87"/>
              <a:buFont typeface="Consolas"/>
              <a:buNone/>
            </a:pPr>
            <a:r>
              <a:rPr lang="en-US" sz="788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c.setRequestProperty( </a:t>
            </a:r>
            <a:endParaRPr sz="78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A5D6FF"/>
              </a:buClr>
              <a:buSzPts val="787"/>
              <a:buFont typeface="Consolas"/>
              <a:buNone/>
            </a:pPr>
            <a:r>
              <a:rPr lang="en-US" sz="788">
                <a:solidFill>
                  <a:srgbClr val="A5D6FF"/>
                </a:solidFill>
                <a:latin typeface="Consolas"/>
                <a:ea typeface="Consolas"/>
                <a:cs typeface="Consolas"/>
                <a:sym typeface="Consolas"/>
              </a:rPr>
              <a:t>"Content-Type"</a:t>
            </a:r>
            <a:r>
              <a:rPr lang="en-US" sz="788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88">
                <a:solidFill>
                  <a:srgbClr val="A5D6FF"/>
                </a:solidFill>
                <a:latin typeface="Consolas"/>
                <a:ea typeface="Consolas"/>
                <a:cs typeface="Consolas"/>
                <a:sym typeface="Consolas"/>
              </a:rPr>
              <a:t>"text/xml;charset=UTF-8" </a:t>
            </a:r>
            <a:r>
              <a:rPr lang="en-US" sz="788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78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87"/>
              <a:buFont typeface="Consolas"/>
              <a:buNone/>
            </a:pPr>
            <a:r>
              <a:rPr lang="en-US" sz="788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c.getOutputStream().write(soap.getBytes( </a:t>
            </a:r>
            <a:endParaRPr sz="78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A5D6FF"/>
              </a:buClr>
              <a:buSzPts val="787"/>
              <a:buFont typeface="Consolas"/>
              <a:buNone/>
            </a:pPr>
            <a:r>
              <a:rPr lang="en-US" sz="788">
                <a:solidFill>
                  <a:srgbClr val="A5D6FF"/>
                </a:solidFill>
                <a:latin typeface="Consolas"/>
                <a:ea typeface="Consolas"/>
                <a:cs typeface="Consolas"/>
                <a:sym typeface="Consolas"/>
              </a:rPr>
              <a:t>"UTF-8"</a:t>
            </a:r>
            <a:r>
              <a:rPr lang="en-US" sz="788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)); </a:t>
            </a:r>
            <a:r>
              <a:rPr i="1" lang="en-US" sz="788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// Parseo de la respuesta con DOM </a:t>
            </a:r>
            <a:r>
              <a:rPr lang="en-US" sz="788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Document</a:t>
            </a:r>
            <a:r>
              <a:rPr lang="en-US" sz="788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doc = </a:t>
            </a:r>
            <a:r>
              <a:rPr lang="en-US" sz="788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DocumentBuilderFactory </a:t>
            </a:r>
            <a:r>
              <a:rPr lang="en-US" sz="788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.newInstance()</a:t>
            </a:r>
            <a:endParaRPr sz="78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87"/>
              <a:buFont typeface="Consolas"/>
              <a:buNone/>
            </a:pPr>
            <a:r>
              <a:rPr lang="en-US" sz="788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   .newDocumentBuilder().parse(resp); </a:t>
            </a:r>
            <a:endParaRPr sz="78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787"/>
              <a:buFont typeface="Consolas"/>
              <a:buNone/>
            </a:pPr>
            <a:r>
              <a:rPr lang="en-US" sz="788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Element</a:t>
            </a:r>
            <a:r>
              <a:rPr lang="en-US" sz="788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r = (</a:t>
            </a:r>
            <a:r>
              <a:rPr lang="en-US" sz="788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Element </a:t>
            </a:r>
            <a:r>
              <a:rPr lang="en-US" sz="788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) doc</a:t>
            </a:r>
            <a:endParaRPr sz="78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87"/>
              <a:buFont typeface="Consolas"/>
              <a:buNone/>
            </a:pPr>
            <a:r>
              <a:rPr lang="en-US" sz="788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   .getElementsByTagNameNS(</a:t>
            </a:r>
            <a:endParaRPr sz="78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A5D6FF"/>
              </a:buClr>
              <a:buSzPts val="787"/>
              <a:buFont typeface="Consolas"/>
              <a:buNone/>
            </a:pPr>
            <a:r>
              <a:rPr lang="en-US" sz="788">
                <a:solidFill>
                  <a:srgbClr val="A5D6FF"/>
                </a:solidFill>
                <a:latin typeface="Consolas"/>
                <a:ea typeface="Consolas"/>
                <a:cs typeface="Consolas"/>
                <a:sym typeface="Consolas"/>
              </a:rPr>
              <a:t>"*"</a:t>
            </a:r>
            <a:r>
              <a:rPr lang="en-US" sz="788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88">
                <a:solidFill>
                  <a:srgbClr val="A5D6FF"/>
                </a:solidFill>
                <a:latin typeface="Consolas"/>
                <a:ea typeface="Consolas"/>
                <a:cs typeface="Consolas"/>
                <a:sym typeface="Consolas"/>
              </a:rPr>
              <a:t>"return"</a:t>
            </a:r>
            <a:r>
              <a:rPr lang="en-US" sz="788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).item(</a:t>
            </a:r>
            <a:r>
              <a:rPr lang="en-US" sz="788">
                <a:solidFill>
                  <a:srgbClr val="D2A8FF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788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78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9"/>
          <p:cNvSpPr/>
          <p:nvPr/>
        </p:nvSpPr>
        <p:spPr>
          <a:xfrm>
            <a:off x="5143500" y="9772650"/>
            <a:ext cx="594238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10"/>
              <a:buFont typeface="Arial"/>
              <a:buNone/>
            </a:pPr>
            <a:r>
              <a:rPr b="1" lang="en-US" sz="111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TP_SOAP_JAVA_MASHUP_AWS_G5 · 03 MARCO TEÓRICO</a:t>
            </a:r>
            <a:endParaRPr sz="111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9"/>
          <p:cNvSpPr/>
          <p:nvPr/>
        </p:nvSpPr>
        <p:spPr>
          <a:xfrm>
            <a:off x="17580918" y="9744075"/>
            <a:ext cx="326082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4590B8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9"/>
          <p:cNvSpPr/>
          <p:nvPr/>
        </p:nvSpPr>
        <p:spPr>
          <a:xfrm>
            <a:off x="0" y="10153650"/>
            <a:ext cx="18288000" cy="133350"/>
          </a:xfrm>
          <a:prstGeom prst="rect">
            <a:avLst/>
          </a:prstGeom>
          <a:gradFill>
            <a:gsLst>
              <a:gs pos="0">
                <a:srgbClr val="1A3260"/>
              </a:gs>
              <a:gs pos="50000">
                <a:srgbClr val="1A3260"/>
              </a:gs>
              <a:gs pos="75000">
                <a:srgbClr val="42955F"/>
              </a:gs>
              <a:gs pos="100000">
                <a:srgbClr val="E8821E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7" name="Google Shape;31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22265"/>
            <a:ext cx="18288000" cy="3455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0"/>
          <p:cNvSpPr/>
          <p:nvPr/>
        </p:nvSpPr>
        <p:spPr>
          <a:xfrm>
            <a:off x="0" y="0"/>
            <a:ext cx="4381500" cy="10287000"/>
          </a:xfrm>
          <a:prstGeom prst="rect">
            <a:avLst/>
          </a:prstGeom>
          <a:solidFill>
            <a:srgbClr val="1A32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0"/>
          <p:cNvSpPr/>
          <p:nvPr/>
        </p:nvSpPr>
        <p:spPr>
          <a:xfrm>
            <a:off x="533400" y="628650"/>
            <a:ext cx="133350" cy="133350"/>
          </a:xfrm>
          <a:prstGeom prst="rect">
            <a:avLst/>
          </a:prstGeom>
          <a:solidFill>
            <a:srgbClr val="45C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0"/>
          <p:cNvSpPr/>
          <p:nvPr/>
        </p:nvSpPr>
        <p:spPr>
          <a:xfrm>
            <a:off x="800100" y="571500"/>
            <a:ext cx="2828761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 · ARQUITECTURA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0"/>
          <p:cNvSpPr/>
          <p:nvPr/>
        </p:nvSpPr>
        <p:spPr>
          <a:xfrm>
            <a:off x="533400" y="1219200"/>
            <a:ext cx="4000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4.1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0"/>
          <p:cNvSpPr/>
          <p:nvPr/>
        </p:nvSpPr>
        <p:spPr>
          <a:xfrm>
            <a:off x="990600" y="1219200"/>
            <a:ext cx="145360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Vista global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0"/>
          <p:cNvSpPr/>
          <p:nvPr/>
        </p:nvSpPr>
        <p:spPr>
          <a:xfrm>
            <a:off x="533400" y="1628775"/>
            <a:ext cx="4000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4.2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0"/>
          <p:cNvSpPr/>
          <p:nvPr/>
        </p:nvSpPr>
        <p:spPr>
          <a:xfrm>
            <a:off x="990600" y="1628775"/>
            <a:ext cx="160585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Flujo mashup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0"/>
          <p:cNvSpPr/>
          <p:nvPr/>
        </p:nvSpPr>
        <p:spPr>
          <a:xfrm>
            <a:off x="533400" y="9563100"/>
            <a:ext cx="37719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A2BF"/>
              </a:buClr>
              <a:buSzPts val="971"/>
              <a:buFont typeface="Arial"/>
              <a:buNone/>
            </a:pPr>
            <a:r>
              <a:rPr lang="en-US" sz="971">
                <a:solidFill>
                  <a:srgbClr val="7FA2BF"/>
                </a:solidFill>
                <a:latin typeface="Arial"/>
                <a:ea typeface="Arial"/>
                <a:cs typeface="Arial"/>
                <a:sym typeface="Arial"/>
              </a:rPr>
              <a:t>GR05 · 2026</a:t>
            </a:r>
            <a:endParaRPr sz="97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0"/>
          <p:cNvSpPr/>
          <p:nvPr/>
        </p:nvSpPr>
        <p:spPr>
          <a:xfrm>
            <a:off x="5143500" y="571500"/>
            <a:ext cx="13620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4590B8"/>
                </a:solidFill>
                <a:latin typeface="Arial"/>
                <a:ea typeface="Arial"/>
                <a:cs typeface="Arial"/>
                <a:sym typeface="Arial"/>
              </a:rPr>
              <a:t>04 · ARQUITECTURA DEL SISTEMA MASHUP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0"/>
          <p:cNvSpPr/>
          <p:nvPr/>
        </p:nvSpPr>
        <p:spPr>
          <a:xfrm>
            <a:off x="5143500" y="952500"/>
            <a:ext cx="13620750" cy="6180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A3260"/>
              </a:buClr>
              <a:buSzPts val="4023"/>
              <a:buFont typeface="Arial"/>
              <a:buNone/>
            </a:pPr>
            <a:r>
              <a:rPr b="1" lang="en-US" sz="4024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Dos servidores SOAP, </a:t>
            </a:r>
            <a:r>
              <a:rPr b="1" lang="en-US" sz="4024">
                <a:solidFill>
                  <a:srgbClr val="42955F"/>
                </a:solidFill>
                <a:latin typeface="Arial"/>
                <a:ea typeface="Arial"/>
                <a:cs typeface="Arial"/>
                <a:sym typeface="Arial"/>
              </a:rPr>
              <a:t>cuatro clientes</a:t>
            </a:r>
            <a:endParaRPr sz="4024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0"/>
          <p:cNvSpPr/>
          <p:nvPr/>
        </p:nvSpPr>
        <p:spPr>
          <a:xfrm>
            <a:off x="5143500" y="1608683"/>
            <a:ext cx="1143000" cy="57150"/>
          </a:xfrm>
          <a:prstGeom prst="rect">
            <a:avLst/>
          </a:prstGeom>
          <a:solidFill>
            <a:srgbClr val="C124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0"/>
          <p:cNvSpPr/>
          <p:nvPr/>
        </p:nvSpPr>
        <p:spPr>
          <a:xfrm>
            <a:off x="5143500" y="2027783"/>
            <a:ext cx="6048375" cy="1403747"/>
          </a:xfrm>
          <a:prstGeom prst="roundRect">
            <a:avLst>
              <a:gd fmla="val 271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0"/>
          <p:cNvSpPr/>
          <p:nvPr/>
        </p:nvSpPr>
        <p:spPr>
          <a:xfrm>
            <a:off x="5143500" y="3422005"/>
            <a:ext cx="6048375" cy="9525"/>
          </a:xfrm>
          <a:prstGeom prst="rect">
            <a:avLst/>
          </a:prstGeom>
          <a:solidFill>
            <a:srgbClr val="DBE3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0"/>
          <p:cNvSpPr/>
          <p:nvPr/>
        </p:nvSpPr>
        <p:spPr>
          <a:xfrm>
            <a:off x="5143500" y="2027783"/>
            <a:ext cx="6048375" cy="9525"/>
          </a:xfrm>
          <a:prstGeom prst="rect">
            <a:avLst/>
          </a:prstGeom>
          <a:solidFill>
            <a:srgbClr val="DBE3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0"/>
          <p:cNvSpPr/>
          <p:nvPr/>
        </p:nvSpPr>
        <p:spPr>
          <a:xfrm>
            <a:off x="5143500" y="2027783"/>
            <a:ext cx="76200" cy="1403747"/>
          </a:xfrm>
          <a:prstGeom prst="rect">
            <a:avLst/>
          </a:prstGeom>
          <a:solidFill>
            <a:srgbClr val="1A32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0"/>
          <p:cNvSpPr/>
          <p:nvPr/>
        </p:nvSpPr>
        <p:spPr>
          <a:xfrm>
            <a:off x="11182350" y="2027783"/>
            <a:ext cx="9525" cy="1403747"/>
          </a:xfrm>
          <a:prstGeom prst="rect">
            <a:avLst/>
          </a:prstGeom>
          <a:solidFill>
            <a:srgbClr val="DBE3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0"/>
          <p:cNvSpPr/>
          <p:nvPr/>
        </p:nvSpPr>
        <p:spPr>
          <a:xfrm>
            <a:off x="5429250" y="2208758"/>
            <a:ext cx="609790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4590B8"/>
                </a:solidFill>
                <a:latin typeface="Arial"/>
                <a:ea typeface="Arial"/>
                <a:cs typeface="Arial"/>
                <a:sym typeface="Arial"/>
              </a:rPr>
              <a:t>SERVIDOR 1 · MySQL LOCAL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0"/>
          <p:cNvSpPr/>
          <p:nvPr/>
        </p:nvSpPr>
        <p:spPr>
          <a:xfrm>
            <a:off x="5429250" y="2427833"/>
            <a:ext cx="609790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260"/>
              </a:buClr>
              <a:buSzPts val="1725"/>
              <a:buFont typeface="Arial"/>
              <a:buNone/>
            </a:pPr>
            <a:r>
              <a:rPr b="1" lang="en-US" sz="1725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WSFederacion · Payara 6 · :8080</a:t>
            </a:r>
            <a:endParaRPr sz="17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0"/>
          <p:cNvSpPr/>
          <p:nvPr/>
        </p:nvSpPr>
        <p:spPr>
          <a:xfrm>
            <a:off x="5429250" y="2770733"/>
            <a:ext cx="5709857" cy="51792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48"/>
              <a:buFont typeface="Arial"/>
              <a:buNone/>
            </a:pPr>
            <a:r>
              <a:rPr lang="en-US" sz="1249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CRUD del torneo + venta con asientos. Endpoint </a:t>
            </a:r>
            <a:r>
              <a:rPr b="1" lang="en-US" sz="1249">
                <a:solidFill>
                  <a:srgbClr val="1A3260"/>
                </a:solidFill>
                <a:latin typeface="Consolas"/>
                <a:ea typeface="Consolas"/>
                <a:cs typeface="Consolas"/>
                <a:sym typeface="Consolas"/>
              </a:rPr>
              <a:t>/TP_SOAP_JAVA_SERVICIO_G5/WSFederacion</a:t>
            </a:r>
            <a:r>
              <a:rPr lang="en-US" sz="1249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24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0"/>
          <p:cNvSpPr/>
          <p:nvPr/>
        </p:nvSpPr>
        <p:spPr>
          <a:xfrm>
            <a:off x="5143500" y="3564880"/>
            <a:ext cx="6048375" cy="1403747"/>
          </a:xfrm>
          <a:prstGeom prst="roundRect">
            <a:avLst>
              <a:gd fmla="val 271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0"/>
          <p:cNvSpPr/>
          <p:nvPr/>
        </p:nvSpPr>
        <p:spPr>
          <a:xfrm>
            <a:off x="5143500" y="4959102"/>
            <a:ext cx="6048375" cy="9525"/>
          </a:xfrm>
          <a:prstGeom prst="rect">
            <a:avLst/>
          </a:prstGeom>
          <a:solidFill>
            <a:srgbClr val="DBE3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0"/>
          <p:cNvSpPr/>
          <p:nvPr/>
        </p:nvSpPr>
        <p:spPr>
          <a:xfrm>
            <a:off x="5143500" y="3564880"/>
            <a:ext cx="6048375" cy="9525"/>
          </a:xfrm>
          <a:prstGeom prst="rect">
            <a:avLst/>
          </a:prstGeom>
          <a:solidFill>
            <a:srgbClr val="DBE3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0"/>
          <p:cNvSpPr/>
          <p:nvPr/>
        </p:nvSpPr>
        <p:spPr>
          <a:xfrm>
            <a:off x="5143500" y="3564880"/>
            <a:ext cx="76200" cy="1403747"/>
          </a:xfrm>
          <a:prstGeom prst="rect">
            <a:avLst/>
          </a:prstGeom>
          <a:solidFill>
            <a:srgbClr val="E882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0"/>
          <p:cNvSpPr/>
          <p:nvPr/>
        </p:nvSpPr>
        <p:spPr>
          <a:xfrm>
            <a:off x="11182350" y="3564880"/>
            <a:ext cx="9525" cy="1403747"/>
          </a:xfrm>
          <a:prstGeom prst="rect">
            <a:avLst/>
          </a:prstGeom>
          <a:solidFill>
            <a:srgbClr val="DBE3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0"/>
          <p:cNvSpPr/>
          <p:nvPr/>
        </p:nvSpPr>
        <p:spPr>
          <a:xfrm>
            <a:off x="5429250" y="3745855"/>
            <a:ext cx="609790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F0E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B45F0E"/>
                </a:solidFill>
                <a:latin typeface="Arial"/>
                <a:ea typeface="Arial"/>
                <a:cs typeface="Arial"/>
                <a:sym typeface="Arial"/>
              </a:rPr>
              <a:t>SERVIDOR 2 · AWS RDS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0"/>
          <p:cNvSpPr/>
          <p:nvPr/>
        </p:nvSpPr>
        <p:spPr>
          <a:xfrm>
            <a:off x="5429250" y="3964930"/>
            <a:ext cx="609790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260"/>
              </a:buClr>
              <a:buSzPts val="1725"/>
              <a:buFont typeface="Arial"/>
              <a:buNone/>
            </a:pPr>
            <a:r>
              <a:rPr b="1" lang="en-US" sz="1725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WSBancoCore · Payara 6 · :8080</a:t>
            </a:r>
            <a:endParaRPr sz="17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0"/>
          <p:cNvSpPr/>
          <p:nvPr/>
        </p:nvSpPr>
        <p:spPr>
          <a:xfrm>
            <a:off x="5429250" y="4307830"/>
            <a:ext cx="5709857" cy="51792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3260"/>
              </a:buClr>
              <a:buSzPts val="1248"/>
              <a:buFont typeface="Consolas"/>
              <a:buNone/>
            </a:pPr>
            <a:r>
              <a:rPr b="1" lang="en-US" sz="1249">
                <a:solidFill>
                  <a:srgbClr val="1A3260"/>
                </a:solidFill>
                <a:latin typeface="Consolas"/>
                <a:ea typeface="Consolas"/>
                <a:cs typeface="Consolas"/>
                <a:sym typeface="Consolas"/>
              </a:rPr>
              <a:t>verificarYCrearCredito </a:t>
            </a:r>
            <a:r>
              <a:rPr lang="en-US" sz="1249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sobre </a:t>
            </a:r>
            <a:r>
              <a:rPr b="1" lang="en-US" sz="1249">
                <a:solidFill>
                  <a:srgbClr val="1A3260"/>
                </a:solidFill>
                <a:latin typeface="Consolas"/>
                <a:ea typeface="Consolas"/>
                <a:cs typeface="Consolas"/>
                <a:sym typeface="Consolas"/>
              </a:rPr>
              <a:t>banco_core_db </a:t>
            </a:r>
            <a:r>
              <a:rPr lang="en-US" sz="1249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en </a:t>
            </a:r>
            <a:r>
              <a:rPr b="1" lang="en-US" sz="1249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AWS RDS us-east-2 </a:t>
            </a:r>
            <a:r>
              <a:rPr lang="en-US" sz="1249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24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0"/>
          <p:cNvSpPr/>
          <p:nvPr/>
        </p:nvSpPr>
        <p:spPr>
          <a:xfrm>
            <a:off x="5143500" y="5140077"/>
            <a:ext cx="1939379" cy="433388"/>
          </a:xfrm>
          <a:prstGeom prst="rect">
            <a:avLst/>
          </a:prstGeom>
          <a:solidFill>
            <a:srgbClr val="1A32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0"/>
          <p:cNvSpPr/>
          <p:nvPr/>
        </p:nvSpPr>
        <p:spPr>
          <a:xfrm>
            <a:off x="5143500" y="5563939"/>
            <a:ext cx="19393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0"/>
          <p:cNvSpPr/>
          <p:nvPr/>
        </p:nvSpPr>
        <p:spPr>
          <a:xfrm>
            <a:off x="5276850" y="5244852"/>
            <a:ext cx="1748879" cy="25241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Cliente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0"/>
          <p:cNvSpPr/>
          <p:nvPr/>
        </p:nvSpPr>
        <p:spPr>
          <a:xfrm>
            <a:off x="7082879" y="5140077"/>
            <a:ext cx="4108996" cy="433388"/>
          </a:xfrm>
          <a:prstGeom prst="rect">
            <a:avLst/>
          </a:prstGeom>
          <a:solidFill>
            <a:srgbClr val="1A32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0"/>
          <p:cNvSpPr/>
          <p:nvPr/>
        </p:nvSpPr>
        <p:spPr>
          <a:xfrm>
            <a:off x="7082879" y="5563939"/>
            <a:ext cx="410899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0"/>
          <p:cNvSpPr/>
          <p:nvPr/>
        </p:nvSpPr>
        <p:spPr>
          <a:xfrm>
            <a:off x="7216229" y="5244852"/>
            <a:ext cx="3965566" cy="25241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Tecnología SOAP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0"/>
          <p:cNvSpPr/>
          <p:nvPr/>
        </p:nvSpPr>
        <p:spPr>
          <a:xfrm>
            <a:off x="5143500" y="6002089"/>
            <a:ext cx="19393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0"/>
          <p:cNvSpPr/>
          <p:nvPr/>
        </p:nvSpPr>
        <p:spPr>
          <a:xfrm>
            <a:off x="5276850" y="5678239"/>
            <a:ext cx="1748879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260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Consola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0"/>
          <p:cNvSpPr/>
          <p:nvPr/>
        </p:nvSpPr>
        <p:spPr>
          <a:xfrm>
            <a:off x="7082879" y="6002089"/>
            <a:ext cx="410899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0"/>
          <p:cNvSpPr/>
          <p:nvPr/>
        </p:nvSpPr>
        <p:spPr>
          <a:xfrm>
            <a:off x="7216229" y="5678239"/>
            <a:ext cx="3965566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330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C2330"/>
                </a:solidFill>
                <a:latin typeface="Arial"/>
                <a:ea typeface="Arial"/>
                <a:cs typeface="Arial"/>
                <a:sym typeface="Arial"/>
              </a:rPr>
              <a:t>Stub JAX-WS + DOM (banco)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0"/>
          <p:cNvSpPr/>
          <p:nvPr/>
        </p:nvSpPr>
        <p:spPr>
          <a:xfrm>
            <a:off x="5143500" y="6011614"/>
            <a:ext cx="6048375" cy="43815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0"/>
          <p:cNvSpPr/>
          <p:nvPr/>
        </p:nvSpPr>
        <p:spPr>
          <a:xfrm>
            <a:off x="5143500" y="6440239"/>
            <a:ext cx="19393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0"/>
          <p:cNvSpPr/>
          <p:nvPr/>
        </p:nvSpPr>
        <p:spPr>
          <a:xfrm>
            <a:off x="5276850" y="6116389"/>
            <a:ext cx="1748879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260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Escritorio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0"/>
          <p:cNvSpPr/>
          <p:nvPr/>
        </p:nvSpPr>
        <p:spPr>
          <a:xfrm>
            <a:off x="7082879" y="6440239"/>
            <a:ext cx="410899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0"/>
          <p:cNvSpPr/>
          <p:nvPr/>
        </p:nvSpPr>
        <p:spPr>
          <a:xfrm>
            <a:off x="7216229" y="6116389"/>
            <a:ext cx="3965566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330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C2330"/>
                </a:solidFill>
                <a:latin typeface="Arial"/>
                <a:ea typeface="Arial"/>
                <a:cs typeface="Arial"/>
                <a:sym typeface="Arial"/>
              </a:rPr>
              <a:t>Swing · FlatDarkLaf + Stub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0"/>
          <p:cNvSpPr/>
          <p:nvPr/>
        </p:nvSpPr>
        <p:spPr>
          <a:xfrm>
            <a:off x="5143500" y="6878389"/>
            <a:ext cx="19393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0"/>
          <p:cNvSpPr/>
          <p:nvPr/>
        </p:nvSpPr>
        <p:spPr>
          <a:xfrm>
            <a:off x="5276850" y="6554539"/>
            <a:ext cx="1748879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260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Web JSP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0"/>
          <p:cNvSpPr/>
          <p:nvPr/>
        </p:nvSpPr>
        <p:spPr>
          <a:xfrm>
            <a:off x="7082879" y="6878389"/>
            <a:ext cx="410899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0"/>
          <p:cNvSpPr/>
          <p:nvPr/>
        </p:nvSpPr>
        <p:spPr>
          <a:xfrm>
            <a:off x="7216229" y="6554539"/>
            <a:ext cx="3965566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330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C2330"/>
                </a:solidFill>
                <a:latin typeface="Arial"/>
                <a:ea typeface="Arial"/>
                <a:cs typeface="Arial"/>
                <a:sym typeface="Arial"/>
              </a:rPr>
              <a:t>TicketServlet · Stub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0"/>
          <p:cNvSpPr/>
          <p:nvPr/>
        </p:nvSpPr>
        <p:spPr>
          <a:xfrm>
            <a:off x="5143500" y="6887914"/>
            <a:ext cx="6048375" cy="43815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0"/>
          <p:cNvSpPr/>
          <p:nvPr/>
        </p:nvSpPr>
        <p:spPr>
          <a:xfrm>
            <a:off x="5143500" y="7316539"/>
            <a:ext cx="19393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0"/>
          <p:cNvSpPr/>
          <p:nvPr/>
        </p:nvSpPr>
        <p:spPr>
          <a:xfrm>
            <a:off x="5276850" y="6992689"/>
            <a:ext cx="1748879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260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Móvil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0"/>
          <p:cNvSpPr/>
          <p:nvPr/>
        </p:nvSpPr>
        <p:spPr>
          <a:xfrm>
            <a:off x="7082879" y="7316539"/>
            <a:ext cx="410899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0"/>
          <p:cNvSpPr/>
          <p:nvPr/>
        </p:nvSpPr>
        <p:spPr>
          <a:xfrm>
            <a:off x="7216229" y="6992689"/>
            <a:ext cx="3965566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330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C2330"/>
                </a:solidFill>
                <a:latin typeface="Arial"/>
                <a:ea typeface="Arial"/>
                <a:cs typeface="Arial"/>
                <a:sym typeface="Arial"/>
              </a:rPr>
              <a:t>OkHttp + XmlPullParser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0"/>
          <p:cNvSpPr/>
          <p:nvPr/>
        </p:nvSpPr>
        <p:spPr>
          <a:xfrm>
            <a:off x="11477625" y="2027783"/>
            <a:ext cx="6653212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25"/>
              <a:buFont typeface="Arial"/>
              <a:buNone/>
            </a:pPr>
            <a:r>
              <a:rPr b="1" lang="en-US" sz="1125">
                <a:solidFill>
                  <a:srgbClr val="4590B8"/>
                </a:solidFill>
                <a:latin typeface="Arial"/>
                <a:ea typeface="Arial"/>
                <a:cs typeface="Arial"/>
                <a:sym typeface="Arial"/>
              </a:rPr>
              <a:t>FLUJO MASHUP · COMPRA CON CRÉDITO</a:t>
            </a:r>
            <a:endParaRPr sz="11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0"/>
          <p:cNvSpPr/>
          <p:nvPr/>
        </p:nvSpPr>
        <p:spPr>
          <a:xfrm>
            <a:off x="11477625" y="2351633"/>
            <a:ext cx="6048375" cy="723900"/>
          </a:xfrm>
          <a:prstGeom prst="roundRect">
            <a:avLst>
              <a:gd fmla="val 10526" name="adj"/>
            </a:avLst>
          </a:prstGeom>
          <a:solidFill>
            <a:srgbClr val="1A32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0"/>
          <p:cNvSpPr/>
          <p:nvPr/>
        </p:nvSpPr>
        <p:spPr>
          <a:xfrm>
            <a:off x="11687175" y="2504033"/>
            <a:ext cx="6192203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5"/>
              <a:buFont typeface="Arial"/>
              <a:buNone/>
            </a:pPr>
            <a:r>
              <a:rPr b="1" lang="en-US" sz="9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WSFEDERACION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0"/>
          <p:cNvSpPr/>
          <p:nvPr/>
        </p:nvSpPr>
        <p:spPr>
          <a:xfrm>
            <a:off x="11687175" y="2713583"/>
            <a:ext cx="6192203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onsolas"/>
              <a:buNone/>
            </a:pPr>
            <a:r>
              <a:rPr b="1" lang="en-US" sz="13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obtenerLocalidades / obtenerAsientosPartido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0"/>
          <p:cNvSpPr/>
          <p:nvPr/>
        </p:nvSpPr>
        <p:spPr>
          <a:xfrm>
            <a:off x="11175206" y="3075533"/>
            <a:ext cx="6653212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665"/>
              <a:buFont typeface="Arial"/>
              <a:buNone/>
            </a:pPr>
            <a:r>
              <a:rPr b="1" lang="en-US" sz="1665">
                <a:solidFill>
                  <a:srgbClr val="4590B8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sz="166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0"/>
          <p:cNvSpPr/>
          <p:nvPr/>
        </p:nvSpPr>
        <p:spPr>
          <a:xfrm>
            <a:off x="11477625" y="3323183"/>
            <a:ext cx="6048375" cy="904875"/>
          </a:xfrm>
          <a:prstGeom prst="roundRect">
            <a:avLst>
              <a:gd fmla="val 8421" name="adj"/>
            </a:avLst>
          </a:prstGeom>
          <a:solidFill>
            <a:srgbClr val="1A32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0"/>
          <p:cNvSpPr/>
          <p:nvPr/>
        </p:nvSpPr>
        <p:spPr>
          <a:xfrm>
            <a:off x="11687175" y="3475583"/>
            <a:ext cx="6192203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5"/>
              <a:buFont typeface="Arial"/>
              <a:buNone/>
            </a:pPr>
            <a:r>
              <a:rPr b="1" lang="en-US" sz="9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WSFEDERACION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0"/>
          <p:cNvSpPr/>
          <p:nvPr/>
        </p:nvSpPr>
        <p:spPr>
          <a:xfrm>
            <a:off x="11687175" y="3685133"/>
            <a:ext cx="6192203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onsolas"/>
              <a:buNone/>
            </a:pPr>
            <a:r>
              <a:rPr b="1" lang="en-US" sz="13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reservarAsientoTemporal(id, true)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0"/>
          <p:cNvSpPr/>
          <p:nvPr/>
        </p:nvSpPr>
        <p:spPr>
          <a:xfrm>
            <a:off x="11687175" y="3923258"/>
            <a:ext cx="6192203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1"/>
              <a:buFont typeface="Arial"/>
              <a:buNone/>
            </a:pPr>
            <a:r>
              <a:rPr lang="en-US" sz="97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reserva temporal · 10 min</a:t>
            </a:r>
            <a:endParaRPr sz="97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0"/>
          <p:cNvSpPr/>
          <p:nvPr/>
        </p:nvSpPr>
        <p:spPr>
          <a:xfrm>
            <a:off x="11175206" y="4228058"/>
            <a:ext cx="6653212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665"/>
              <a:buFont typeface="Arial"/>
              <a:buNone/>
            </a:pPr>
            <a:r>
              <a:rPr b="1" lang="en-US" sz="1665">
                <a:solidFill>
                  <a:srgbClr val="4590B8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sz="166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0"/>
          <p:cNvSpPr/>
          <p:nvPr/>
        </p:nvSpPr>
        <p:spPr>
          <a:xfrm>
            <a:off x="11477625" y="4475708"/>
            <a:ext cx="6048375" cy="904875"/>
          </a:xfrm>
          <a:prstGeom prst="roundRect">
            <a:avLst>
              <a:gd fmla="val 8421" name="adj"/>
            </a:avLst>
          </a:prstGeom>
          <a:solidFill>
            <a:srgbClr val="E882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0"/>
          <p:cNvSpPr/>
          <p:nvPr/>
        </p:nvSpPr>
        <p:spPr>
          <a:xfrm>
            <a:off x="11687175" y="4628108"/>
            <a:ext cx="6192203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5"/>
              <a:buFont typeface="Arial"/>
              <a:buNone/>
            </a:pPr>
            <a:r>
              <a:rPr b="1" lang="en-US" sz="9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WSBANCOCORE · AWS RDS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0"/>
          <p:cNvSpPr/>
          <p:nvPr/>
        </p:nvSpPr>
        <p:spPr>
          <a:xfrm>
            <a:off x="11687175" y="4837658"/>
            <a:ext cx="6192203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onsolas"/>
              <a:buNone/>
            </a:pPr>
            <a:r>
              <a:rPr b="1" lang="en-US" sz="13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verificarYCrearCredito(cedula, monto, plazo)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0"/>
          <p:cNvSpPr/>
          <p:nvPr/>
        </p:nvSpPr>
        <p:spPr>
          <a:xfrm>
            <a:off x="11687175" y="5075783"/>
            <a:ext cx="6192203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1"/>
              <a:buFont typeface="Arial"/>
              <a:buNone/>
            </a:pPr>
            <a:r>
              <a:rPr lang="en-US" sz="97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→ RespuestaCredito { aprobado, idCredito, cuotas[] }</a:t>
            </a:r>
            <a:endParaRPr sz="97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0"/>
          <p:cNvSpPr/>
          <p:nvPr/>
        </p:nvSpPr>
        <p:spPr>
          <a:xfrm>
            <a:off x="11175206" y="5380583"/>
            <a:ext cx="6653212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665"/>
              <a:buFont typeface="Arial"/>
              <a:buNone/>
            </a:pPr>
            <a:r>
              <a:rPr b="1" lang="en-US" sz="1665">
                <a:solidFill>
                  <a:srgbClr val="4590B8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sz="166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0"/>
          <p:cNvSpPr/>
          <p:nvPr/>
        </p:nvSpPr>
        <p:spPr>
          <a:xfrm>
            <a:off x="11477625" y="5628233"/>
            <a:ext cx="6048375" cy="904875"/>
          </a:xfrm>
          <a:prstGeom prst="roundRect">
            <a:avLst>
              <a:gd fmla="val 8421" name="adj"/>
            </a:avLst>
          </a:prstGeom>
          <a:solidFill>
            <a:srgbClr val="1A32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0"/>
          <p:cNvSpPr/>
          <p:nvPr/>
        </p:nvSpPr>
        <p:spPr>
          <a:xfrm>
            <a:off x="11687175" y="5780633"/>
            <a:ext cx="6192203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5"/>
              <a:buFont typeface="Arial"/>
              <a:buNone/>
            </a:pPr>
            <a:r>
              <a:rPr b="1" lang="en-US" sz="9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WSFEDERACION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0"/>
          <p:cNvSpPr/>
          <p:nvPr/>
        </p:nvSpPr>
        <p:spPr>
          <a:xfrm>
            <a:off x="11687175" y="5990183"/>
            <a:ext cx="6192203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onsolas"/>
              <a:buNone/>
            </a:pPr>
            <a:r>
              <a:rPr b="1" lang="en-US" sz="13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comprarBoletosMulti(..., "credito", idCredito)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0"/>
          <p:cNvSpPr/>
          <p:nvPr/>
        </p:nvSpPr>
        <p:spPr>
          <a:xfrm>
            <a:off x="11687175" y="6228308"/>
            <a:ext cx="6192203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1"/>
              <a:buFont typeface="Arial"/>
              <a:buNone/>
            </a:pPr>
            <a:r>
              <a:rPr lang="en-US" sz="97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marca OCUPADOS · registra Factura { subtotal, iva, total }</a:t>
            </a:r>
            <a:endParaRPr sz="97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0"/>
          <p:cNvSpPr/>
          <p:nvPr/>
        </p:nvSpPr>
        <p:spPr>
          <a:xfrm>
            <a:off x="5143500" y="9772650"/>
            <a:ext cx="5806827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10"/>
              <a:buFont typeface="Arial"/>
              <a:buNone/>
            </a:pPr>
            <a:r>
              <a:rPr b="1" lang="en-US" sz="111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TP_SOAP_JAVA_MASHUP_AWS_G5 · 04 ARQUITECTURA</a:t>
            </a:r>
            <a:endParaRPr sz="111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0"/>
          <p:cNvSpPr/>
          <p:nvPr/>
        </p:nvSpPr>
        <p:spPr>
          <a:xfrm>
            <a:off x="17571393" y="9744075"/>
            <a:ext cx="335607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4590B8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0"/>
          <p:cNvSpPr/>
          <p:nvPr/>
        </p:nvSpPr>
        <p:spPr>
          <a:xfrm>
            <a:off x="0" y="10153650"/>
            <a:ext cx="18288000" cy="133350"/>
          </a:xfrm>
          <a:prstGeom prst="rect">
            <a:avLst/>
          </a:prstGeom>
          <a:gradFill>
            <a:gsLst>
              <a:gs pos="0">
                <a:srgbClr val="1A3260"/>
              </a:gs>
              <a:gs pos="50000">
                <a:srgbClr val="1A3260"/>
              </a:gs>
              <a:gs pos="75000">
                <a:srgbClr val="42955F"/>
              </a:gs>
              <a:gs pos="100000">
                <a:srgbClr val="E8821E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96" name="Google Shape;39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22265"/>
            <a:ext cx="18288000" cy="3455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1"/>
          <p:cNvSpPr/>
          <p:nvPr/>
        </p:nvSpPr>
        <p:spPr>
          <a:xfrm>
            <a:off x="762000" y="1143000"/>
            <a:ext cx="3620140" cy="21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425"/>
              <a:buFont typeface="Arial"/>
              <a:buNone/>
            </a:pPr>
            <a:r>
              <a:rPr b="1" lang="en-US" sz="1942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sz="194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1"/>
          <p:cNvSpPr/>
          <p:nvPr/>
        </p:nvSpPr>
        <p:spPr>
          <a:xfrm>
            <a:off x="1143000" y="4129088"/>
            <a:ext cx="9955753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E0B8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FFE0B8"/>
                </a:solidFill>
                <a:latin typeface="Arial"/>
                <a:ea typeface="Arial"/>
                <a:cs typeface="Arial"/>
                <a:sym typeface="Arial"/>
              </a:rPr>
              <a:t>CAPÍTULO CINCO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1"/>
          <p:cNvSpPr/>
          <p:nvPr/>
        </p:nvSpPr>
        <p:spPr>
          <a:xfrm>
            <a:off x="1143000" y="4672013"/>
            <a:ext cx="9955753" cy="11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769"/>
              <a:buFont typeface="Arial"/>
              <a:buNone/>
            </a:pPr>
            <a:r>
              <a:rPr b="1" lang="en-US" sz="777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Bases de Datos</a:t>
            </a:r>
            <a:endParaRPr sz="777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1"/>
          <p:cNvSpPr/>
          <p:nvPr/>
        </p:nvSpPr>
        <p:spPr>
          <a:xfrm>
            <a:off x="1143000" y="6081713"/>
            <a:ext cx="1905000" cy="76200"/>
          </a:xfrm>
          <a:prstGeom prst="rect">
            <a:avLst/>
          </a:prstGeom>
          <a:solidFill>
            <a:srgbClr val="FFE0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1"/>
          <p:cNvSpPr/>
          <p:nvPr/>
        </p:nvSpPr>
        <p:spPr>
          <a:xfrm>
            <a:off x="15258931" y="762000"/>
            <a:ext cx="2267069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D6E8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BFD6E8"/>
                </a:solidFill>
                <a:latin typeface="Arial"/>
                <a:ea typeface="Arial"/>
                <a:cs typeface="Arial"/>
                <a:sym typeface="Arial"/>
              </a:rPr>
              <a:t>03 · Marco Teórico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1"/>
          <p:cNvSpPr/>
          <p:nvPr/>
        </p:nvSpPr>
        <p:spPr>
          <a:xfrm>
            <a:off x="15258931" y="1076325"/>
            <a:ext cx="2267069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D6E8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BFD6E8"/>
                </a:solidFill>
                <a:latin typeface="Arial"/>
                <a:ea typeface="Arial"/>
                <a:cs typeface="Arial"/>
                <a:sym typeface="Arial"/>
              </a:rPr>
              <a:t>04 · Arquitectura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1"/>
          <p:cNvSpPr/>
          <p:nvPr/>
        </p:nvSpPr>
        <p:spPr>
          <a:xfrm>
            <a:off x="15258931" y="1390650"/>
            <a:ext cx="2267069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05 · Bases de Datos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1"/>
          <p:cNvSpPr/>
          <p:nvPr/>
        </p:nvSpPr>
        <p:spPr>
          <a:xfrm>
            <a:off x="15258931" y="1752600"/>
            <a:ext cx="2267069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D6E8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BFD6E8"/>
                </a:solidFill>
                <a:latin typeface="Arial"/>
                <a:ea typeface="Arial"/>
                <a:cs typeface="Arial"/>
                <a:sym typeface="Arial"/>
              </a:rPr>
              <a:t>06 · WSFederacion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1"/>
          <p:cNvSpPr/>
          <p:nvPr/>
        </p:nvSpPr>
        <p:spPr>
          <a:xfrm>
            <a:off x="15258931" y="2066925"/>
            <a:ext cx="2267069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D6E8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BFD6E8"/>
                </a:solidFill>
                <a:latin typeface="Arial"/>
                <a:ea typeface="Arial"/>
                <a:cs typeface="Arial"/>
                <a:sym typeface="Arial"/>
              </a:rPr>
              <a:t>07 · WSBancoCore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1"/>
          <p:cNvSpPr/>
          <p:nvPr/>
        </p:nvSpPr>
        <p:spPr>
          <a:xfrm>
            <a:off x="15258931" y="2381250"/>
            <a:ext cx="2267069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D6E8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BFD6E8"/>
                </a:solidFill>
                <a:latin typeface="Arial"/>
                <a:ea typeface="Arial"/>
                <a:cs typeface="Arial"/>
                <a:sym typeface="Arial"/>
              </a:rPr>
              <a:t>08 · Clientes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3" name="Google Shape;41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22265"/>
            <a:ext cx="18288000" cy="3455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12"/>
          <p:cNvSpPr/>
          <p:nvPr/>
        </p:nvSpPr>
        <p:spPr>
          <a:xfrm>
            <a:off x="0" y="0"/>
            <a:ext cx="4381500" cy="10287000"/>
          </a:xfrm>
          <a:prstGeom prst="rect">
            <a:avLst/>
          </a:prstGeom>
          <a:solidFill>
            <a:srgbClr val="1A32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2"/>
          <p:cNvSpPr/>
          <p:nvPr/>
        </p:nvSpPr>
        <p:spPr>
          <a:xfrm>
            <a:off x="533400" y="628650"/>
            <a:ext cx="133350" cy="133350"/>
          </a:xfrm>
          <a:prstGeom prst="rect">
            <a:avLst/>
          </a:prstGeom>
          <a:solidFill>
            <a:srgbClr val="45C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2"/>
          <p:cNvSpPr/>
          <p:nvPr/>
        </p:nvSpPr>
        <p:spPr>
          <a:xfrm>
            <a:off x="800100" y="571500"/>
            <a:ext cx="303143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05 · BASES DE DATOS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2"/>
          <p:cNvSpPr/>
          <p:nvPr/>
        </p:nvSpPr>
        <p:spPr>
          <a:xfrm>
            <a:off x="533400" y="1219200"/>
            <a:ext cx="4000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5.1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2"/>
          <p:cNvSpPr/>
          <p:nvPr/>
        </p:nvSpPr>
        <p:spPr>
          <a:xfrm>
            <a:off x="990600" y="1219200"/>
            <a:ext cx="213226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ticketpremium_db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2"/>
          <p:cNvSpPr/>
          <p:nvPr/>
        </p:nvSpPr>
        <p:spPr>
          <a:xfrm>
            <a:off x="533400" y="1628775"/>
            <a:ext cx="4000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CBE8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45CBE8"/>
                </a:solidFill>
                <a:latin typeface="Arial"/>
                <a:ea typeface="Arial"/>
                <a:cs typeface="Arial"/>
                <a:sym typeface="Arial"/>
              </a:rPr>
              <a:t>5.2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2"/>
          <p:cNvSpPr/>
          <p:nvPr/>
        </p:nvSpPr>
        <p:spPr>
          <a:xfrm>
            <a:off x="990600" y="1666875"/>
            <a:ext cx="21843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6E8"/>
              </a:buClr>
              <a:buSzPts val="1575"/>
              <a:buFont typeface="Arial"/>
              <a:buNone/>
            </a:pPr>
            <a:r>
              <a:rPr lang="en-US" sz="1575">
                <a:solidFill>
                  <a:srgbClr val="BFD6E8"/>
                </a:solidFill>
                <a:latin typeface="Arial"/>
                <a:ea typeface="Arial"/>
                <a:cs typeface="Arial"/>
                <a:sym typeface="Arial"/>
              </a:rPr>
              <a:t>banco_core_db · AWS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2"/>
          <p:cNvSpPr/>
          <p:nvPr/>
        </p:nvSpPr>
        <p:spPr>
          <a:xfrm>
            <a:off x="533400" y="9563100"/>
            <a:ext cx="37719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A2BF"/>
              </a:buClr>
              <a:buSzPts val="971"/>
              <a:buFont typeface="Arial"/>
              <a:buNone/>
            </a:pPr>
            <a:r>
              <a:rPr lang="en-US" sz="971">
                <a:solidFill>
                  <a:srgbClr val="7FA2BF"/>
                </a:solidFill>
                <a:latin typeface="Arial"/>
                <a:ea typeface="Arial"/>
                <a:cs typeface="Arial"/>
                <a:sym typeface="Arial"/>
              </a:rPr>
              <a:t>GR05 · 2026</a:t>
            </a:r>
            <a:endParaRPr sz="97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2"/>
          <p:cNvSpPr/>
          <p:nvPr/>
        </p:nvSpPr>
        <p:spPr>
          <a:xfrm>
            <a:off x="5143500" y="571500"/>
            <a:ext cx="13620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4590B8"/>
                </a:solidFill>
                <a:latin typeface="Arial"/>
                <a:ea typeface="Arial"/>
                <a:cs typeface="Arial"/>
                <a:sym typeface="Arial"/>
              </a:rPr>
              <a:t>05 · BASES DE DATOS — 5.1 MySQL LOCAL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2"/>
          <p:cNvSpPr/>
          <p:nvPr/>
        </p:nvSpPr>
        <p:spPr>
          <a:xfrm>
            <a:off x="5143500" y="952500"/>
            <a:ext cx="13620750" cy="6354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A3260"/>
              </a:buClr>
              <a:buSzPts val="3218"/>
              <a:buFont typeface="Courier New"/>
              <a:buNone/>
            </a:pPr>
            <a:r>
              <a:rPr b="1" lang="en-US" sz="3219">
                <a:solidFill>
                  <a:srgbClr val="1A3260"/>
                </a:solidFill>
                <a:latin typeface="Courier New"/>
                <a:ea typeface="Courier New"/>
                <a:cs typeface="Courier New"/>
                <a:sym typeface="Courier New"/>
              </a:rPr>
              <a:t>ticketpremium_db </a:t>
            </a:r>
            <a:r>
              <a:rPr b="1" lang="en-US" sz="4024">
                <a:solidFill>
                  <a:srgbClr val="42955F"/>
                </a:solidFill>
                <a:latin typeface="Arial"/>
                <a:ea typeface="Arial"/>
                <a:cs typeface="Arial"/>
                <a:sym typeface="Arial"/>
              </a:rPr>
              <a:t>· torneo y ventas</a:t>
            </a:r>
            <a:endParaRPr sz="4024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2"/>
          <p:cNvSpPr/>
          <p:nvPr/>
        </p:nvSpPr>
        <p:spPr>
          <a:xfrm>
            <a:off x="5143500" y="1626096"/>
            <a:ext cx="1143000" cy="57150"/>
          </a:xfrm>
          <a:prstGeom prst="rect">
            <a:avLst/>
          </a:prstGeom>
          <a:solidFill>
            <a:srgbClr val="C124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2"/>
          <p:cNvSpPr/>
          <p:nvPr/>
        </p:nvSpPr>
        <p:spPr>
          <a:xfrm>
            <a:off x="5143500" y="2045196"/>
            <a:ext cx="2457450" cy="461963"/>
          </a:xfrm>
          <a:prstGeom prst="rect">
            <a:avLst/>
          </a:prstGeom>
          <a:solidFill>
            <a:srgbClr val="1A32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2"/>
          <p:cNvSpPr/>
          <p:nvPr/>
        </p:nvSpPr>
        <p:spPr>
          <a:xfrm>
            <a:off x="5143500" y="2497634"/>
            <a:ext cx="24574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2"/>
          <p:cNvSpPr/>
          <p:nvPr/>
        </p:nvSpPr>
        <p:spPr>
          <a:xfrm>
            <a:off x="5276850" y="2149971"/>
            <a:ext cx="2266950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Tabla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2"/>
          <p:cNvSpPr/>
          <p:nvPr/>
        </p:nvSpPr>
        <p:spPr>
          <a:xfrm>
            <a:off x="7600950" y="2045196"/>
            <a:ext cx="5838974" cy="461963"/>
          </a:xfrm>
          <a:prstGeom prst="rect">
            <a:avLst/>
          </a:prstGeom>
          <a:solidFill>
            <a:srgbClr val="1A32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2"/>
          <p:cNvSpPr/>
          <p:nvPr/>
        </p:nvSpPr>
        <p:spPr>
          <a:xfrm>
            <a:off x="7600950" y="2497634"/>
            <a:ext cx="583897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2"/>
          <p:cNvSpPr/>
          <p:nvPr/>
        </p:nvSpPr>
        <p:spPr>
          <a:xfrm>
            <a:off x="7734300" y="2149971"/>
            <a:ext cx="5747443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Columnas clave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2"/>
          <p:cNvSpPr/>
          <p:nvPr/>
        </p:nvSpPr>
        <p:spPr>
          <a:xfrm>
            <a:off x="13439924" y="2045196"/>
            <a:ext cx="4086076" cy="461963"/>
          </a:xfrm>
          <a:prstGeom prst="rect">
            <a:avLst/>
          </a:prstGeom>
          <a:solidFill>
            <a:srgbClr val="1A32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2"/>
          <p:cNvSpPr/>
          <p:nvPr/>
        </p:nvSpPr>
        <p:spPr>
          <a:xfrm>
            <a:off x="13439924" y="2497634"/>
            <a:ext cx="408607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12"/>
          <p:cNvSpPr/>
          <p:nvPr/>
        </p:nvSpPr>
        <p:spPr>
          <a:xfrm>
            <a:off x="13573274" y="2149971"/>
            <a:ext cx="3941958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Descripción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2"/>
          <p:cNvSpPr/>
          <p:nvPr/>
        </p:nvSpPr>
        <p:spPr>
          <a:xfrm>
            <a:off x="5143500" y="2964359"/>
            <a:ext cx="24574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2"/>
          <p:cNvSpPr/>
          <p:nvPr/>
        </p:nvSpPr>
        <p:spPr>
          <a:xfrm>
            <a:off x="5276850" y="2611934"/>
            <a:ext cx="22669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260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USUARIO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2"/>
          <p:cNvSpPr/>
          <p:nvPr/>
        </p:nvSpPr>
        <p:spPr>
          <a:xfrm>
            <a:off x="7600950" y="2964359"/>
            <a:ext cx="583897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2"/>
          <p:cNvSpPr/>
          <p:nvPr/>
        </p:nvSpPr>
        <p:spPr>
          <a:xfrm>
            <a:off x="7734300" y="2611934"/>
            <a:ext cx="5747443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260"/>
              </a:buClr>
              <a:buSzPts val="1200"/>
              <a:buFont typeface="Consolas"/>
              <a:buNone/>
            </a:pPr>
            <a:r>
              <a:rPr b="1" lang="en-US" sz="1200">
                <a:solidFill>
                  <a:srgbClr val="1A3260"/>
                </a:solidFill>
                <a:latin typeface="Consolas"/>
                <a:ea typeface="Consolas"/>
                <a:cs typeface="Consolas"/>
                <a:sym typeface="Consolas"/>
              </a:rPr>
              <a:t>USERNAME, PASSWORD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2"/>
          <p:cNvSpPr/>
          <p:nvPr/>
        </p:nvSpPr>
        <p:spPr>
          <a:xfrm>
            <a:off x="13439924" y="2964359"/>
            <a:ext cx="408607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2"/>
          <p:cNvSpPr/>
          <p:nvPr/>
        </p:nvSpPr>
        <p:spPr>
          <a:xfrm>
            <a:off x="13573274" y="2611934"/>
            <a:ext cx="3941958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330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1C2330"/>
                </a:solidFill>
                <a:latin typeface="Arial"/>
                <a:ea typeface="Arial"/>
                <a:cs typeface="Arial"/>
                <a:sym typeface="Arial"/>
              </a:rPr>
              <a:t>Acceso al sistema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2"/>
          <p:cNvSpPr/>
          <p:nvPr/>
        </p:nvSpPr>
        <p:spPr>
          <a:xfrm>
            <a:off x="5143500" y="2973884"/>
            <a:ext cx="12382500" cy="466725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2"/>
          <p:cNvSpPr/>
          <p:nvPr/>
        </p:nvSpPr>
        <p:spPr>
          <a:xfrm>
            <a:off x="5143500" y="3431084"/>
            <a:ext cx="24574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12"/>
          <p:cNvSpPr/>
          <p:nvPr/>
        </p:nvSpPr>
        <p:spPr>
          <a:xfrm>
            <a:off x="5276850" y="3078659"/>
            <a:ext cx="22669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260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PAIS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2"/>
          <p:cNvSpPr/>
          <p:nvPr/>
        </p:nvSpPr>
        <p:spPr>
          <a:xfrm>
            <a:off x="7600950" y="3431084"/>
            <a:ext cx="583897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12"/>
          <p:cNvSpPr/>
          <p:nvPr/>
        </p:nvSpPr>
        <p:spPr>
          <a:xfrm>
            <a:off x="7734300" y="3078659"/>
            <a:ext cx="5747443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260"/>
              </a:buClr>
              <a:buSzPts val="1200"/>
              <a:buFont typeface="Consolas"/>
              <a:buNone/>
            </a:pPr>
            <a:r>
              <a:rPr b="1" lang="en-US" sz="1200">
                <a:solidFill>
                  <a:srgbClr val="1A3260"/>
                </a:solidFill>
                <a:latin typeface="Consolas"/>
                <a:ea typeface="Consolas"/>
                <a:cs typeface="Consolas"/>
                <a:sym typeface="Consolas"/>
              </a:rPr>
              <a:t>COD_PAIS, NOMBRE, CODIGO_FIFA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2"/>
          <p:cNvSpPr/>
          <p:nvPr/>
        </p:nvSpPr>
        <p:spPr>
          <a:xfrm>
            <a:off x="13439924" y="3431084"/>
            <a:ext cx="408607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12"/>
          <p:cNvSpPr/>
          <p:nvPr/>
        </p:nvSpPr>
        <p:spPr>
          <a:xfrm>
            <a:off x="13573274" y="3078659"/>
            <a:ext cx="3941958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330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1C2330"/>
                </a:solidFill>
                <a:latin typeface="Arial"/>
                <a:ea typeface="Arial"/>
                <a:cs typeface="Arial"/>
                <a:sym typeface="Arial"/>
              </a:rPr>
              <a:t>Países participantes del mundial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2"/>
          <p:cNvSpPr/>
          <p:nvPr/>
        </p:nvSpPr>
        <p:spPr>
          <a:xfrm>
            <a:off x="5143500" y="3897809"/>
            <a:ext cx="24574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12"/>
          <p:cNvSpPr/>
          <p:nvPr/>
        </p:nvSpPr>
        <p:spPr>
          <a:xfrm>
            <a:off x="5276850" y="3545384"/>
            <a:ext cx="22669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260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ESTADIO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2"/>
          <p:cNvSpPr/>
          <p:nvPr/>
        </p:nvSpPr>
        <p:spPr>
          <a:xfrm>
            <a:off x="7600950" y="3897809"/>
            <a:ext cx="583897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2"/>
          <p:cNvSpPr/>
          <p:nvPr/>
        </p:nvSpPr>
        <p:spPr>
          <a:xfrm>
            <a:off x="7734300" y="3545384"/>
            <a:ext cx="5747443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260"/>
              </a:buClr>
              <a:buSzPts val="1200"/>
              <a:buFont typeface="Consolas"/>
              <a:buNone/>
            </a:pPr>
            <a:r>
              <a:rPr b="1" lang="en-US" sz="1200">
                <a:solidFill>
                  <a:srgbClr val="1A3260"/>
                </a:solidFill>
                <a:latin typeface="Consolas"/>
                <a:ea typeface="Consolas"/>
                <a:cs typeface="Consolas"/>
                <a:sym typeface="Consolas"/>
              </a:rPr>
              <a:t>COD_ESTADIO, CIUDAD, CAPACIDAD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2"/>
          <p:cNvSpPr/>
          <p:nvPr/>
        </p:nvSpPr>
        <p:spPr>
          <a:xfrm>
            <a:off x="13439924" y="3897809"/>
            <a:ext cx="408607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12"/>
          <p:cNvSpPr/>
          <p:nvPr/>
        </p:nvSpPr>
        <p:spPr>
          <a:xfrm>
            <a:off x="13573274" y="3545384"/>
            <a:ext cx="3941958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330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1C2330"/>
                </a:solidFill>
                <a:latin typeface="Arial"/>
                <a:ea typeface="Arial"/>
                <a:cs typeface="Arial"/>
                <a:sym typeface="Arial"/>
              </a:rPr>
              <a:t>Estadios del torneo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2"/>
          <p:cNvSpPr/>
          <p:nvPr/>
        </p:nvSpPr>
        <p:spPr>
          <a:xfrm>
            <a:off x="5143500" y="3907334"/>
            <a:ext cx="12382500" cy="466725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12"/>
          <p:cNvSpPr/>
          <p:nvPr/>
        </p:nvSpPr>
        <p:spPr>
          <a:xfrm>
            <a:off x="5143500" y="4364534"/>
            <a:ext cx="24574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12"/>
          <p:cNvSpPr/>
          <p:nvPr/>
        </p:nvSpPr>
        <p:spPr>
          <a:xfrm>
            <a:off x="5276850" y="4012109"/>
            <a:ext cx="22669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260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EQUIPO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2"/>
          <p:cNvSpPr/>
          <p:nvPr/>
        </p:nvSpPr>
        <p:spPr>
          <a:xfrm>
            <a:off x="7600950" y="4364534"/>
            <a:ext cx="583897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12"/>
          <p:cNvSpPr/>
          <p:nvPr/>
        </p:nvSpPr>
        <p:spPr>
          <a:xfrm>
            <a:off x="7734300" y="4012109"/>
            <a:ext cx="5747443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260"/>
              </a:buClr>
              <a:buSzPts val="1200"/>
              <a:buFont typeface="Consolas"/>
              <a:buNone/>
            </a:pPr>
            <a:r>
              <a:rPr b="1" lang="en-US" sz="1200">
                <a:solidFill>
                  <a:srgbClr val="1A3260"/>
                </a:solidFill>
                <a:latin typeface="Consolas"/>
                <a:ea typeface="Consolas"/>
                <a:cs typeface="Consolas"/>
                <a:sym typeface="Consolas"/>
              </a:rPr>
              <a:t>COD_EQUIPO, NOMBRE, IMAGEN_URL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2"/>
          <p:cNvSpPr/>
          <p:nvPr/>
        </p:nvSpPr>
        <p:spPr>
          <a:xfrm>
            <a:off x="13439924" y="4364534"/>
            <a:ext cx="408607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12"/>
          <p:cNvSpPr/>
          <p:nvPr/>
        </p:nvSpPr>
        <p:spPr>
          <a:xfrm>
            <a:off x="13573274" y="4012109"/>
            <a:ext cx="3941958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330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1C2330"/>
                </a:solidFill>
                <a:latin typeface="Arial"/>
                <a:ea typeface="Arial"/>
                <a:cs typeface="Arial"/>
                <a:sym typeface="Arial"/>
              </a:rPr>
              <a:t>Selecciones participantes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2"/>
          <p:cNvSpPr/>
          <p:nvPr/>
        </p:nvSpPr>
        <p:spPr>
          <a:xfrm>
            <a:off x="5143500" y="4831259"/>
            <a:ext cx="24574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12"/>
          <p:cNvSpPr/>
          <p:nvPr/>
        </p:nvSpPr>
        <p:spPr>
          <a:xfrm>
            <a:off x="5276850" y="4478834"/>
            <a:ext cx="22669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260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PARTIDO_FUTBOL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2"/>
          <p:cNvSpPr/>
          <p:nvPr/>
        </p:nvSpPr>
        <p:spPr>
          <a:xfrm>
            <a:off x="7600950" y="4831259"/>
            <a:ext cx="583897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12"/>
          <p:cNvSpPr/>
          <p:nvPr/>
        </p:nvSpPr>
        <p:spPr>
          <a:xfrm>
            <a:off x="7734300" y="4478834"/>
            <a:ext cx="5747443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260"/>
              </a:buClr>
              <a:buSzPts val="1200"/>
              <a:buFont typeface="Consolas"/>
              <a:buNone/>
            </a:pPr>
            <a:r>
              <a:rPr b="1" lang="en-US" sz="1200">
                <a:solidFill>
                  <a:srgbClr val="1A3260"/>
                </a:solidFill>
                <a:latin typeface="Consolas"/>
                <a:ea typeface="Consolas"/>
                <a:cs typeface="Consolas"/>
                <a:sym typeface="Consolas"/>
              </a:rPr>
              <a:t>CODIGO, LOCAL, VISITA, FECHA, FASE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2"/>
          <p:cNvSpPr/>
          <p:nvPr/>
        </p:nvSpPr>
        <p:spPr>
          <a:xfrm>
            <a:off x="13439924" y="4831259"/>
            <a:ext cx="408607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12"/>
          <p:cNvSpPr/>
          <p:nvPr/>
        </p:nvSpPr>
        <p:spPr>
          <a:xfrm>
            <a:off x="13573274" y="4478834"/>
            <a:ext cx="3941958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330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1C2330"/>
                </a:solidFill>
                <a:latin typeface="Arial"/>
                <a:ea typeface="Arial"/>
                <a:cs typeface="Arial"/>
                <a:sym typeface="Arial"/>
              </a:rPr>
              <a:t>Partidos del mundial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2"/>
          <p:cNvSpPr/>
          <p:nvPr/>
        </p:nvSpPr>
        <p:spPr>
          <a:xfrm>
            <a:off x="5143500" y="4840784"/>
            <a:ext cx="12382500" cy="466725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12"/>
          <p:cNvSpPr/>
          <p:nvPr/>
        </p:nvSpPr>
        <p:spPr>
          <a:xfrm>
            <a:off x="5143500" y="5297984"/>
            <a:ext cx="24574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12"/>
          <p:cNvSpPr/>
          <p:nvPr/>
        </p:nvSpPr>
        <p:spPr>
          <a:xfrm>
            <a:off x="5276850" y="4945559"/>
            <a:ext cx="22669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260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LOCALIDAD_PARTIDO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2"/>
          <p:cNvSpPr/>
          <p:nvPr/>
        </p:nvSpPr>
        <p:spPr>
          <a:xfrm>
            <a:off x="7600950" y="5297984"/>
            <a:ext cx="583897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12"/>
          <p:cNvSpPr/>
          <p:nvPr/>
        </p:nvSpPr>
        <p:spPr>
          <a:xfrm>
            <a:off x="7734300" y="4945559"/>
            <a:ext cx="5747443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260"/>
              </a:buClr>
              <a:buSzPts val="1200"/>
              <a:buFont typeface="Consolas"/>
              <a:buNone/>
            </a:pPr>
            <a:r>
              <a:rPr b="1" lang="en-US" sz="1200">
                <a:solidFill>
                  <a:srgbClr val="1A3260"/>
                </a:solidFill>
                <a:latin typeface="Consolas"/>
                <a:ea typeface="Consolas"/>
                <a:cs typeface="Consolas"/>
                <a:sym typeface="Consolas"/>
              </a:rPr>
              <a:t>ID, COD_PARTIDO, DISPONIBILIDAD, PRECIO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2"/>
          <p:cNvSpPr/>
          <p:nvPr/>
        </p:nvSpPr>
        <p:spPr>
          <a:xfrm>
            <a:off x="13439924" y="5297984"/>
            <a:ext cx="408607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12"/>
          <p:cNvSpPr/>
          <p:nvPr/>
        </p:nvSpPr>
        <p:spPr>
          <a:xfrm>
            <a:off x="13573274" y="4945559"/>
            <a:ext cx="3941958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330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1C2330"/>
                </a:solidFill>
                <a:latin typeface="Arial"/>
                <a:ea typeface="Arial"/>
                <a:cs typeface="Arial"/>
                <a:sym typeface="Arial"/>
              </a:rPr>
              <a:t>Categorías de asientos por partido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2"/>
          <p:cNvSpPr/>
          <p:nvPr/>
        </p:nvSpPr>
        <p:spPr>
          <a:xfrm>
            <a:off x="5143500" y="5764709"/>
            <a:ext cx="24574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12"/>
          <p:cNvSpPr/>
          <p:nvPr/>
        </p:nvSpPr>
        <p:spPr>
          <a:xfrm>
            <a:off x="5276850" y="5412284"/>
            <a:ext cx="22669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260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ASIENTO_PARTIDO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2"/>
          <p:cNvSpPr/>
          <p:nvPr/>
        </p:nvSpPr>
        <p:spPr>
          <a:xfrm>
            <a:off x="7600950" y="5764709"/>
            <a:ext cx="583897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12"/>
          <p:cNvSpPr/>
          <p:nvPr/>
        </p:nvSpPr>
        <p:spPr>
          <a:xfrm>
            <a:off x="7734300" y="5412284"/>
            <a:ext cx="5747443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260"/>
              </a:buClr>
              <a:buSzPts val="1200"/>
              <a:buFont typeface="Consolas"/>
              <a:buNone/>
            </a:pPr>
            <a:r>
              <a:rPr b="1" lang="en-US" sz="1200">
                <a:solidFill>
                  <a:srgbClr val="1A3260"/>
                </a:solidFill>
                <a:latin typeface="Consolas"/>
                <a:ea typeface="Consolas"/>
                <a:cs typeface="Consolas"/>
                <a:sym typeface="Consolas"/>
              </a:rPr>
              <a:t>ID, FILA, NUMERO, ESTADO, RESERVADO_HASTA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2"/>
          <p:cNvSpPr/>
          <p:nvPr/>
        </p:nvSpPr>
        <p:spPr>
          <a:xfrm>
            <a:off x="13439924" y="5764709"/>
            <a:ext cx="408607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12"/>
          <p:cNvSpPr/>
          <p:nvPr/>
        </p:nvSpPr>
        <p:spPr>
          <a:xfrm>
            <a:off x="13573274" y="5412284"/>
            <a:ext cx="3941958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330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1C2330"/>
                </a:solidFill>
                <a:latin typeface="Arial"/>
                <a:ea typeface="Arial"/>
                <a:cs typeface="Arial"/>
                <a:sym typeface="Arial"/>
              </a:rPr>
              <a:t>Asientos individuales numerados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2"/>
          <p:cNvSpPr/>
          <p:nvPr/>
        </p:nvSpPr>
        <p:spPr>
          <a:xfrm>
            <a:off x="5143500" y="5774234"/>
            <a:ext cx="12382500" cy="466725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12"/>
          <p:cNvSpPr/>
          <p:nvPr/>
        </p:nvSpPr>
        <p:spPr>
          <a:xfrm>
            <a:off x="5143500" y="6231434"/>
            <a:ext cx="24574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12"/>
          <p:cNvSpPr/>
          <p:nvPr/>
        </p:nvSpPr>
        <p:spPr>
          <a:xfrm>
            <a:off x="5276850" y="5879009"/>
            <a:ext cx="22669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260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CLIENTE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2"/>
          <p:cNvSpPr/>
          <p:nvPr/>
        </p:nvSpPr>
        <p:spPr>
          <a:xfrm>
            <a:off x="7600950" y="6231434"/>
            <a:ext cx="583897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12"/>
          <p:cNvSpPr/>
          <p:nvPr/>
        </p:nvSpPr>
        <p:spPr>
          <a:xfrm>
            <a:off x="7734300" y="5879009"/>
            <a:ext cx="5747443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260"/>
              </a:buClr>
              <a:buSzPts val="1200"/>
              <a:buFont typeface="Consolas"/>
              <a:buNone/>
            </a:pPr>
            <a:r>
              <a:rPr b="1" lang="en-US" sz="1200">
                <a:solidFill>
                  <a:srgbClr val="1A3260"/>
                </a:solidFill>
                <a:latin typeface="Consolas"/>
                <a:ea typeface="Consolas"/>
                <a:cs typeface="Consolas"/>
                <a:sym typeface="Consolas"/>
              </a:rPr>
              <a:t>COD_CLIENTE, CEDULA, EMAIL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2"/>
          <p:cNvSpPr/>
          <p:nvPr/>
        </p:nvSpPr>
        <p:spPr>
          <a:xfrm>
            <a:off x="13439924" y="6231434"/>
            <a:ext cx="408607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12"/>
          <p:cNvSpPr/>
          <p:nvPr/>
        </p:nvSpPr>
        <p:spPr>
          <a:xfrm>
            <a:off x="13573274" y="5879009"/>
            <a:ext cx="3941958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330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1C2330"/>
                </a:solidFill>
                <a:latin typeface="Arial"/>
                <a:ea typeface="Arial"/>
                <a:cs typeface="Arial"/>
                <a:sym typeface="Arial"/>
              </a:rPr>
              <a:t>Compradores de boletos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2"/>
          <p:cNvSpPr/>
          <p:nvPr/>
        </p:nvSpPr>
        <p:spPr>
          <a:xfrm>
            <a:off x="5143500" y="6698159"/>
            <a:ext cx="24574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12"/>
          <p:cNvSpPr/>
          <p:nvPr/>
        </p:nvSpPr>
        <p:spPr>
          <a:xfrm>
            <a:off x="5276850" y="6345734"/>
            <a:ext cx="22669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260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FACTURA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2"/>
          <p:cNvSpPr/>
          <p:nvPr/>
        </p:nvSpPr>
        <p:spPr>
          <a:xfrm>
            <a:off x="7600950" y="6698159"/>
            <a:ext cx="583897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12"/>
          <p:cNvSpPr/>
          <p:nvPr/>
        </p:nvSpPr>
        <p:spPr>
          <a:xfrm>
            <a:off x="7734300" y="6345734"/>
            <a:ext cx="5747443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260"/>
              </a:buClr>
              <a:buSzPts val="1200"/>
              <a:buFont typeface="Consolas"/>
              <a:buNone/>
            </a:pPr>
            <a:r>
              <a:rPr b="1" lang="en-US" sz="1200">
                <a:solidFill>
                  <a:srgbClr val="1A3260"/>
                </a:solidFill>
                <a:latin typeface="Consolas"/>
                <a:ea typeface="Consolas"/>
                <a:cs typeface="Consolas"/>
                <a:sym typeface="Consolas"/>
              </a:rPr>
              <a:t>ID, SUBTOTAL, IVA, TOTAL, FORMA_PAGO, ID_CREDITO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2"/>
          <p:cNvSpPr/>
          <p:nvPr/>
        </p:nvSpPr>
        <p:spPr>
          <a:xfrm>
            <a:off x="13439924" y="6698159"/>
            <a:ext cx="408607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12"/>
          <p:cNvSpPr/>
          <p:nvPr/>
        </p:nvSpPr>
        <p:spPr>
          <a:xfrm>
            <a:off x="13573274" y="6345734"/>
            <a:ext cx="3941958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330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1C2330"/>
                </a:solidFill>
                <a:latin typeface="Arial"/>
                <a:ea typeface="Arial"/>
                <a:cs typeface="Arial"/>
                <a:sym typeface="Arial"/>
              </a:rPr>
              <a:t>Compras realizadas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2"/>
          <p:cNvSpPr/>
          <p:nvPr/>
        </p:nvSpPr>
        <p:spPr>
          <a:xfrm>
            <a:off x="5143500" y="6707684"/>
            <a:ext cx="12382500" cy="466725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12"/>
          <p:cNvSpPr/>
          <p:nvPr/>
        </p:nvSpPr>
        <p:spPr>
          <a:xfrm>
            <a:off x="5143500" y="7164884"/>
            <a:ext cx="24574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12"/>
          <p:cNvSpPr/>
          <p:nvPr/>
        </p:nvSpPr>
        <p:spPr>
          <a:xfrm>
            <a:off x="5276850" y="6812459"/>
            <a:ext cx="22669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260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DETALLE_FACTURA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2"/>
          <p:cNvSpPr/>
          <p:nvPr/>
        </p:nvSpPr>
        <p:spPr>
          <a:xfrm>
            <a:off x="7600950" y="7164884"/>
            <a:ext cx="583897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12"/>
          <p:cNvSpPr/>
          <p:nvPr/>
        </p:nvSpPr>
        <p:spPr>
          <a:xfrm>
            <a:off x="7734300" y="6812459"/>
            <a:ext cx="5747443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260"/>
              </a:buClr>
              <a:buSzPts val="1200"/>
              <a:buFont typeface="Consolas"/>
              <a:buNone/>
            </a:pPr>
            <a:r>
              <a:rPr b="1" lang="en-US" sz="1200">
                <a:solidFill>
                  <a:srgbClr val="1A3260"/>
                </a:solidFill>
                <a:latin typeface="Consolas"/>
                <a:ea typeface="Consolas"/>
                <a:cs typeface="Consolas"/>
                <a:sym typeface="Consolas"/>
              </a:rPr>
              <a:t>ID_FACTURA, ID_ASIENTO, CANTIDAD, PRECIO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2"/>
          <p:cNvSpPr/>
          <p:nvPr/>
        </p:nvSpPr>
        <p:spPr>
          <a:xfrm>
            <a:off x="13439924" y="7164884"/>
            <a:ext cx="408607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12"/>
          <p:cNvSpPr/>
          <p:nvPr/>
        </p:nvSpPr>
        <p:spPr>
          <a:xfrm>
            <a:off x="13573274" y="6812459"/>
            <a:ext cx="3941958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330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1C2330"/>
                </a:solidFill>
                <a:latin typeface="Arial"/>
                <a:ea typeface="Arial"/>
                <a:cs typeface="Arial"/>
                <a:sym typeface="Arial"/>
              </a:rPr>
              <a:t>Líneas de cada compra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2"/>
          <p:cNvSpPr/>
          <p:nvPr/>
        </p:nvSpPr>
        <p:spPr>
          <a:xfrm>
            <a:off x="5143500" y="9772650"/>
            <a:ext cx="6000497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10"/>
              <a:buFont typeface="Arial"/>
              <a:buNone/>
            </a:pPr>
            <a:r>
              <a:rPr b="1" lang="en-US" sz="111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TP_SOAP_JAVA_MASHUP_AWS_G5 · 05 BASES DE DATOS</a:t>
            </a:r>
            <a:endParaRPr sz="111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2"/>
          <p:cNvSpPr/>
          <p:nvPr/>
        </p:nvSpPr>
        <p:spPr>
          <a:xfrm>
            <a:off x="17571393" y="9744075"/>
            <a:ext cx="335607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4590B8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2"/>
          <p:cNvSpPr/>
          <p:nvPr/>
        </p:nvSpPr>
        <p:spPr>
          <a:xfrm>
            <a:off x="0" y="10153650"/>
            <a:ext cx="18288000" cy="133350"/>
          </a:xfrm>
          <a:prstGeom prst="rect">
            <a:avLst/>
          </a:prstGeom>
          <a:gradFill>
            <a:gsLst>
              <a:gs pos="0">
                <a:srgbClr val="1A3260"/>
              </a:gs>
              <a:gs pos="50000">
                <a:srgbClr val="1A3260"/>
              </a:gs>
              <a:gs pos="75000">
                <a:srgbClr val="42955F"/>
              </a:gs>
              <a:gs pos="100000">
                <a:srgbClr val="E8821E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07" name="Google Shape;50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22265"/>
            <a:ext cx="18288000" cy="3455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13"/>
          <p:cNvSpPr/>
          <p:nvPr/>
        </p:nvSpPr>
        <p:spPr>
          <a:xfrm>
            <a:off x="0" y="0"/>
            <a:ext cx="4381500" cy="10287000"/>
          </a:xfrm>
          <a:prstGeom prst="rect">
            <a:avLst/>
          </a:prstGeom>
          <a:solidFill>
            <a:srgbClr val="1A32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13"/>
          <p:cNvSpPr/>
          <p:nvPr/>
        </p:nvSpPr>
        <p:spPr>
          <a:xfrm>
            <a:off x="533400" y="628650"/>
            <a:ext cx="133350" cy="133350"/>
          </a:xfrm>
          <a:prstGeom prst="rect">
            <a:avLst/>
          </a:prstGeom>
          <a:solidFill>
            <a:srgbClr val="45C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13"/>
          <p:cNvSpPr/>
          <p:nvPr/>
        </p:nvSpPr>
        <p:spPr>
          <a:xfrm>
            <a:off x="800100" y="571500"/>
            <a:ext cx="303143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05 · BASES DE DATOS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3"/>
          <p:cNvSpPr/>
          <p:nvPr/>
        </p:nvSpPr>
        <p:spPr>
          <a:xfrm>
            <a:off x="533400" y="1219200"/>
            <a:ext cx="4000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CBE8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45CBE8"/>
                </a:solidFill>
                <a:latin typeface="Arial"/>
                <a:ea typeface="Arial"/>
                <a:cs typeface="Arial"/>
                <a:sym typeface="Arial"/>
              </a:rPr>
              <a:t>5.1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3"/>
          <p:cNvSpPr/>
          <p:nvPr/>
        </p:nvSpPr>
        <p:spPr>
          <a:xfrm>
            <a:off x="990600" y="1257300"/>
            <a:ext cx="1750963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6E8"/>
              </a:buClr>
              <a:buSzPts val="1575"/>
              <a:buFont typeface="Arial"/>
              <a:buNone/>
            </a:pPr>
            <a:r>
              <a:rPr lang="en-US" sz="1575">
                <a:solidFill>
                  <a:srgbClr val="BFD6E8"/>
                </a:solidFill>
                <a:latin typeface="Arial"/>
                <a:ea typeface="Arial"/>
                <a:cs typeface="Arial"/>
                <a:sym typeface="Arial"/>
              </a:rPr>
              <a:t>ticketpremium_db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3"/>
          <p:cNvSpPr/>
          <p:nvPr/>
        </p:nvSpPr>
        <p:spPr>
          <a:xfrm>
            <a:off x="533400" y="1628775"/>
            <a:ext cx="4000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5.2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3"/>
          <p:cNvSpPr/>
          <p:nvPr/>
        </p:nvSpPr>
        <p:spPr>
          <a:xfrm>
            <a:off x="990600" y="1628775"/>
            <a:ext cx="251817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banco_core_db · AWS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3"/>
          <p:cNvSpPr/>
          <p:nvPr/>
        </p:nvSpPr>
        <p:spPr>
          <a:xfrm>
            <a:off x="533400" y="9563100"/>
            <a:ext cx="37719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A2BF"/>
              </a:buClr>
              <a:buSzPts val="971"/>
              <a:buFont typeface="Arial"/>
              <a:buNone/>
            </a:pPr>
            <a:r>
              <a:rPr lang="en-US" sz="971">
                <a:solidFill>
                  <a:srgbClr val="7FA2BF"/>
                </a:solidFill>
                <a:latin typeface="Arial"/>
                <a:ea typeface="Arial"/>
                <a:cs typeface="Arial"/>
                <a:sym typeface="Arial"/>
              </a:rPr>
              <a:t>GR05 · 2026</a:t>
            </a:r>
            <a:endParaRPr sz="97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3"/>
          <p:cNvSpPr/>
          <p:nvPr/>
        </p:nvSpPr>
        <p:spPr>
          <a:xfrm>
            <a:off x="5143500" y="571500"/>
            <a:ext cx="13620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4590B8"/>
                </a:solidFill>
                <a:latin typeface="Arial"/>
                <a:ea typeface="Arial"/>
                <a:cs typeface="Arial"/>
                <a:sym typeface="Arial"/>
              </a:rPr>
              <a:t>05 · BASES DE DATOS — 5.2 AWS RDS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3"/>
          <p:cNvSpPr/>
          <p:nvPr/>
        </p:nvSpPr>
        <p:spPr>
          <a:xfrm>
            <a:off x="5143500" y="952500"/>
            <a:ext cx="13620750" cy="6249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A3260"/>
              </a:buClr>
              <a:buSzPts val="2816"/>
              <a:buFont typeface="Courier New"/>
              <a:buNone/>
            </a:pPr>
            <a:r>
              <a:rPr b="1" lang="en-US" sz="2817">
                <a:solidFill>
                  <a:srgbClr val="1A3260"/>
                </a:solidFill>
                <a:latin typeface="Courier New"/>
                <a:ea typeface="Courier New"/>
                <a:cs typeface="Courier New"/>
                <a:sym typeface="Courier New"/>
              </a:rPr>
              <a:t>banco_core_db </a:t>
            </a:r>
            <a:r>
              <a:rPr b="1" lang="en-US" sz="4024">
                <a:solidFill>
                  <a:srgbClr val="E8821E"/>
                </a:solidFill>
                <a:latin typeface="Arial"/>
                <a:ea typeface="Arial"/>
                <a:cs typeface="Arial"/>
                <a:sym typeface="Arial"/>
              </a:rPr>
              <a:t>en AWS RDS</a:t>
            </a:r>
            <a:endParaRPr sz="4024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3"/>
          <p:cNvSpPr/>
          <p:nvPr/>
        </p:nvSpPr>
        <p:spPr>
          <a:xfrm>
            <a:off x="5143500" y="1615529"/>
            <a:ext cx="1143000" cy="57150"/>
          </a:xfrm>
          <a:prstGeom prst="rect">
            <a:avLst/>
          </a:prstGeom>
          <a:solidFill>
            <a:srgbClr val="C124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13"/>
          <p:cNvSpPr/>
          <p:nvPr/>
        </p:nvSpPr>
        <p:spPr>
          <a:xfrm>
            <a:off x="5143500" y="2110829"/>
            <a:ext cx="2233464" cy="433388"/>
          </a:xfrm>
          <a:prstGeom prst="rect">
            <a:avLst/>
          </a:prstGeom>
          <a:solidFill>
            <a:srgbClr val="B45F0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13"/>
          <p:cNvSpPr/>
          <p:nvPr/>
        </p:nvSpPr>
        <p:spPr>
          <a:xfrm>
            <a:off x="5143500" y="2534692"/>
            <a:ext cx="22334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13"/>
          <p:cNvSpPr/>
          <p:nvPr/>
        </p:nvSpPr>
        <p:spPr>
          <a:xfrm>
            <a:off x="5276850" y="2215604"/>
            <a:ext cx="2042964" cy="25241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Tabla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3"/>
          <p:cNvSpPr/>
          <p:nvPr/>
        </p:nvSpPr>
        <p:spPr>
          <a:xfrm>
            <a:off x="7376964" y="2110829"/>
            <a:ext cx="4117330" cy="433388"/>
          </a:xfrm>
          <a:prstGeom prst="rect">
            <a:avLst/>
          </a:prstGeom>
          <a:solidFill>
            <a:srgbClr val="B45F0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13"/>
          <p:cNvSpPr/>
          <p:nvPr/>
        </p:nvSpPr>
        <p:spPr>
          <a:xfrm>
            <a:off x="7376964" y="2534692"/>
            <a:ext cx="411733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13"/>
          <p:cNvSpPr/>
          <p:nvPr/>
        </p:nvSpPr>
        <p:spPr>
          <a:xfrm>
            <a:off x="7510314" y="2215604"/>
            <a:ext cx="3974150" cy="25241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Columnas clave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3"/>
          <p:cNvSpPr/>
          <p:nvPr/>
        </p:nvSpPr>
        <p:spPr>
          <a:xfrm>
            <a:off x="5143500" y="2972842"/>
            <a:ext cx="22334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13"/>
          <p:cNvSpPr/>
          <p:nvPr/>
        </p:nvSpPr>
        <p:spPr>
          <a:xfrm>
            <a:off x="5276850" y="2648992"/>
            <a:ext cx="2042964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260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CLIENTE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3"/>
          <p:cNvSpPr/>
          <p:nvPr/>
        </p:nvSpPr>
        <p:spPr>
          <a:xfrm>
            <a:off x="7376964" y="2972842"/>
            <a:ext cx="411733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13"/>
          <p:cNvSpPr/>
          <p:nvPr/>
        </p:nvSpPr>
        <p:spPr>
          <a:xfrm>
            <a:off x="7510314" y="2648992"/>
            <a:ext cx="39741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260"/>
              </a:buClr>
              <a:buSzPts val="1200"/>
              <a:buFont typeface="Consolas"/>
              <a:buNone/>
            </a:pPr>
            <a:r>
              <a:rPr b="1" lang="en-US" sz="1200">
                <a:solidFill>
                  <a:srgbClr val="1A3260"/>
                </a:solidFill>
                <a:latin typeface="Consolas"/>
                <a:ea typeface="Consolas"/>
                <a:cs typeface="Consolas"/>
                <a:sym typeface="Consolas"/>
              </a:rPr>
              <a:t>CEDULA, GENERO, FECHA_NACIMIENTO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3"/>
          <p:cNvSpPr/>
          <p:nvPr/>
        </p:nvSpPr>
        <p:spPr>
          <a:xfrm>
            <a:off x="5143500" y="2982367"/>
            <a:ext cx="6350794" cy="43815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13"/>
          <p:cNvSpPr/>
          <p:nvPr/>
        </p:nvSpPr>
        <p:spPr>
          <a:xfrm>
            <a:off x="5143500" y="3410992"/>
            <a:ext cx="22334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13"/>
          <p:cNvSpPr/>
          <p:nvPr/>
        </p:nvSpPr>
        <p:spPr>
          <a:xfrm>
            <a:off x="5276850" y="3087142"/>
            <a:ext cx="2042964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260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CUENTA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3"/>
          <p:cNvSpPr/>
          <p:nvPr/>
        </p:nvSpPr>
        <p:spPr>
          <a:xfrm>
            <a:off x="7376964" y="3410992"/>
            <a:ext cx="411733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13"/>
          <p:cNvSpPr/>
          <p:nvPr/>
        </p:nvSpPr>
        <p:spPr>
          <a:xfrm>
            <a:off x="7510314" y="3087142"/>
            <a:ext cx="39741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260"/>
              </a:buClr>
              <a:buSzPts val="1200"/>
              <a:buFont typeface="Consolas"/>
              <a:buNone/>
            </a:pPr>
            <a:r>
              <a:rPr b="1" lang="en-US" sz="1200">
                <a:solidFill>
                  <a:srgbClr val="1A3260"/>
                </a:solidFill>
                <a:latin typeface="Consolas"/>
                <a:ea typeface="Consolas"/>
                <a:cs typeface="Consolas"/>
                <a:sym typeface="Consolas"/>
              </a:rPr>
              <a:t>NUM_CUENTA, COD_CLIENTE, SALDO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3"/>
          <p:cNvSpPr/>
          <p:nvPr/>
        </p:nvSpPr>
        <p:spPr>
          <a:xfrm>
            <a:off x="5143500" y="3849142"/>
            <a:ext cx="22334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13"/>
          <p:cNvSpPr/>
          <p:nvPr/>
        </p:nvSpPr>
        <p:spPr>
          <a:xfrm>
            <a:off x="5276850" y="3525292"/>
            <a:ext cx="2042964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260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MOVIMIENTO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13"/>
          <p:cNvSpPr/>
          <p:nvPr/>
        </p:nvSpPr>
        <p:spPr>
          <a:xfrm>
            <a:off x="7376964" y="3849142"/>
            <a:ext cx="411733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13"/>
          <p:cNvSpPr/>
          <p:nvPr/>
        </p:nvSpPr>
        <p:spPr>
          <a:xfrm>
            <a:off x="7510314" y="3525292"/>
            <a:ext cx="39741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260"/>
              </a:buClr>
              <a:buSzPts val="1200"/>
              <a:buFont typeface="Consolas"/>
              <a:buNone/>
            </a:pPr>
            <a:r>
              <a:rPr b="1" lang="en-US" sz="1200">
                <a:solidFill>
                  <a:srgbClr val="1A3260"/>
                </a:solidFill>
                <a:latin typeface="Consolas"/>
                <a:ea typeface="Consolas"/>
                <a:cs typeface="Consolas"/>
                <a:sym typeface="Consolas"/>
              </a:rPr>
              <a:t>TIPO (DEP/RET), VALOR, FECHA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3"/>
          <p:cNvSpPr/>
          <p:nvPr/>
        </p:nvSpPr>
        <p:spPr>
          <a:xfrm>
            <a:off x="5143500" y="3858667"/>
            <a:ext cx="6350794" cy="43815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13"/>
          <p:cNvSpPr/>
          <p:nvPr/>
        </p:nvSpPr>
        <p:spPr>
          <a:xfrm>
            <a:off x="5143500" y="4287292"/>
            <a:ext cx="22334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13"/>
          <p:cNvSpPr/>
          <p:nvPr/>
        </p:nvSpPr>
        <p:spPr>
          <a:xfrm>
            <a:off x="5276850" y="3963442"/>
            <a:ext cx="2042964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260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CREDITO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3"/>
          <p:cNvSpPr/>
          <p:nvPr/>
        </p:nvSpPr>
        <p:spPr>
          <a:xfrm>
            <a:off x="7376964" y="4287292"/>
            <a:ext cx="411733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13"/>
          <p:cNvSpPr/>
          <p:nvPr/>
        </p:nvSpPr>
        <p:spPr>
          <a:xfrm>
            <a:off x="7510314" y="3963442"/>
            <a:ext cx="39741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260"/>
              </a:buClr>
              <a:buSzPts val="1200"/>
              <a:buFont typeface="Consolas"/>
              <a:buNone/>
            </a:pPr>
            <a:r>
              <a:rPr b="1" lang="en-US" sz="1200">
                <a:solidFill>
                  <a:srgbClr val="1A3260"/>
                </a:solidFill>
                <a:latin typeface="Consolas"/>
                <a:ea typeface="Consolas"/>
                <a:cs typeface="Consolas"/>
                <a:sym typeface="Consolas"/>
              </a:rPr>
              <a:t>MONTO, INTERES_ANUAL, PLAZO, CUOTA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13"/>
          <p:cNvSpPr/>
          <p:nvPr/>
        </p:nvSpPr>
        <p:spPr>
          <a:xfrm>
            <a:off x="5143500" y="4725442"/>
            <a:ext cx="22334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13"/>
          <p:cNvSpPr/>
          <p:nvPr/>
        </p:nvSpPr>
        <p:spPr>
          <a:xfrm>
            <a:off x="5276850" y="4401592"/>
            <a:ext cx="2042964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260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TABLA_AMORTIZACION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13"/>
          <p:cNvSpPr/>
          <p:nvPr/>
        </p:nvSpPr>
        <p:spPr>
          <a:xfrm>
            <a:off x="7376964" y="4725442"/>
            <a:ext cx="411733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13"/>
          <p:cNvSpPr/>
          <p:nvPr/>
        </p:nvSpPr>
        <p:spPr>
          <a:xfrm>
            <a:off x="7510314" y="4401592"/>
            <a:ext cx="39741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260"/>
              </a:buClr>
              <a:buSzPts val="1200"/>
              <a:buFont typeface="Consolas"/>
              <a:buNone/>
            </a:pPr>
            <a:r>
              <a:rPr b="1" lang="en-US" sz="1200">
                <a:solidFill>
                  <a:srgbClr val="1A3260"/>
                </a:solidFill>
                <a:latin typeface="Consolas"/>
                <a:ea typeface="Consolas"/>
                <a:cs typeface="Consolas"/>
                <a:sym typeface="Consolas"/>
              </a:rPr>
              <a:t>NUM_CUOTA, INTERES, CAPITAL, SALDO_FINAL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3"/>
          <p:cNvSpPr/>
          <p:nvPr/>
        </p:nvSpPr>
        <p:spPr>
          <a:xfrm>
            <a:off x="5143500" y="4892129"/>
            <a:ext cx="6350794" cy="1678632"/>
          </a:xfrm>
          <a:prstGeom prst="roundRect">
            <a:avLst>
              <a:gd fmla="val 4539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13"/>
          <p:cNvSpPr/>
          <p:nvPr/>
        </p:nvSpPr>
        <p:spPr>
          <a:xfrm>
            <a:off x="5391150" y="5101679"/>
            <a:ext cx="6046018" cy="129763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9C0FF"/>
              </a:buClr>
              <a:buSzPts val="709"/>
              <a:buFont typeface="Consolas"/>
              <a:buNone/>
            </a:pPr>
            <a:r>
              <a:rPr lang="en-US" sz="709">
                <a:solidFill>
                  <a:srgbClr val="79C0FF"/>
                </a:solidFill>
                <a:latin typeface="Consolas"/>
                <a:ea typeface="Consolas"/>
                <a:cs typeface="Consolas"/>
                <a:sym typeface="Consolas"/>
              </a:rPr>
              <a:t>private static final</a:t>
            </a:r>
            <a:r>
              <a:rPr lang="en-US" sz="709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9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String </a:t>
            </a:r>
            <a:r>
              <a:rPr lang="en-US" sz="709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URL =</a:t>
            </a:r>
            <a:endParaRPr sz="70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09"/>
              <a:buFont typeface="Consolas"/>
              <a:buNone/>
            </a:pPr>
            <a:r>
              <a:rPr lang="en-US" sz="709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endParaRPr sz="70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5D6FF"/>
              </a:buClr>
              <a:buSzPts val="709"/>
              <a:buFont typeface="Consolas"/>
              <a:buNone/>
            </a:pPr>
            <a:r>
              <a:rPr lang="en-US" sz="709">
                <a:solidFill>
                  <a:srgbClr val="A5D6FF"/>
                </a:solidFill>
                <a:latin typeface="Consolas"/>
                <a:ea typeface="Consolas"/>
                <a:cs typeface="Consolas"/>
                <a:sym typeface="Consolas"/>
              </a:rPr>
              <a:t>"jdbc:mysql://ticket-premium-arquitectura-mysql" </a:t>
            </a:r>
            <a:r>
              <a:rPr lang="en-US" sz="709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+</a:t>
            </a:r>
            <a:endParaRPr sz="70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09"/>
              <a:buFont typeface="Consolas"/>
              <a:buNone/>
            </a:pPr>
            <a:r>
              <a:rPr lang="en-US" sz="709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endParaRPr sz="70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5D6FF"/>
              </a:buClr>
              <a:buSzPts val="709"/>
              <a:buFont typeface="Consolas"/>
              <a:buNone/>
            </a:pPr>
            <a:r>
              <a:rPr lang="en-US" sz="709">
                <a:solidFill>
                  <a:srgbClr val="A5D6FF"/>
                </a:solidFill>
                <a:latin typeface="Consolas"/>
                <a:ea typeface="Consolas"/>
                <a:cs typeface="Consolas"/>
                <a:sym typeface="Consolas"/>
              </a:rPr>
              <a:t>".cdek0qcm830y.us-east-2.rds.amazonaws.com:3306/" </a:t>
            </a:r>
            <a:r>
              <a:rPr lang="en-US" sz="709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+</a:t>
            </a:r>
            <a:endParaRPr sz="70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09"/>
              <a:buFont typeface="Consolas"/>
              <a:buNone/>
            </a:pPr>
            <a:r>
              <a:rPr lang="en-US" sz="709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endParaRPr sz="70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5D6FF"/>
              </a:buClr>
              <a:buSzPts val="709"/>
              <a:buFont typeface="Consolas"/>
              <a:buNone/>
            </a:pPr>
            <a:r>
              <a:rPr lang="en-US" sz="709">
                <a:solidFill>
                  <a:srgbClr val="A5D6FF"/>
                </a:solidFill>
                <a:latin typeface="Consolas"/>
                <a:ea typeface="Consolas"/>
                <a:cs typeface="Consolas"/>
                <a:sym typeface="Consolas"/>
              </a:rPr>
              <a:t>"banco_core_db?useSSL=false&amp;serverTimezone=..." </a:t>
            </a:r>
            <a:r>
              <a:rPr lang="en-US" sz="709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+</a:t>
            </a:r>
            <a:endParaRPr sz="70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09"/>
              <a:buFont typeface="Consolas"/>
              <a:buNone/>
            </a:pPr>
            <a:r>
              <a:rPr lang="en-US" sz="709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endParaRPr sz="70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5D6FF"/>
              </a:buClr>
              <a:buSzPts val="709"/>
              <a:buFont typeface="Consolas"/>
              <a:buNone/>
            </a:pPr>
            <a:r>
              <a:rPr lang="en-US" sz="709">
                <a:solidFill>
                  <a:srgbClr val="A5D6FF"/>
                </a:solidFill>
                <a:latin typeface="Consolas"/>
                <a:ea typeface="Consolas"/>
                <a:cs typeface="Consolas"/>
                <a:sym typeface="Consolas"/>
              </a:rPr>
              <a:t>"&amp;allowPublicKeyRetrieval=true"</a:t>
            </a:r>
            <a:r>
              <a:rPr lang="en-US" sz="709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709">
                <a:solidFill>
                  <a:srgbClr val="79C0FF"/>
                </a:solidFill>
                <a:latin typeface="Consolas"/>
                <a:ea typeface="Consolas"/>
                <a:cs typeface="Consolas"/>
                <a:sym typeface="Consolas"/>
              </a:rPr>
              <a:t>private static final</a:t>
            </a:r>
            <a:r>
              <a:rPr lang="en-US" sz="709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9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en-US" sz="709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USER = </a:t>
            </a:r>
            <a:r>
              <a:rPr lang="en-US" sz="709">
                <a:solidFill>
                  <a:srgbClr val="A5D6FF"/>
                </a:solidFill>
                <a:latin typeface="Consolas"/>
                <a:ea typeface="Consolas"/>
                <a:cs typeface="Consolas"/>
                <a:sym typeface="Consolas"/>
              </a:rPr>
              <a:t>"admin"</a:t>
            </a:r>
            <a:r>
              <a:rPr lang="en-US" sz="709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709">
                <a:solidFill>
                  <a:srgbClr val="79C0FF"/>
                </a:solidFill>
                <a:latin typeface="Consolas"/>
                <a:ea typeface="Consolas"/>
                <a:cs typeface="Consolas"/>
                <a:sym typeface="Consolas"/>
              </a:rPr>
              <a:t>private static final</a:t>
            </a:r>
            <a:r>
              <a:rPr lang="en-US" sz="709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9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en-US" sz="709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PASS = </a:t>
            </a:r>
            <a:r>
              <a:rPr lang="en-US" sz="709">
                <a:solidFill>
                  <a:srgbClr val="A5D6FF"/>
                </a:solidFill>
                <a:latin typeface="Consolas"/>
                <a:ea typeface="Consolas"/>
                <a:cs typeface="Consolas"/>
                <a:sym typeface="Consolas"/>
              </a:rPr>
              <a:t>"ticket_root"</a:t>
            </a:r>
            <a:r>
              <a:rPr lang="en-US" sz="709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70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13"/>
          <p:cNvSpPr/>
          <p:nvPr/>
        </p:nvSpPr>
        <p:spPr>
          <a:xfrm>
            <a:off x="11895919" y="6628929"/>
            <a:ext cx="6320700" cy="2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3260"/>
              </a:buClr>
              <a:buSzPts val="1040"/>
              <a:buFont typeface="Arial"/>
              <a:buNone/>
            </a:pPr>
            <a:r>
              <a:rPr b="1" lang="en-US" sz="1041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FIGURA 1 </a:t>
            </a:r>
            <a:r>
              <a:rPr i="1" lang="en-US" sz="104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— Instancia MySQL</a:t>
            </a:r>
            <a:endParaRPr i="1" sz="1041">
              <a:solidFill>
                <a:srgbClr val="6B7280"/>
              </a:solidFill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3260"/>
              </a:buClr>
              <a:buSzPts val="1040"/>
              <a:buFont typeface="Arial"/>
              <a:buNone/>
            </a:pPr>
            <a:r>
              <a:t/>
            </a:r>
            <a:endParaRPr i="1" sz="1041">
              <a:solidFill>
                <a:srgbClr val="6B7280"/>
              </a:solidFill>
            </a:endParaRPr>
          </a:p>
        </p:txBody>
      </p:sp>
      <p:sp>
        <p:nvSpPr>
          <p:cNvPr id="555" name="Google Shape;555;p13"/>
          <p:cNvSpPr/>
          <p:nvPr/>
        </p:nvSpPr>
        <p:spPr>
          <a:xfrm>
            <a:off x="5143500" y="9772650"/>
            <a:ext cx="6000497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10"/>
              <a:buFont typeface="Arial"/>
              <a:buNone/>
            </a:pPr>
            <a:r>
              <a:rPr b="1" lang="en-US" sz="111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TP_SOAP_JAVA_MASHUP_AWS_G5 · 05 BASES DE DATOS</a:t>
            </a:r>
            <a:endParaRPr sz="111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3"/>
          <p:cNvSpPr/>
          <p:nvPr/>
        </p:nvSpPr>
        <p:spPr>
          <a:xfrm>
            <a:off x="17571393" y="9744075"/>
            <a:ext cx="335607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4590B8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13"/>
          <p:cNvSpPr/>
          <p:nvPr/>
        </p:nvSpPr>
        <p:spPr>
          <a:xfrm>
            <a:off x="0" y="10153650"/>
            <a:ext cx="18288000" cy="133350"/>
          </a:xfrm>
          <a:prstGeom prst="rect">
            <a:avLst/>
          </a:prstGeom>
          <a:gradFill>
            <a:gsLst>
              <a:gs pos="0">
                <a:srgbClr val="1A3260"/>
              </a:gs>
              <a:gs pos="50000">
                <a:srgbClr val="1A3260"/>
              </a:gs>
              <a:gs pos="75000">
                <a:srgbClr val="42955F"/>
              </a:gs>
              <a:gs pos="100000">
                <a:srgbClr val="E8821E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58" name="Google Shape;55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22265"/>
            <a:ext cx="18288000" cy="345543"/>
          </a:xfrm>
          <a:prstGeom prst="rect">
            <a:avLst/>
          </a:prstGeom>
          <a:noFill/>
          <a:ln>
            <a:noFill/>
          </a:ln>
        </p:spPr>
      </p:pic>
      <p:pic>
        <p:nvPicPr>
          <p:cNvPr id="559" name="Google Shape;559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895926" y="2206651"/>
            <a:ext cx="6288962" cy="4192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14"/>
          <p:cNvSpPr/>
          <p:nvPr/>
        </p:nvSpPr>
        <p:spPr>
          <a:xfrm>
            <a:off x="0" y="0"/>
            <a:ext cx="4381500" cy="10287000"/>
          </a:xfrm>
          <a:prstGeom prst="rect">
            <a:avLst/>
          </a:prstGeom>
          <a:solidFill>
            <a:srgbClr val="1A32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14"/>
          <p:cNvSpPr/>
          <p:nvPr/>
        </p:nvSpPr>
        <p:spPr>
          <a:xfrm>
            <a:off x="533400" y="628650"/>
            <a:ext cx="133350" cy="133350"/>
          </a:xfrm>
          <a:prstGeom prst="rect">
            <a:avLst/>
          </a:prstGeom>
          <a:solidFill>
            <a:srgbClr val="45C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14"/>
          <p:cNvSpPr/>
          <p:nvPr/>
        </p:nvSpPr>
        <p:spPr>
          <a:xfrm>
            <a:off x="800100" y="571500"/>
            <a:ext cx="2839566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06 · WSFEDERACION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14"/>
          <p:cNvSpPr/>
          <p:nvPr/>
        </p:nvSpPr>
        <p:spPr>
          <a:xfrm>
            <a:off x="533400" y="1219200"/>
            <a:ext cx="4000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6.1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14"/>
          <p:cNvSpPr/>
          <p:nvPr/>
        </p:nvSpPr>
        <p:spPr>
          <a:xfrm>
            <a:off x="990600" y="1219200"/>
            <a:ext cx="2286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Proyecto NetBeans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14"/>
          <p:cNvSpPr/>
          <p:nvPr/>
        </p:nvSpPr>
        <p:spPr>
          <a:xfrm>
            <a:off x="533400" y="1628775"/>
            <a:ext cx="4000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CBE8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45CBE8"/>
                </a:solidFill>
                <a:latin typeface="Arial"/>
                <a:ea typeface="Arial"/>
                <a:cs typeface="Arial"/>
                <a:sym typeface="Arial"/>
              </a:rPr>
              <a:t>6.2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14"/>
          <p:cNvSpPr/>
          <p:nvPr/>
        </p:nvSpPr>
        <p:spPr>
          <a:xfrm>
            <a:off x="990600" y="1666875"/>
            <a:ext cx="12763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6E8"/>
              </a:buClr>
              <a:buSzPts val="1575"/>
              <a:buFont typeface="Arial"/>
              <a:buNone/>
            </a:pPr>
            <a:r>
              <a:rPr lang="en-US" sz="1575">
                <a:solidFill>
                  <a:srgbClr val="BFD6E8"/>
                </a:solidFill>
                <a:latin typeface="Arial"/>
                <a:ea typeface="Arial"/>
                <a:cs typeface="Arial"/>
                <a:sym typeface="Arial"/>
              </a:rPr>
              <a:t>Operaciones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14"/>
          <p:cNvSpPr/>
          <p:nvPr/>
        </p:nvSpPr>
        <p:spPr>
          <a:xfrm>
            <a:off x="533400" y="2038350"/>
            <a:ext cx="4000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CBE8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45CBE8"/>
                </a:solidFill>
                <a:latin typeface="Arial"/>
                <a:ea typeface="Arial"/>
                <a:cs typeface="Arial"/>
                <a:sym typeface="Arial"/>
              </a:rPr>
              <a:t>6.3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14"/>
          <p:cNvSpPr/>
          <p:nvPr/>
        </p:nvSpPr>
        <p:spPr>
          <a:xfrm>
            <a:off x="990600" y="2076450"/>
            <a:ext cx="2013347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6E8"/>
              </a:buClr>
              <a:buSzPts val="1575"/>
              <a:buFont typeface="Arial"/>
              <a:buNone/>
            </a:pPr>
            <a:r>
              <a:rPr lang="en-US" sz="1575">
                <a:solidFill>
                  <a:srgbClr val="BFD6E8"/>
                </a:solidFill>
                <a:latin typeface="Arial"/>
                <a:ea typeface="Arial"/>
                <a:cs typeface="Arial"/>
                <a:sym typeface="Arial"/>
              </a:rPr>
              <a:t>comprarBoletosMulti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14"/>
          <p:cNvSpPr/>
          <p:nvPr/>
        </p:nvSpPr>
        <p:spPr>
          <a:xfrm>
            <a:off x="533400" y="2447925"/>
            <a:ext cx="4000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CBE8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45CBE8"/>
                </a:solidFill>
                <a:latin typeface="Arial"/>
                <a:ea typeface="Arial"/>
                <a:cs typeface="Arial"/>
                <a:sym typeface="Arial"/>
              </a:rPr>
              <a:t>6.4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14"/>
          <p:cNvSpPr/>
          <p:nvPr/>
        </p:nvSpPr>
        <p:spPr>
          <a:xfrm>
            <a:off x="990600" y="2486025"/>
            <a:ext cx="1868388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6E8"/>
              </a:buClr>
              <a:buSzPts val="1575"/>
              <a:buFont typeface="Arial"/>
              <a:buNone/>
            </a:pPr>
            <a:r>
              <a:rPr lang="en-US" sz="1575">
                <a:solidFill>
                  <a:srgbClr val="BFD6E8"/>
                </a:solidFill>
                <a:latin typeface="Arial"/>
                <a:ea typeface="Arial"/>
                <a:cs typeface="Arial"/>
                <a:sym typeface="Arial"/>
              </a:rPr>
              <a:t>Despliegue Payara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14"/>
          <p:cNvSpPr/>
          <p:nvPr/>
        </p:nvSpPr>
        <p:spPr>
          <a:xfrm>
            <a:off x="533400" y="9563100"/>
            <a:ext cx="37719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A2BF"/>
              </a:buClr>
              <a:buSzPts val="971"/>
              <a:buFont typeface="Arial"/>
              <a:buNone/>
            </a:pPr>
            <a:r>
              <a:rPr lang="en-US" sz="971">
                <a:solidFill>
                  <a:srgbClr val="7FA2BF"/>
                </a:solidFill>
                <a:latin typeface="Arial"/>
                <a:ea typeface="Arial"/>
                <a:cs typeface="Arial"/>
                <a:sym typeface="Arial"/>
              </a:rPr>
              <a:t>GR05 · 2026</a:t>
            </a:r>
            <a:endParaRPr sz="97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14"/>
          <p:cNvSpPr/>
          <p:nvPr/>
        </p:nvSpPr>
        <p:spPr>
          <a:xfrm>
            <a:off x="5143500" y="571500"/>
            <a:ext cx="13620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4590B8"/>
                </a:solidFill>
                <a:latin typeface="Arial"/>
                <a:ea typeface="Arial"/>
                <a:cs typeface="Arial"/>
                <a:sym typeface="Arial"/>
              </a:rPr>
              <a:t>06 · WSFederacion — PROYECTO Y DESPLIEGUE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14"/>
          <p:cNvSpPr/>
          <p:nvPr/>
        </p:nvSpPr>
        <p:spPr>
          <a:xfrm>
            <a:off x="5143500" y="952500"/>
            <a:ext cx="12753975" cy="11980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3260"/>
              </a:buClr>
              <a:buSzPts val="4350"/>
              <a:buFont typeface="Arial"/>
              <a:buNone/>
            </a:pPr>
            <a:r>
              <a:rPr b="1" lang="en-US" sz="4350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Proyecto en NetBeans + </a:t>
            </a:r>
            <a:r>
              <a:rPr b="1" lang="en-US" sz="4350">
                <a:solidFill>
                  <a:srgbClr val="42955F"/>
                </a:solidFill>
                <a:latin typeface="Arial"/>
                <a:ea typeface="Arial"/>
                <a:cs typeface="Arial"/>
                <a:sym typeface="Arial"/>
              </a:rPr>
              <a:t>despliegue WSDL</a:t>
            </a:r>
            <a:endParaRPr sz="4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14"/>
          <p:cNvSpPr/>
          <p:nvPr/>
        </p:nvSpPr>
        <p:spPr>
          <a:xfrm>
            <a:off x="5143500" y="2188666"/>
            <a:ext cx="1143000" cy="57150"/>
          </a:xfrm>
          <a:prstGeom prst="rect">
            <a:avLst/>
          </a:prstGeom>
          <a:solidFill>
            <a:srgbClr val="C124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14"/>
          <p:cNvSpPr/>
          <p:nvPr/>
        </p:nvSpPr>
        <p:spPr>
          <a:xfrm>
            <a:off x="5505450" y="2769691"/>
            <a:ext cx="5867876" cy="3542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C2330"/>
              </a:buClr>
              <a:buSzPts val="1595"/>
              <a:buFont typeface="Arial"/>
              <a:buNone/>
            </a:pPr>
            <a:r>
              <a:rPr lang="en-US" sz="1596">
                <a:solidFill>
                  <a:srgbClr val="1C2330"/>
                </a:solidFill>
                <a:latin typeface="Arial"/>
                <a:ea typeface="Arial"/>
                <a:cs typeface="Arial"/>
                <a:sym typeface="Arial"/>
              </a:rPr>
              <a:t>Maven &gt; </a:t>
            </a:r>
            <a:r>
              <a:rPr b="1" lang="en-US" sz="1596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Aplicación Web </a:t>
            </a:r>
            <a:r>
              <a:rPr lang="en-US" sz="1596">
                <a:solidFill>
                  <a:srgbClr val="1C2330"/>
                </a:solidFill>
                <a:latin typeface="Arial"/>
                <a:ea typeface="Arial"/>
                <a:cs typeface="Arial"/>
                <a:sym typeface="Arial"/>
              </a:rPr>
              <a:t>· </a:t>
            </a:r>
            <a:r>
              <a:rPr lang="en-US" sz="1596">
                <a:solidFill>
                  <a:srgbClr val="1C2330"/>
                </a:solidFill>
                <a:latin typeface="Courier New"/>
                <a:ea typeface="Courier New"/>
                <a:cs typeface="Courier New"/>
                <a:sym typeface="Courier New"/>
              </a:rPr>
              <a:t>TP_SOAP_JAVA_SERVICIO_G5</a:t>
            </a:r>
            <a:endParaRPr sz="159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14"/>
          <p:cNvSpPr/>
          <p:nvPr/>
        </p:nvSpPr>
        <p:spPr>
          <a:xfrm>
            <a:off x="5505450" y="3257252"/>
            <a:ext cx="5867876" cy="3542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C2330"/>
              </a:buClr>
              <a:buSzPts val="1595"/>
              <a:buFont typeface="Arial"/>
              <a:buNone/>
            </a:pPr>
            <a:r>
              <a:rPr lang="en-US" sz="1596">
                <a:solidFill>
                  <a:srgbClr val="1C2330"/>
                </a:solidFill>
                <a:latin typeface="Arial"/>
                <a:ea typeface="Arial"/>
                <a:cs typeface="Arial"/>
                <a:sym typeface="Arial"/>
              </a:rPr>
              <a:t>Paquete </a:t>
            </a:r>
            <a:r>
              <a:rPr lang="en-US" sz="1596">
                <a:solidFill>
                  <a:srgbClr val="1C2330"/>
                </a:solidFill>
                <a:latin typeface="Courier New"/>
                <a:ea typeface="Courier New"/>
                <a:cs typeface="Courier New"/>
                <a:sym typeface="Courier New"/>
              </a:rPr>
              <a:t>ec.edu.monster </a:t>
            </a:r>
            <a:r>
              <a:rPr lang="en-US" sz="1596">
                <a:solidFill>
                  <a:srgbClr val="1C2330"/>
                </a:solidFill>
                <a:latin typeface="Arial"/>
                <a:ea typeface="Arial"/>
                <a:cs typeface="Arial"/>
                <a:sym typeface="Arial"/>
              </a:rPr>
              <a:t>· Payara Server 6</a:t>
            </a:r>
            <a:endParaRPr sz="159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14"/>
          <p:cNvSpPr/>
          <p:nvPr/>
        </p:nvSpPr>
        <p:spPr>
          <a:xfrm>
            <a:off x="5505450" y="3744813"/>
            <a:ext cx="5867876" cy="67032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C2330"/>
              </a:buClr>
              <a:buSzPts val="1595"/>
              <a:buFont typeface="Courier New"/>
              <a:buNone/>
            </a:pPr>
            <a:r>
              <a:rPr lang="en-US" sz="1596">
                <a:solidFill>
                  <a:srgbClr val="1C2330"/>
                </a:solidFill>
                <a:latin typeface="Courier New"/>
                <a:ea typeface="Courier New"/>
                <a:cs typeface="Courier New"/>
                <a:sym typeface="Courier New"/>
              </a:rPr>
              <a:t>pom.xml</a:t>
            </a:r>
            <a:r>
              <a:rPr lang="en-US" sz="1596">
                <a:solidFill>
                  <a:srgbClr val="1C233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1596">
                <a:solidFill>
                  <a:srgbClr val="1C2330"/>
                </a:solidFill>
                <a:latin typeface="Courier New"/>
                <a:ea typeface="Courier New"/>
                <a:cs typeface="Courier New"/>
                <a:sym typeface="Courier New"/>
              </a:rPr>
              <a:t>jakartaee-api </a:t>
            </a:r>
            <a:r>
              <a:rPr lang="en-US" sz="1596">
                <a:solidFill>
                  <a:srgbClr val="1C2330"/>
                </a:solidFill>
                <a:latin typeface="Arial"/>
                <a:ea typeface="Arial"/>
                <a:cs typeface="Arial"/>
                <a:sym typeface="Arial"/>
              </a:rPr>
              <a:t>(provided) + </a:t>
            </a:r>
            <a:r>
              <a:rPr lang="en-US" sz="1596">
                <a:solidFill>
                  <a:srgbClr val="1C2330"/>
                </a:solidFill>
                <a:latin typeface="Courier New"/>
                <a:ea typeface="Courier New"/>
                <a:cs typeface="Courier New"/>
                <a:sym typeface="Courier New"/>
              </a:rPr>
              <a:t>mysql-connector-j</a:t>
            </a:r>
            <a:endParaRPr sz="159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14"/>
          <p:cNvSpPr/>
          <p:nvPr/>
        </p:nvSpPr>
        <p:spPr>
          <a:xfrm>
            <a:off x="5505450" y="4548485"/>
            <a:ext cx="5867876" cy="3542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C2330"/>
              </a:buClr>
              <a:buSzPts val="1595"/>
              <a:buFont typeface="Arial"/>
              <a:buNone/>
            </a:pPr>
            <a:r>
              <a:rPr lang="en-US" sz="1596">
                <a:solidFill>
                  <a:srgbClr val="1C2330"/>
                </a:solidFill>
                <a:latin typeface="Arial"/>
                <a:ea typeface="Arial"/>
                <a:cs typeface="Arial"/>
                <a:sym typeface="Arial"/>
              </a:rPr>
              <a:t>Verificar </a:t>
            </a:r>
            <a:r>
              <a:rPr lang="en-US" sz="1596">
                <a:solidFill>
                  <a:srgbClr val="1C2330"/>
                </a:solidFill>
                <a:latin typeface="Courier New"/>
                <a:ea typeface="Courier New"/>
                <a:cs typeface="Courier New"/>
                <a:sym typeface="Courier New"/>
              </a:rPr>
              <a:t>ticketpremium_db </a:t>
            </a:r>
            <a:r>
              <a:rPr lang="en-US" sz="1596">
                <a:solidFill>
                  <a:srgbClr val="1C2330"/>
                </a:solidFill>
                <a:latin typeface="Arial"/>
                <a:ea typeface="Arial"/>
                <a:cs typeface="Arial"/>
                <a:sym typeface="Arial"/>
              </a:rPr>
              <a:t>(Crea_BD + Carga_Datos)</a:t>
            </a:r>
            <a:endParaRPr sz="159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14"/>
          <p:cNvSpPr/>
          <p:nvPr/>
        </p:nvSpPr>
        <p:spPr>
          <a:xfrm>
            <a:off x="5505450" y="5036046"/>
            <a:ext cx="5867876" cy="3542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C2330"/>
              </a:buClr>
              <a:buSzPts val="1595"/>
              <a:buFont typeface="Arial"/>
              <a:buNone/>
            </a:pPr>
            <a:r>
              <a:rPr lang="en-US" sz="1596">
                <a:solidFill>
                  <a:srgbClr val="1C2330"/>
                </a:solidFill>
                <a:latin typeface="Arial"/>
                <a:ea typeface="Arial"/>
                <a:cs typeface="Arial"/>
                <a:sym typeface="Arial"/>
              </a:rPr>
              <a:t>Clean &amp; Build (Shift+F11) · deploy del WAR con </a:t>
            </a:r>
            <a:r>
              <a:rPr lang="en-US" sz="1596">
                <a:solidFill>
                  <a:srgbClr val="1C2330"/>
                </a:solidFill>
                <a:latin typeface="Courier New"/>
                <a:ea typeface="Courier New"/>
                <a:cs typeface="Courier New"/>
                <a:sym typeface="Courier New"/>
              </a:rPr>
              <a:t>asadmin</a:t>
            </a:r>
            <a:endParaRPr sz="159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14"/>
          <p:cNvSpPr/>
          <p:nvPr/>
        </p:nvSpPr>
        <p:spPr>
          <a:xfrm>
            <a:off x="5143500" y="8562082"/>
            <a:ext cx="6653212" cy="2238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3260"/>
              </a:buClr>
              <a:buSzPts val="1040"/>
              <a:buFont typeface="Arial"/>
              <a:buNone/>
            </a:pPr>
            <a:r>
              <a:rPr b="1" lang="en-US" sz="1041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FIGURA 2 </a:t>
            </a:r>
            <a:r>
              <a:rPr i="1" lang="en-US" sz="104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— Proyecto servidor WSFederacion en NetBeans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14"/>
          <p:cNvSpPr/>
          <p:nvPr/>
        </p:nvSpPr>
        <p:spPr>
          <a:xfrm>
            <a:off x="11477625" y="8075116"/>
            <a:ext cx="6653212" cy="2333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3260"/>
              </a:buClr>
              <a:buSzPts val="1040"/>
              <a:buFont typeface="Arial"/>
              <a:buNone/>
            </a:pPr>
            <a:r>
              <a:rPr b="1" lang="en-US" sz="1041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FIGURA 3 </a:t>
            </a:r>
            <a:r>
              <a:rPr i="1" lang="en-US" sz="104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— WSDL de WSFederacion con todas las operaciones · </a:t>
            </a:r>
            <a:r>
              <a:rPr i="1" lang="en-US" sz="1041">
                <a:solidFill>
                  <a:srgbClr val="6B7280"/>
                </a:solidFill>
                <a:latin typeface="Courier New"/>
                <a:ea typeface="Courier New"/>
                <a:cs typeface="Courier New"/>
                <a:sym typeface="Courier New"/>
              </a:rPr>
              <a:t>?wsdl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14"/>
          <p:cNvSpPr/>
          <p:nvPr/>
        </p:nvSpPr>
        <p:spPr>
          <a:xfrm>
            <a:off x="5143500" y="9772650"/>
            <a:ext cx="5850374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10"/>
              <a:buFont typeface="Arial"/>
              <a:buNone/>
            </a:pPr>
            <a:r>
              <a:rPr b="1" lang="en-US" sz="111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TP_SOAP_JAVA_MASHUP_AWS_G5 · 06 WSFEDERACION</a:t>
            </a:r>
            <a:endParaRPr sz="111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14"/>
          <p:cNvSpPr/>
          <p:nvPr/>
        </p:nvSpPr>
        <p:spPr>
          <a:xfrm>
            <a:off x="17571393" y="9744075"/>
            <a:ext cx="335607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4590B8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14"/>
          <p:cNvSpPr/>
          <p:nvPr/>
        </p:nvSpPr>
        <p:spPr>
          <a:xfrm>
            <a:off x="0" y="10153650"/>
            <a:ext cx="18288000" cy="133350"/>
          </a:xfrm>
          <a:prstGeom prst="rect">
            <a:avLst/>
          </a:prstGeom>
          <a:gradFill>
            <a:gsLst>
              <a:gs pos="0">
                <a:srgbClr val="1A3260"/>
              </a:gs>
              <a:gs pos="50000">
                <a:srgbClr val="1A3260"/>
              </a:gs>
              <a:gs pos="75000">
                <a:srgbClr val="42955F"/>
              </a:gs>
              <a:gs pos="100000">
                <a:srgbClr val="E8821E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90" name="Google Shape;59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22265"/>
            <a:ext cx="18288000" cy="345543"/>
          </a:xfrm>
          <a:prstGeom prst="rect">
            <a:avLst/>
          </a:prstGeom>
          <a:noFill/>
          <a:ln>
            <a:noFill/>
          </a:ln>
        </p:spPr>
      </p:pic>
      <p:pic>
        <p:nvPicPr>
          <p:cNvPr id="591" name="Google Shape;591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43500" y="5523600"/>
            <a:ext cx="5941640" cy="2901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592" name="Google Shape;592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373313" y="3611477"/>
            <a:ext cx="6566375" cy="431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15"/>
          <p:cNvSpPr/>
          <p:nvPr/>
        </p:nvSpPr>
        <p:spPr>
          <a:xfrm>
            <a:off x="0" y="0"/>
            <a:ext cx="4381500" cy="10287000"/>
          </a:xfrm>
          <a:prstGeom prst="rect">
            <a:avLst/>
          </a:prstGeom>
          <a:solidFill>
            <a:srgbClr val="1A32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15"/>
          <p:cNvSpPr/>
          <p:nvPr/>
        </p:nvSpPr>
        <p:spPr>
          <a:xfrm>
            <a:off x="533400" y="628650"/>
            <a:ext cx="133350" cy="133350"/>
          </a:xfrm>
          <a:prstGeom prst="rect">
            <a:avLst/>
          </a:prstGeom>
          <a:solidFill>
            <a:srgbClr val="45C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15"/>
          <p:cNvSpPr/>
          <p:nvPr/>
        </p:nvSpPr>
        <p:spPr>
          <a:xfrm>
            <a:off x="800100" y="571500"/>
            <a:ext cx="2839566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06 · WSFEDERACION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15"/>
          <p:cNvSpPr/>
          <p:nvPr/>
        </p:nvSpPr>
        <p:spPr>
          <a:xfrm>
            <a:off x="533400" y="1219200"/>
            <a:ext cx="4000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CBE8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45CBE8"/>
                </a:solidFill>
                <a:latin typeface="Arial"/>
                <a:ea typeface="Arial"/>
                <a:cs typeface="Arial"/>
                <a:sym typeface="Arial"/>
              </a:rPr>
              <a:t>6.1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15"/>
          <p:cNvSpPr/>
          <p:nvPr/>
        </p:nvSpPr>
        <p:spPr>
          <a:xfrm>
            <a:off x="990600" y="1257300"/>
            <a:ext cx="1901577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6E8"/>
              </a:buClr>
              <a:buSzPts val="1575"/>
              <a:buFont typeface="Arial"/>
              <a:buNone/>
            </a:pPr>
            <a:r>
              <a:rPr lang="en-US" sz="1575">
                <a:solidFill>
                  <a:srgbClr val="BFD6E8"/>
                </a:solidFill>
                <a:latin typeface="Arial"/>
                <a:ea typeface="Arial"/>
                <a:cs typeface="Arial"/>
                <a:sym typeface="Arial"/>
              </a:rPr>
              <a:t>Proyecto NetBeans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15"/>
          <p:cNvSpPr/>
          <p:nvPr/>
        </p:nvSpPr>
        <p:spPr>
          <a:xfrm>
            <a:off x="533400" y="1628775"/>
            <a:ext cx="4000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6.2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15"/>
          <p:cNvSpPr/>
          <p:nvPr/>
        </p:nvSpPr>
        <p:spPr>
          <a:xfrm>
            <a:off x="990600" y="1628775"/>
            <a:ext cx="204296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Operaciones (42)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15"/>
          <p:cNvSpPr/>
          <p:nvPr/>
        </p:nvSpPr>
        <p:spPr>
          <a:xfrm>
            <a:off x="533400" y="2038350"/>
            <a:ext cx="4000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6.3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15"/>
          <p:cNvSpPr/>
          <p:nvPr/>
        </p:nvSpPr>
        <p:spPr>
          <a:xfrm>
            <a:off x="990600" y="2038350"/>
            <a:ext cx="248260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comprarBoletosMulti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15"/>
          <p:cNvSpPr/>
          <p:nvPr/>
        </p:nvSpPr>
        <p:spPr>
          <a:xfrm>
            <a:off x="533400" y="2447925"/>
            <a:ext cx="4000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CBE8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45CBE8"/>
                </a:solidFill>
                <a:latin typeface="Arial"/>
                <a:ea typeface="Arial"/>
                <a:cs typeface="Arial"/>
                <a:sym typeface="Arial"/>
              </a:rPr>
              <a:t>6.4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15"/>
          <p:cNvSpPr/>
          <p:nvPr/>
        </p:nvSpPr>
        <p:spPr>
          <a:xfrm>
            <a:off x="990600" y="2486025"/>
            <a:ext cx="1868388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6E8"/>
              </a:buClr>
              <a:buSzPts val="1575"/>
              <a:buFont typeface="Arial"/>
              <a:buNone/>
            </a:pPr>
            <a:r>
              <a:rPr lang="en-US" sz="1575">
                <a:solidFill>
                  <a:srgbClr val="BFD6E8"/>
                </a:solidFill>
                <a:latin typeface="Arial"/>
                <a:ea typeface="Arial"/>
                <a:cs typeface="Arial"/>
                <a:sym typeface="Arial"/>
              </a:rPr>
              <a:t>Despliegue Payara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15"/>
          <p:cNvSpPr/>
          <p:nvPr/>
        </p:nvSpPr>
        <p:spPr>
          <a:xfrm>
            <a:off x="533400" y="9563100"/>
            <a:ext cx="37719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A2BF"/>
              </a:buClr>
              <a:buSzPts val="971"/>
              <a:buFont typeface="Arial"/>
              <a:buNone/>
            </a:pPr>
            <a:r>
              <a:rPr lang="en-US" sz="971">
                <a:solidFill>
                  <a:srgbClr val="7FA2BF"/>
                </a:solidFill>
                <a:latin typeface="Arial"/>
                <a:ea typeface="Arial"/>
                <a:cs typeface="Arial"/>
                <a:sym typeface="Arial"/>
              </a:rPr>
              <a:t>GR05 · 2026</a:t>
            </a:r>
            <a:endParaRPr sz="97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15"/>
          <p:cNvSpPr/>
          <p:nvPr/>
        </p:nvSpPr>
        <p:spPr>
          <a:xfrm>
            <a:off x="5143500" y="571500"/>
            <a:ext cx="13620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4590B8"/>
                </a:solidFill>
                <a:latin typeface="Arial"/>
                <a:ea typeface="Arial"/>
                <a:cs typeface="Arial"/>
                <a:sym typeface="Arial"/>
              </a:rPr>
              <a:t>06 · WSFederacion — 42 OPERACIONES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15"/>
          <p:cNvSpPr/>
          <p:nvPr/>
        </p:nvSpPr>
        <p:spPr>
          <a:xfrm>
            <a:off x="5143500" y="952500"/>
            <a:ext cx="13620750" cy="6180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A3260"/>
              </a:buClr>
              <a:buSzPts val="4023"/>
              <a:buFont typeface="Arial"/>
              <a:buNone/>
            </a:pPr>
            <a:r>
              <a:rPr b="1" lang="en-US" sz="4024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Operaciones del </a:t>
            </a:r>
            <a:r>
              <a:rPr b="1" lang="en-US" sz="4024">
                <a:solidFill>
                  <a:srgbClr val="42955F"/>
                </a:solidFill>
                <a:latin typeface="Arial"/>
                <a:ea typeface="Arial"/>
                <a:cs typeface="Arial"/>
                <a:sym typeface="Arial"/>
              </a:rPr>
              <a:t>WSFederacion</a:t>
            </a:r>
            <a:endParaRPr sz="4024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15"/>
          <p:cNvSpPr/>
          <p:nvPr/>
        </p:nvSpPr>
        <p:spPr>
          <a:xfrm>
            <a:off x="5143500" y="1608683"/>
            <a:ext cx="1143000" cy="57150"/>
          </a:xfrm>
          <a:prstGeom prst="rect">
            <a:avLst/>
          </a:prstGeom>
          <a:solidFill>
            <a:srgbClr val="C124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15"/>
          <p:cNvSpPr/>
          <p:nvPr/>
        </p:nvSpPr>
        <p:spPr>
          <a:xfrm>
            <a:off x="5143500" y="2103983"/>
            <a:ext cx="2117973" cy="423863"/>
          </a:xfrm>
          <a:prstGeom prst="rect">
            <a:avLst/>
          </a:prstGeom>
          <a:solidFill>
            <a:srgbClr val="1A32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15"/>
          <p:cNvSpPr/>
          <p:nvPr/>
        </p:nvSpPr>
        <p:spPr>
          <a:xfrm>
            <a:off x="5143500" y="2518321"/>
            <a:ext cx="211797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15"/>
          <p:cNvSpPr/>
          <p:nvPr/>
        </p:nvSpPr>
        <p:spPr>
          <a:xfrm>
            <a:off x="5276850" y="2208758"/>
            <a:ext cx="1927473" cy="2428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63"/>
              <a:buFont typeface="Arial"/>
              <a:buNone/>
            </a:pPr>
            <a:r>
              <a:rPr b="1" lang="en-US" sz="1163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Categoría</a:t>
            </a:r>
            <a:endParaRPr sz="116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15"/>
          <p:cNvSpPr/>
          <p:nvPr/>
        </p:nvSpPr>
        <p:spPr>
          <a:xfrm>
            <a:off x="7261473" y="2103983"/>
            <a:ext cx="4535239" cy="423863"/>
          </a:xfrm>
          <a:prstGeom prst="rect">
            <a:avLst/>
          </a:prstGeom>
          <a:solidFill>
            <a:srgbClr val="1A32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15"/>
          <p:cNvSpPr/>
          <p:nvPr/>
        </p:nvSpPr>
        <p:spPr>
          <a:xfrm>
            <a:off x="7261473" y="2518321"/>
            <a:ext cx="453523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15"/>
          <p:cNvSpPr/>
          <p:nvPr/>
        </p:nvSpPr>
        <p:spPr>
          <a:xfrm>
            <a:off x="7394823" y="2208758"/>
            <a:ext cx="4404597" cy="2428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63"/>
              <a:buFont typeface="Arial"/>
              <a:buNone/>
            </a:pPr>
            <a:r>
              <a:rPr b="1" lang="en-US" sz="1163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Operaciones</a:t>
            </a:r>
            <a:endParaRPr sz="116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15"/>
          <p:cNvSpPr/>
          <p:nvPr/>
        </p:nvSpPr>
        <p:spPr>
          <a:xfrm>
            <a:off x="5143500" y="2946946"/>
            <a:ext cx="211797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15"/>
          <p:cNvSpPr/>
          <p:nvPr/>
        </p:nvSpPr>
        <p:spPr>
          <a:xfrm>
            <a:off x="5276850" y="2632621"/>
            <a:ext cx="1927473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260"/>
              </a:buClr>
              <a:buSzPts val="1163"/>
              <a:buFont typeface="Arial"/>
              <a:buNone/>
            </a:pPr>
            <a:r>
              <a:rPr b="1" lang="en-US" sz="1163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Login</a:t>
            </a:r>
            <a:endParaRPr sz="116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15"/>
          <p:cNvSpPr/>
          <p:nvPr/>
        </p:nvSpPr>
        <p:spPr>
          <a:xfrm>
            <a:off x="7261473" y="2946946"/>
            <a:ext cx="453523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15"/>
          <p:cNvSpPr/>
          <p:nvPr/>
        </p:nvSpPr>
        <p:spPr>
          <a:xfrm>
            <a:off x="7394823" y="2632621"/>
            <a:ext cx="4404597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260"/>
              </a:buClr>
              <a:buSzPts val="1200"/>
              <a:buFont typeface="Consolas"/>
              <a:buNone/>
            </a:pPr>
            <a:r>
              <a:rPr b="1" lang="en-US" sz="1200">
                <a:solidFill>
                  <a:srgbClr val="1A3260"/>
                </a:solidFill>
                <a:latin typeface="Consolas"/>
                <a:ea typeface="Consolas"/>
                <a:cs typeface="Consolas"/>
                <a:sym typeface="Consolas"/>
              </a:rPr>
              <a:t>login → Usuario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15"/>
          <p:cNvSpPr/>
          <p:nvPr/>
        </p:nvSpPr>
        <p:spPr>
          <a:xfrm>
            <a:off x="5143500" y="2956471"/>
            <a:ext cx="6653213" cy="428625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15"/>
          <p:cNvSpPr/>
          <p:nvPr/>
        </p:nvSpPr>
        <p:spPr>
          <a:xfrm>
            <a:off x="5143500" y="3375571"/>
            <a:ext cx="211797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15"/>
          <p:cNvSpPr/>
          <p:nvPr/>
        </p:nvSpPr>
        <p:spPr>
          <a:xfrm>
            <a:off x="5276850" y="3061246"/>
            <a:ext cx="1927473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260"/>
              </a:buClr>
              <a:buSzPts val="1163"/>
              <a:buFont typeface="Arial"/>
              <a:buNone/>
            </a:pPr>
            <a:r>
              <a:rPr b="1" lang="en-US" sz="1163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Partidos</a:t>
            </a:r>
            <a:endParaRPr sz="116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15"/>
          <p:cNvSpPr/>
          <p:nvPr/>
        </p:nvSpPr>
        <p:spPr>
          <a:xfrm>
            <a:off x="7261473" y="3375571"/>
            <a:ext cx="453523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15"/>
          <p:cNvSpPr/>
          <p:nvPr/>
        </p:nvSpPr>
        <p:spPr>
          <a:xfrm>
            <a:off x="7394823" y="3061246"/>
            <a:ext cx="4404597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260"/>
              </a:buClr>
              <a:buSzPts val="1200"/>
              <a:buFont typeface="Consolas"/>
              <a:buNone/>
            </a:pPr>
            <a:r>
              <a:rPr b="1" lang="en-US" sz="1200">
                <a:solidFill>
                  <a:srgbClr val="1A3260"/>
                </a:solidFill>
                <a:latin typeface="Consolas"/>
                <a:ea typeface="Consolas"/>
                <a:cs typeface="Consolas"/>
                <a:sym typeface="Consolas"/>
              </a:rPr>
              <a:t>obtenerPartidosDisponibles()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15"/>
          <p:cNvSpPr/>
          <p:nvPr/>
        </p:nvSpPr>
        <p:spPr>
          <a:xfrm>
            <a:off x="5143500" y="3804196"/>
            <a:ext cx="211797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15"/>
          <p:cNvSpPr/>
          <p:nvPr/>
        </p:nvSpPr>
        <p:spPr>
          <a:xfrm>
            <a:off x="5276850" y="3489871"/>
            <a:ext cx="1927473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260"/>
              </a:buClr>
              <a:buSzPts val="1163"/>
              <a:buFont typeface="Arial"/>
              <a:buNone/>
            </a:pPr>
            <a:r>
              <a:rPr b="1" lang="en-US" sz="1163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Localidades</a:t>
            </a:r>
            <a:endParaRPr sz="116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15"/>
          <p:cNvSpPr/>
          <p:nvPr/>
        </p:nvSpPr>
        <p:spPr>
          <a:xfrm>
            <a:off x="7261473" y="3804196"/>
            <a:ext cx="453523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15"/>
          <p:cNvSpPr/>
          <p:nvPr/>
        </p:nvSpPr>
        <p:spPr>
          <a:xfrm>
            <a:off x="7394823" y="3489871"/>
            <a:ext cx="4404597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260"/>
              </a:buClr>
              <a:buSzPts val="1200"/>
              <a:buFont typeface="Consolas"/>
              <a:buNone/>
            </a:pPr>
            <a:r>
              <a:rPr b="1" lang="en-US" sz="1200">
                <a:solidFill>
                  <a:srgbClr val="1A3260"/>
                </a:solidFill>
                <a:latin typeface="Consolas"/>
                <a:ea typeface="Consolas"/>
                <a:cs typeface="Consolas"/>
                <a:sym typeface="Consolas"/>
              </a:rPr>
              <a:t>obtenerLocalidades(cod)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15"/>
          <p:cNvSpPr/>
          <p:nvPr/>
        </p:nvSpPr>
        <p:spPr>
          <a:xfrm>
            <a:off x="5143500" y="3813721"/>
            <a:ext cx="6653213" cy="428625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15"/>
          <p:cNvSpPr/>
          <p:nvPr/>
        </p:nvSpPr>
        <p:spPr>
          <a:xfrm>
            <a:off x="5143500" y="4232821"/>
            <a:ext cx="211797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15"/>
          <p:cNvSpPr/>
          <p:nvPr/>
        </p:nvSpPr>
        <p:spPr>
          <a:xfrm>
            <a:off x="5276850" y="3918496"/>
            <a:ext cx="1927473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260"/>
              </a:buClr>
              <a:buSzPts val="1163"/>
              <a:buFont typeface="Arial"/>
              <a:buNone/>
            </a:pPr>
            <a:r>
              <a:rPr b="1" lang="en-US" sz="1163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Asientos</a:t>
            </a:r>
            <a:endParaRPr sz="116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15"/>
          <p:cNvSpPr/>
          <p:nvPr/>
        </p:nvSpPr>
        <p:spPr>
          <a:xfrm>
            <a:off x="7261473" y="4232821"/>
            <a:ext cx="453523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15"/>
          <p:cNvSpPr/>
          <p:nvPr/>
        </p:nvSpPr>
        <p:spPr>
          <a:xfrm>
            <a:off x="7394823" y="3918496"/>
            <a:ext cx="4404597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260"/>
              </a:buClr>
              <a:buSzPts val="1200"/>
              <a:buFont typeface="Consolas"/>
              <a:buNone/>
            </a:pPr>
            <a:r>
              <a:rPr b="1" lang="en-US" sz="1200">
                <a:solidFill>
                  <a:srgbClr val="1A3260"/>
                </a:solidFill>
                <a:latin typeface="Consolas"/>
                <a:ea typeface="Consolas"/>
                <a:cs typeface="Consolas"/>
                <a:sym typeface="Consolas"/>
              </a:rPr>
              <a:t>obtenerAsientosPartido(cod)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15"/>
          <p:cNvSpPr/>
          <p:nvPr/>
        </p:nvSpPr>
        <p:spPr>
          <a:xfrm>
            <a:off x="5143500" y="4661446"/>
            <a:ext cx="211797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15"/>
          <p:cNvSpPr/>
          <p:nvPr/>
        </p:nvSpPr>
        <p:spPr>
          <a:xfrm>
            <a:off x="5276850" y="4347121"/>
            <a:ext cx="1927473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260"/>
              </a:buClr>
              <a:buSzPts val="1163"/>
              <a:buFont typeface="Arial"/>
              <a:buNone/>
            </a:pPr>
            <a:r>
              <a:rPr b="1" lang="en-US" sz="1163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Reserva</a:t>
            </a:r>
            <a:endParaRPr sz="116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15"/>
          <p:cNvSpPr/>
          <p:nvPr/>
        </p:nvSpPr>
        <p:spPr>
          <a:xfrm>
            <a:off x="7261473" y="4661446"/>
            <a:ext cx="453523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15"/>
          <p:cNvSpPr/>
          <p:nvPr/>
        </p:nvSpPr>
        <p:spPr>
          <a:xfrm>
            <a:off x="7394823" y="4347121"/>
            <a:ext cx="4404597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260"/>
              </a:buClr>
              <a:buSzPts val="1200"/>
              <a:buFont typeface="Consolas"/>
              <a:buNone/>
            </a:pPr>
            <a:r>
              <a:rPr b="1" lang="en-US" sz="1200">
                <a:solidFill>
                  <a:srgbClr val="1A3260"/>
                </a:solidFill>
                <a:latin typeface="Consolas"/>
                <a:ea typeface="Consolas"/>
                <a:cs typeface="Consolas"/>
                <a:sym typeface="Consolas"/>
              </a:rPr>
              <a:t>reservarAsientoTemporal(id, bool)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15"/>
          <p:cNvSpPr/>
          <p:nvPr/>
        </p:nvSpPr>
        <p:spPr>
          <a:xfrm>
            <a:off x="5143500" y="4670971"/>
            <a:ext cx="6653213" cy="428625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15"/>
          <p:cNvSpPr/>
          <p:nvPr/>
        </p:nvSpPr>
        <p:spPr>
          <a:xfrm>
            <a:off x="5143500" y="5090071"/>
            <a:ext cx="211797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15"/>
          <p:cNvSpPr/>
          <p:nvPr/>
        </p:nvSpPr>
        <p:spPr>
          <a:xfrm>
            <a:off x="5276850" y="4775746"/>
            <a:ext cx="1927473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260"/>
              </a:buClr>
              <a:buSzPts val="1163"/>
              <a:buFont typeface="Arial"/>
              <a:buNone/>
            </a:pPr>
            <a:r>
              <a:rPr b="1" lang="en-US" sz="1163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Venta mashup</a:t>
            </a:r>
            <a:endParaRPr sz="116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15"/>
          <p:cNvSpPr/>
          <p:nvPr/>
        </p:nvSpPr>
        <p:spPr>
          <a:xfrm>
            <a:off x="7261473" y="5090071"/>
            <a:ext cx="453523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15"/>
          <p:cNvSpPr/>
          <p:nvPr/>
        </p:nvSpPr>
        <p:spPr>
          <a:xfrm>
            <a:off x="7394823" y="4775746"/>
            <a:ext cx="4404597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260"/>
              </a:buClr>
              <a:buSzPts val="1200"/>
              <a:buFont typeface="Consolas"/>
              <a:buNone/>
            </a:pPr>
            <a:r>
              <a:rPr b="1" lang="en-US" sz="1200">
                <a:solidFill>
                  <a:srgbClr val="1A3260"/>
                </a:solidFill>
                <a:latin typeface="Consolas"/>
                <a:ea typeface="Consolas"/>
                <a:cs typeface="Consolas"/>
                <a:sym typeface="Consolas"/>
              </a:rPr>
              <a:t>comprarBoletosMulti(...)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15"/>
          <p:cNvSpPr/>
          <p:nvPr/>
        </p:nvSpPr>
        <p:spPr>
          <a:xfrm>
            <a:off x="5143500" y="5518696"/>
            <a:ext cx="211797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15"/>
          <p:cNvSpPr/>
          <p:nvPr/>
        </p:nvSpPr>
        <p:spPr>
          <a:xfrm>
            <a:off x="5276850" y="5204371"/>
            <a:ext cx="1927473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260"/>
              </a:buClr>
              <a:buSzPts val="1163"/>
              <a:buFont typeface="Arial"/>
              <a:buNone/>
            </a:pPr>
            <a:r>
              <a:rPr b="1" lang="en-US" sz="1163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Reportes</a:t>
            </a:r>
            <a:endParaRPr sz="116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15"/>
          <p:cNvSpPr/>
          <p:nvPr/>
        </p:nvSpPr>
        <p:spPr>
          <a:xfrm>
            <a:off x="7261473" y="5518696"/>
            <a:ext cx="453523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15"/>
          <p:cNvSpPr/>
          <p:nvPr/>
        </p:nvSpPr>
        <p:spPr>
          <a:xfrm>
            <a:off x="7394823" y="5204371"/>
            <a:ext cx="4404597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260"/>
              </a:buClr>
              <a:buSzPts val="1200"/>
              <a:buFont typeface="Consolas"/>
              <a:buNone/>
            </a:pPr>
            <a:r>
              <a:rPr b="1" lang="en-US" sz="1200">
                <a:solidFill>
                  <a:srgbClr val="1A3260"/>
                </a:solidFill>
                <a:latin typeface="Consolas"/>
                <a:ea typeface="Consolas"/>
                <a:cs typeface="Consolas"/>
                <a:sym typeface="Consolas"/>
              </a:rPr>
              <a:t>obtenerResumen/DetalleVentas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15"/>
          <p:cNvSpPr/>
          <p:nvPr/>
        </p:nvSpPr>
        <p:spPr>
          <a:xfrm>
            <a:off x="5143500" y="5528221"/>
            <a:ext cx="6653213" cy="428625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15"/>
          <p:cNvSpPr/>
          <p:nvPr/>
        </p:nvSpPr>
        <p:spPr>
          <a:xfrm>
            <a:off x="5143500" y="5947321"/>
            <a:ext cx="211797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15"/>
          <p:cNvSpPr/>
          <p:nvPr/>
        </p:nvSpPr>
        <p:spPr>
          <a:xfrm>
            <a:off x="5276850" y="5632996"/>
            <a:ext cx="1927473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260"/>
              </a:buClr>
              <a:buSzPts val="1163"/>
              <a:buFont typeface="Arial"/>
              <a:buNone/>
            </a:pPr>
            <a:r>
              <a:rPr b="1" lang="en-US" sz="1163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CRUD ×5</a:t>
            </a:r>
            <a:endParaRPr sz="116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15"/>
          <p:cNvSpPr/>
          <p:nvPr/>
        </p:nvSpPr>
        <p:spPr>
          <a:xfrm>
            <a:off x="7261473" y="5947321"/>
            <a:ext cx="453523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15"/>
          <p:cNvSpPr/>
          <p:nvPr/>
        </p:nvSpPr>
        <p:spPr>
          <a:xfrm>
            <a:off x="7394823" y="5632996"/>
            <a:ext cx="4404597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330"/>
              </a:buClr>
              <a:buSzPts val="1163"/>
              <a:buFont typeface="Arial"/>
              <a:buNone/>
            </a:pPr>
            <a:r>
              <a:rPr lang="en-US" sz="1163">
                <a:solidFill>
                  <a:srgbClr val="1C2330"/>
                </a:solidFill>
                <a:latin typeface="Arial"/>
                <a:ea typeface="Arial"/>
                <a:cs typeface="Arial"/>
                <a:sym typeface="Arial"/>
              </a:rPr>
              <a:t>País · Estadio · Equipo · Cliente · Partido</a:t>
            </a:r>
            <a:endParaRPr sz="116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15"/>
          <p:cNvSpPr/>
          <p:nvPr/>
        </p:nvSpPr>
        <p:spPr>
          <a:xfrm>
            <a:off x="12082463" y="2027783"/>
            <a:ext cx="5987891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25"/>
              <a:buFont typeface="Arial"/>
              <a:buNone/>
            </a:pPr>
            <a:r>
              <a:rPr b="1" lang="en-US" sz="1125">
                <a:solidFill>
                  <a:srgbClr val="4590B8"/>
                </a:solidFill>
                <a:latin typeface="Arial"/>
                <a:ea typeface="Arial"/>
                <a:cs typeface="Arial"/>
                <a:sym typeface="Arial"/>
              </a:rPr>
              <a:t>6.3 · OPERACIÓN MASHUP</a:t>
            </a:r>
            <a:endParaRPr sz="11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15"/>
          <p:cNvSpPr/>
          <p:nvPr/>
        </p:nvSpPr>
        <p:spPr>
          <a:xfrm>
            <a:off x="12082463" y="2332583"/>
            <a:ext cx="5443538" cy="2650480"/>
          </a:xfrm>
          <a:prstGeom prst="roundRect">
            <a:avLst>
              <a:gd fmla="val 2875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15"/>
          <p:cNvSpPr/>
          <p:nvPr/>
        </p:nvSpPr>
        <p:spPr>
          <a:xfrm>
            <a:off x="12330113" y="2542133"/>
            <a:ext cx="5111544" cy="2269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87"/>
              <a:buFont typeface="Consolas"/>
              <a:buNone/>
            </a:pPr>
            <a:r>
              <a:rPr lang="en-US" sz="788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-US" sz="788">
                <a:solidFill>
                  <a:srgbClr val="FFA657"/>
                </a:solidFill>
                <a:latin typeface="Consolas"/>
                <a:ea typeface="Consolas"/>
                <a:cs typeface="Consolas"/>
                <a:sym typeface="Consolas"/>
              </a:rPr>
              <a:t>@WebMethod</a:t>
            </a:r>
            <a:r>
              <a:rPr lang="en-US" sz="788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(operationName=</a:t>
            </a:r>
            <a:r>
              <a:rPr lang="en-US" sz="788">
                <a:solidFill>
                  <a:srgbClr val="A5D6FF"/>
                </a:solidFill>
                <a:latin typeface="Consolas"/>
                <a:ea typeface="Consolas"/>
                <a:cs typeface="Consolas"/>
                <a:sym typeface="Consolas"/>
              </a:rPr>
              <a:t>"comprarBoletosMulti"</a:t>
            </a:r>
            <a:r>
              <a:rPr lang="en-US" sz="788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)] </a:t>
            </a:r>
            <a:r>
              <a:rPr lang="en-US" sz="788">
                <a:solidFill>
                  <a:srgbClr val="79C0FF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-US" sz="788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88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Factura </a:t>
            </a:r>
            <a:r>
              <a:rPr lang="en-US" sz="788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comprarBoletosMulti(</a:t>
            </a:r>
            <a:endParaRPr sz="78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87"/>
              <a:buFont typeface="Consolas"/>
              <a:buNone/>
            </a:pPr>
            <a:r>
              <a:rPr lang="en-US" sz="788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  [ </a:t>
            </a:r>
            <a:endParaRPr sz="78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FFA657"/>
              </a:buClr>
              <a:buSzPts val="787"/>
              <a:buFont typeface="Consolas"/>
              <a:buNone/>
            </a:pPr>
            <a:r>
              <a:rPr lang="en-US" sz="788">
                <a:solidFill>
                  <a:srgbClr val="FFA657"/>
                </a:solidFill>
                <a:latin typeface="Consolas"/>
                <a:ea typeface="Consolas"/>
                <a:cs typeface="Consolas"/>
                <a:sym typeface="Consolas"/>
              </a:rPr>
              <a:t>@WebParam</a:t>
            </a:r>
            <a:r>
              <a:rPr lang="en-US" sz="788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(name=</a:t>
            </a:r>
            <a:r>
              <a:rPr lang="en-US" sz="788">
                <a:solidFill>
                  <a:srgbClr val="A5D6FF"/>
                </a:solidFill>
                <a:latin typeface="Consolas"/>
                <a:ea typeface="Consolas"/>
                <a:cs typeface="Consolas"/>
                <a:sym typeface="Consolas"/>
              </a:rPr>
              <a:t>"cedulaCliente"</a:t>
            </a:r>
            <a:r>
              <a:rPr lang="en-US" sz="788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)] </a:t>
            </a:r>
            <a:r>
              <a:rPr lang="en-US" sz="788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String </a:t>
            </a:r>
            <a:r>
              <a:rPr lang="en-US" sz="788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ced,</a:t>
            </a:r>
            <a:endParaRPr sz="78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87"/>
              <a:buFont typeface="Consolas"/>
              <a:buNone/>
            </a:pPr>
            <a:r>
              <a:rPr lang="en-US" sz="788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  [ </a:t>
            </a:r>
            <a:endParaRPr sz="78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FFA657"/>
              </a:buClr>
              <a:buSzPts val="787"/>
              <a:buFont typeface="Consolas"/>
              <a:buNone/>
            </a:pPr>
            <a:r>
              <a:rPr lang="en-US" sz="788">
                <a:solidFill>
                  <a:srgbClr val="FFA657"/>
                </a:solidFill>
                <a:latin typeface="Consolas"/>
                <a:ea typeface="Consolas"/>
                <a:cs typeface="Consolas"/>
                <a:sym typeface="Consolas"/>
              </a:rPr>
              <a:t>@WebParam</a:t>
            </a:r>
            <a:r>
              <a:rPr lang="en-US" sz="788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(name=</a:t>
            </a:r>
            <a:r>
              <a:rPr lang="en-US" sz="788">
                <a:solidFill>
                  <a:srgbClr val="A5D6FF"/>
                </a:solidFill>
                <a:latin typeface="Consolas"/>
                <a:ea typeface="Consolas"/>
                <a:cs typeface="Consolas"/>
                <a:sym typeface="Consolas"/>
              </a:rPr>
              <a:t>"peticiones"</a:t>
            </a:r>
            <a:r>
              <a:rPr lang="en-US" sz="788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)] </a:t>
            </a:r>
            <a:r>
              <a:rPr lang="en-US" sz="788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r>
              <a:rPr lang="en-US" sz="788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788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PeticionCompra </a:t>
            </a:r>
            <a:r>
              <a:rPr lang="en-US" sz="788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&gt; p,</a:t>
            </a:r>
            <a:endParaRPr sz="78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87"/>
              <a:buFont typeface="Consolas"/>
              <a:buNone/>
            </a:pPr>
            <a:r>
              <a:rPr lang="en-US" sz="788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  [ </a:t>
            </a:r>
            <a:endParaRPr sz="78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FFA657"/>
              </a:buClr>
              <a:buSzPts val="787"/>
              <a:buFont typeface="Consolas"/>
              <a:buNone/>
            </a:pPr>
            <a:r>
              <a:rPr lang="en-US" sz="788">
                <a:solidFill>
                  <a:srgbClr val="FFA657"/>
                </a:solidFill>
                <a:latin typeface="Consolas"/>
                <a:ea typeface="Consolas"/>
                <a:cs typeface="Consolas"/>
                <a:sym typeface="Consolas"/>
              </a:rPr>
              <a:t>@WebParam</a:t>
            </a:r>
            <a:r>
              <a:rPr lang="en-US" sz="788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(name=</a:t>
            </a:r>
            <a:r>
              <a:rPr lang="en-US" sz="788">
                <a:solidFill>
                  <a:srgbClr val="A5D6FF"/>
                </a:solidFill>
                <a:latin typeface="Consolas"/>
                <a:ea typeface="Consolas"/>
                <a:cs typeface="Consolas"/>
                <a:sym typeface="Consolas"/>
              </a:rPr>
              <a:t>"formaPago"</a:t>
            </a:r>
            <a:r>
              <a:rPr lang="en-US" sz="788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)] </a:t>
            </a:r>
            <a:r>
              <a:rPr lang="en-US" sz="788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String </a:t>
            </a:r>
            <a:r>
              <a:rPr lang="en-US" sz="788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formaPago,</a:t>
            </a:r>
            <a:endParaRPr sz="78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87"/>
              <a:buFont typeface="Consolas"/>
              <a:buNone/>
            </a:pPr>
            <a:r>
              <a:rPr lang="en-US" sz="788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  [ </a:t>
            </a:r>
            <a:endParaRPr sz="78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FFA657"/>
              </a:buClr>
              <a:buSzPts val="787"/>
              <a:buFont typeface="Consolas"/>
              <a:buNone/>
            </a:pPr>
            <a:r>
              <a:rPr lang="en-US" sz="788">
                <a:solidFill>
                  <a:srgbClr val="FFA657"/>
                </a:solidFill>
                <a:latin typeface="Consolas"/>
                <a:ea typeface="Consolas"/>
                <a:cs typeface="Consolas"/>
                <a:sym typeface="Consolas"/>
              </a:rPr>
              <a:t>@WebParam</a:t>
            </a:r>
            <a:r>
              <a:rPr lang="en-US" sz="788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(name=</a:t>
            </a:r>
            <a:r>
              <a:rPr lang="en-US" sz="788">
                <a:solidFill>
                  <a:srgbClr val="A5D6FF"/>
                </a:solidFill>
                <a:latin typeface="Consolas"/>
                <a:ea typeface="Consolas"/>
                <a:cs typeface="Consolas"/>
                <a:sym typeface="Consolas"/>
              </a:rPr>
              <a:t>"idCredito"</a:t>
            </a:r>
            <a:r>
              <a:rPr lang="en-US" sz="788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)] </a:t>
            </a:r>
            <a:r>
              <a:rPr lang="en-US" sz="788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Integer </a:t>
            </a:r>
            <a:r>
              <a:rPr lang="en-US" sz="788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idCredito) {</a:t>
            </a:r>
            <a:endParaRPr sz="78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87"/>
              <a:buFont typeface="Consolas"/>
              <a:buNone/>
            </a:pPr>
            <a:r>
              <a:rPr lang="en-US" sz="788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endParaRPr sz="78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79C0FF"/>
              </a:buClr>
              <a:buSzPts val="787"/>
              <a:buFont typeface="Consolas"/>
              <a:buNone/>
            </a:pPr>
            <a:r>
              <a:rPr lang="en-US" sz="788">
                <a:solidFill>
                  <a:srgbClr val="79C0FF"/>
                </a:solidFill>
                <a:latin typeface="Consolas"/>
                <a:ea typeface="Consolas"/>
                <a:cs typeface="Consolas"/>
                <a:sym typeface="Consolas"/>
              </a:rPr>
              <a:t>return </a:t>
            </a:r>
            <a:r>
              <a:rPr lang="en-US" sz="788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servicio.comprarBoletosMulti(</a:t>
            </a:r>
            <a:endParaRPr sz="78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87"/>
              <a:buFont typeface="Consolas"/>
              <a:buNone/>
            </a:pPr>
            <a:r>
              <a:rPr lang="en-US" sz="788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     ced, p, formaPago, idCredito);</a:t>
            </a:r>
            <a:endParaRPr sz="78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87"/>
              <a:buFont typeface="Consolas"/>
              <a:buNone/>
            </a:pPr>
            <a:r>
              <a:rPr lang="en-US" sz="788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} </a:t>
            </a:r>
            <a:endParaRPr sz="78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87"/>
              <a:buFont typeface="Consolas"/>
              <a:buNone/>
            </a:pPr>
            <a:r>
              <a:rPr i="1" lang="en-US" sz="788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// "efectivo" → idCredito = null // "credito"  → id retornado por WSBancoCore</a:t>
            </a:r>
            <a:endParaRPr sz="78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15"/>
          <p:cNvSpPr/>
          <p:nvPr/>
        </p:nvSpPr>
        <p:spPr>
          <a:xfrm>
            <a:off x="5143500" y="9772650"/>
            <a:ext cx="5850374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10"/>
              <a:buFont typeface="Arial"/>
              <a:buNone/>
            </a:pPr>
            <a:r>
              <a:rPr b="1" lang="en-US" sz="111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TP_SOAP_JAVA_MASHUP_AWS_G5 · 06 WSFEDERACION</a:t>
            </a:r>
            <a:endParaRPr sz="111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15"/>
          <p:cNvSpPr/>
          <p:nvPr/>
        </p:nvSpPr>
        <p:spPr>
          <a:xfrm>
            <a:off x="17571393" y="9744075"/>
            <a:ext cx="335607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4590B8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15"/>
          <p:cNvSpPr/>
          <p:nvPr/>
        </p:nvSpPr>
        <p:spPr>
          <a:xfrm>
            <a:off x="0" y="10153650"/>
            <a:ext cx="18288000" cy="133350"/>
          </a:xfrm>
          <a:prstGeom prst="rect">
            <a:avLst/>
          </a:prstGeom>
          <a:gradFill>
            <a:gsLst>
              <a:gs pos="0">
                <a:srgbClr val="1A3260"/>
              </a:gs>
              <a:gs pos="50000">
                <a:srgbClr val="1A3260"/>
              </a:gs>
              <a:gs pos="75000">
                <a:srgbClr val="42955F"/>
              </a:gs>
              <a:gs pos="100000">
                <a:srgbClr val="E8821E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61" name="Google Shape;66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22265"/>
            <a:ext cx="18288000" cy="3455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16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16"/>
          <p:cNvSpPr/>
          <p:nvPr/>
        </p:nvSpPr>
        <p:spPr>
          <a:xfrm>
            <a:off x="762000" y="1143000"/>
            <a:ext cx="3620140" cy="21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425"/>
              <a:buFont typeface="Arial"/>
              <a:buNone/>
            </a:pPr>
            <a:r>
              <a:rPr b="1" lang="en-US" sz="1942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sz="194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16"/>
          <p:cNvSpPr/>
          <p:nvPr/>
        </p:nvSpPr>
        <p:spPr>
          <a:xfrm>
            <a:off x="1143000" y="3595688"/>
            <a:ext cx="9082519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E0B8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FFE0B8"/>
                </a:solidFill>
                <a:latin typeface="Arial"/>
                <a:ea typeface="Arial"/>
                <a:cs typeface="Arial"/>
                <a:sym typeface="Arial"/>
              </a:rPr>
              <a:t>CAPÍTULO SIETE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16"/>
          <p:cNvSpPr/>
          <p:nvPr/>
        </p:nvSpPr>
        <p:spPr>
          <a:xfrm>
            <a:off x="1143000" y="4138613"/>
            <a:ext cx="8504541" cy="21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769"/>
              <a:buFont typeface="Arial"/>
              <a:buNone/>
            </a:pPr>
            <a:r>
              <a:rPr b="1" lang="en-US" sz="777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Servidor WSBancoCore</a:t>
            </a:r>
            <a:endParaRPr sz="777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16"/>
          <p:cNvSpPr/>
          <p:nvPr/>
        </p:nvSpPr>
        <p:spPr>
          <a:xfrm>
            <a:off x="1143000" y="6615113"/>
            <a:ext cx="1905000" cy="76200"/>
          </a:xfrm>
          <a:prstGeom prst="rect">
            <a:avLst/>
          </a:prstGeom>
          <a:solidFill>
            <a:srgbClr val="FFE0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16"/>
          <p:cNvSpPr/>
          <p:nvPr/>
        </p:nvSpPr>
        <p:spPr>
          <a:xfrm>
            <a:off x="15414947" y="762000"/>
            <a:ext cx="2111053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D6E8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BFD6E8"/>
                </a:solidFill>
                <a:latin typeface="Arial"/>
                <a:ea typeface="Arial"/>
                <a:cs typeface="Arial"/>
                <a:sym typeface="Arial"/>
              </a:rPr>
              <a:t>04 · Arquitectura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16"/>
          <p:cNvSpPr/>
          <p:nvPr/>
        </p:nvSpPr>
        <p:spPr>
          <a:xfrm>
            <a:off x="15414947" y="1076325"/>
            <a:ext cx="2111053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D6E8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BFD6E8"/>
                </a:solidFill>
                <a:latin typeface="Arial"/>
                <a:ea typeface="Arial"/>
                <a:cs typeface="Arial"/>
                <a:sym typeface="Arial"/>
              </a:rPr>
              <a:t>05 · Bases de Datos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16"/>
          <p:cNvSpPr/>
          <p:nvPr/>
        </p:nvSpPr>
        <p:spPr>
          <a:xfrm>
            <a:off x="15414947" y="1390650"/>
            <a:ext cx="2111053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D6E8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BFD6E8"/>
                </a:solidFill>
                <a:latin typeface="Arial"/>
                <a:ea typeface="Arial"/>
                <a:cs typeface="Arial"/>
                <a:sym typeface="Arial"/>
              </a:rPr>
              <a:t>06 · WSFederacion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16"/>
          <p:cNvSpPr/>
          <p:nvPr/>
        </p:nvSpPr>
        <p:spPr>
          <a:xfrm>
            <a:off x="15414947" y="1704975"/>
            <a:ext cx="211105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07 · WSBancoCore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16"/>
          <p:cNvSpPr/>
          <p:nvPr/>
        </p:nvSpPr>
        <p:spPr>
          <a:xfrm>
            <a:off x="15414947" y="2066925"/>
            <a:ext cx="2111053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D6E8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BFD6E8"/>
                </a:solidFill>
                <a:latin typeface="Arial"/>
                <a:ea typeface="Arial"/>
                <a:cs typeface="Arial"/>
                <a:sym typeface="Arial"/>
              </a:rPr>
              <a:t>08 · Clientes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77" name="Google Shape;67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22265"/>
            <a:ext cx="18288000" cy="3455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17"/>
          <p:cNvSpPr/>
          <p:nvPr/>
        </p:nvSpPr>
        <p:spPr>
          <a:xfrm>
            <a:off x="0" y="0"/>
            <a:ext cx="4381500" cy="10287000"/>
          </a:xfrm>
          <a:prstGeom prst="rect">
            <a:avLst/>
          </a:prstGeom>
          <a:solidFill>
            <a:srgbClr val="1A32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17"/>
          <p:cNvSpPr/>
          <p:nvPr/>
        </p:nvSpPr>
        <p:spPr>
          <a:xfrm>
            <a:off x="533400" y="628650"/>
            <a:ext cx="133350" cy="133350"/>
          </a:xfrm>
          <a:prstGeom prst="rect">
            <a:avLst/>
          </a:prstGeom>
          <a:solidFill>
            <a:srgbClr val="45C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17"/>
          <p:cNvSpPr/>
          <p:nvPr/>
        </p:nvSpPr>
        <p:spPr>
          <a:xfrm>
            <a:off x="800100" y="571500"/>
            <a:ext cx="276671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07 · WSBANCOCORE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17"/>
          <p:cNvSpPr/>
          <p:nvPr/>
        </p:nvSpPr>
        <p:spPr>
          <a:xfrm>
            <a:off x="533400" y="1219200"/>
            <a:ext cx="4000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7.1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17"/>
          <p:cNvSpPr/>
          <p:nvPr/>
        </p:nvSpPr>
        <p:spPr>
          <a:xfrm>
            <a:off x="990600" y="1219200"/>
            <a:ext cx="210487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Proyecto · Payara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17"/>
          <p:cNvSpPr/>
          <p:nvPr/>
        </p:nvSpPr>
        <p:spPr>
          <a:xfrm>
            <a:off x="533400" y="1628775"/>
            <a:ext cx="4000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7.2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17"/>
          <p:cNvSpPr/>
          <p:nvPr/>
        </p:nvSpPr>
        <p:spPr>
          <a:xfrm>
            <a:off x="990600" y="1628775"/>
            <a:ext cx="208999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Lógica de crédito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17"/>
          <p:cNvSpPr/>
          <p:nvPr/>
        </p:nvSpPr>
        <p:spPr>
          <a:xfrm>
            <a:off x="533400" y="9563100"/>
            <a:ext cx="37719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A2BF"/>
              </a:buClr>
              <a:buSzPts val="971"/>
              <a:buFont typeface="Arial"/>
              <a:buNone/>
            </a:pPr>
            <a:r>
              <a:rPr lang="en-US" sz="971">
                <a:solidFill>
                  <a:srgbClr val="7FA2BF"/>
                </a:solidFill>
                <a:latin typeface="Arial"/>
                <a:ea typeface="Arial"/>
                <a:cs typeface="Arial"/>
                <a:sym typeface="Arial"/>
              </a:rPr>
              <a:t>GR05 · 2026</a:t>
            </a:r>
            <a:endParaRPr sz="97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17"/>
          <p:cNvSpPr/>
          <p:nvPr/>
        </p:nvSpPr>
        <p:spPr>
          <a:xfrm>
            <a:off x="5143500" y="571500"/>
            <a:ext cx="13620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4590B8"/>
                </a:solidFill>
                <a:latin typeface="Arial"/>
                <a:ea typeface="Arial"/>
                <a:cs typeface="Arial"/>
                <a:sym typeface="Arial"/>
              </a:rPr>
              <a:t>07 · WSBancoCore — SERVICIO FINANCIERO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17"/>
          <p:cNvSpPr/>
          <p:nvPr/>
        </p:nvSpPr>
        <p:spPr>
          <a:xfrm>
            <a:off x="5143500" y="952500"/>
            <a:ext cx="13620750" cy="6180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A3260"/>
              </a:buClr>
              <a:buSzPts val="4023"/>
              <a:buFont typeface="Arial"/>
              <a:buNone/>
            </a:pPr>
            <a:r>
              <a:rPr b="1" lang="en-US" sz="4024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El banco del </a:t>
            </a:r>
            <a:r>
              <a:rPr b="1" lang="en-US" sz="4024">
                <a:solidFill>
                  <a:srgbClr val="E8821E"/>
                </a:solidFill>
                <a:latin typeface="Arial"/>
                <a:ea typeface="Arial"/>
                <a:cs typeface="Arial"/>
                <a:sym typeface="Arial"/>
              </a:rPr>
              <a:t>Mashup</a:t>
            </a:r>
            <a:endParaRPr sz="4024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17"/>
          <p:cNvSpPr/>
          <p:nvPr/>
        </p:nvSpPr>
        <p:spPr>
          <a:xfrm>
            <a:off x="5143500" y="1608683"/>
            <a:ext cx="1143000" cy="57150"/>
          </a:xfrm>
          <a:prstGeom prst="rect">
            <a:avLst/>
          </a:prstGeom>
          <a:solidFill>
            <a:srgbClr val="C124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17"/>
          <p:cNvSpPr/>
          <p:nvPr/>
        </p:nvSpPr>
        <p:spPr>
          <a:xfrm>
            <a:off x="5143500" y="2027783"/>
            <a:ext cx="6048375" cy="3512344"/>
          </a:xfrm>
          <a:prstGeom prst="roundRect">
            <a:avLst>
              <a:gd fmla="val 2169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17"/>
          <p:cNvSpPr/>
          <p:nvPr/>
        </p:nvSpPr>
        <p:spPr>
          <a:xfrm>
            <a:off x="5391150" y="2237333"/>
            <a:ext cx="5734526" cy="31313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680"/>
              <a:buFont typeface="Consolas"/>
              <a:buNone/>
            </a:pPr>
            <a:r>
              <a:rPr lang="en-US" sz="680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-US" sz="680">
                <a:solidFill>
                  <a:srgbClr val="FFA657"/>
                </a:solidFill>
                <a:latin typeface="Consolas"/>
                <a:ea typeface="Consolas"/>
                <a:cs typeface="Consolas"/>
                <a:sym typeface="Consolas"/>
              </a:rPr>
              <a:t>@WebService</a:t>
            </a:r>
            <a:r>
              <a:rPr lang="en-US" sz="680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(serviceName=</a:t>
            </a:r>
            <a:r>
              <a:rPr lang="en-US" sz="680">
                <a:solidFill>
                  <a:srgbClr val="A5D6FF"/>
                </a:solidFill>
                <a:latin typeface="Consolas"/>
                <a:ea typeface="Consolas"/>
                <a:cs typeface="Consolas"/>
                <a:sym typeface="Consolas"/>
              </a:rPr>
              <a:t>"WSBancoCore"</a:t>
            </a:r>
            <a:r>
              <a:rPr lang="en-US" sz="680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)] </a:t>
            </a:r>
            <a:r>
              <a:rPr lang="en-US" sz="680">
                <a:solidFill>
                  <a:srgbClr val="79C0FF"/>
                </a:solidFill>
                <a:latin typeface="Consolas"/>
                <a:ea typeface="Consolas"/>
                <a:cs typeface="Consolas"/>
                <a:sym typeface="Consolas"/>
              </a:rPr>
              <a:t>public class</a:t>
            </a:r>
            <a:r>
              <a:rPr lang="en-US" sz="680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680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WSBancoCore </a:t>
            </a:r>
            <a:r>
              <a:rPr lang="en-US" sz="680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6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680"/>
              <a:buFont typeface="Consolas"/>
              <a:buNone/>
            </a:pPr>
            <a:r>
              <a:rPr lang="en-US" sz="680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endParaRPr sz="6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9C0FF"/>
              </a:buClr>
              <a:buSzPts val="680"/>
              <a:buFont typeface="Consolas"/>
              <a:buNone/>
            </a:pPr>
            <a:r>
              <a:rPr lang="en-US" sz="680">
                <a:solidFill>
                  <a:srgbClr val="79C0FF"/>
                </a:solidFill>
                <a:latin typeface="Consolas"/>
                <a:ea typeface="Consolas"/>
                <a:cs typeface="Consolas"/>
                <a:sym typeface="Consolas"/>
              </a:rPr>
              <a:t>private final</a:t>
            </a:r>
            <a:r>
              <a:rPr lang="en-US" sz="680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680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BancoCoreService </a:t>
            </a:r>
            <a:r>
              <a:rPr lang="en-US" sz="680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service =</a:t>
            </a:r>
            <a:endParaRPr sz="6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680"/>
              <a:buFont typeface="Consolas"/>
              <a:buNone/>
            </a:pPr>
            <a:r>
              <a:rPr lang="en-US" sz="680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endParaRPr sz="6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9C0FF"/>
              </a:buClr>
              <a:buSzPts val="680"/>
              <a:buFont typeface="Consolas"/>
              <a:buNone/>
            </a:pPr>
            <a:r>
              <a:rPr lang="en-US" sz="680">
                <a:solidFill>
                  <a:srgbClr val="79C0FF"/>
                </a:solidFill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-US" sz="680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680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BancoCoreService </a:t>
            </a:r>
            <a:r>
              <a:rPr lang="en-US" sz="680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();</a:t>
            </a:r>
            <a:endParaRPr sz="6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0"/>
              <a:buFont typeface="Calibri"/>
              <a:buNone/>
            </a:pPr>
            <a:r>
              <a:t/>
            </a:r>
            <a:endParaRPr sz="6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680"/>
              <a:buFont typeface="Consolas"/>
              <a:buNone/>
            </a:pPr>
            <a:r>
              <a:rPr lang="en-US" sz="680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 [ </a:t>
            </a:r>
            <a:endParaRPr sz="6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A657"/>
              </a:buClr>
              <a:buSzPts val="680"/>
              <a:buFont typeface="Consolas"/>
              <a:buNone/>
            </a:pPr>
            <a:r>
              <a:rPr lang="en-US" sz="680">
                <a:solidFill>
                  <a:srgbClr val="FFA657"/>
                </a:solidFill>
                <a:latin typeface="Consolas"/>
                <a:ea typeface="Consolas"/>
                <a:cs typeface="Consolas"/>
                <a:sym typeface="Consolas"/>
              </a:rPr>
              <a:t>@WebMethod</a:t>
            </a:r>
            <a:r>
              <a:rPr lang="en-US" sz="680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(operationName=</a:t>
            </a:r>
            <a:r>
              <a:rPr lang="en-US" sz="680">
                <a:solidFill>
                  <a:srgbClr val="A5D6FF"/>
                </a:solidFill>
                <a:latin typeface="Consolas"/>
                <a:ea typeface="Consolas"/>
                <a:cs typeface="Consolas"/>
                <a:sym typeface="Consolas"/>
              </a:rPr>
              <a:t>"verificarYCrearCredito" </a:t>
            </a:r>
            <a:r>
              <a:rPr lang="en-US" sz="680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)]</a:t>
            </a:r>
            <a:endParaRPr sz="6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680"/>
              <a:buFont typeface="Consolas"/>
              <a:buNone/>
            </a:pPr>
            <a:r>
              <a:rPr lang="en-US" sz="680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endParaRPr sz="6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9C0FF"/>
              </a:buClr>
              <a:buSzPts val="680"/>
              <a:buFont typeface="Consolas"/>
              <a:buNone/>
            </a:pPr>
            <a:r>
              <a:rPr lang="en-US" sz="680">
                <a:solidFill>
                  <a:srgbClr val="79C0FF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-US" sz="680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680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RespuestaCredito </a:t>
            </a:r>
            <a:r>
              <a:rPr lang="en-US" sz="680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verificarYCrearCredito(</a:t>
            </a:r>
            <a:endParaRPr sz="6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680"/>
              <a:buFont typeface="Consolas"/>
              <a:buNone/>
            </a:pPr>
            <a:r>
              <a:rPr lang="en-US" sz="680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    [ </a:t>
            </a:r>
            <a:endParaRPr sz="6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A657"/>
              </a:buClr>
              <a:buSzPts val="680"/>
              <a:buFont typeface="Consolas"/>
              <a:buNone/>
            </a:pPr>
            <a:r>
              <a:rPr lang="en-US" sz="680">
                <a:solidFill>
                  <a:srgbClr val="FFA657"/>
                </a:solidFill>
                <a:latin typeface="Consolas"/>
                <a:ea typeface="Consolas"/>
                <a:cs typeface="Consolas"/>
                <a:sym typeface="Consolas"/>
              </a:rPr>
              <a:t>@WebParam</a:t>
            </a:r>
            <a:r>
              <a:rPr lang="en-US" sz="680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(name=</a:t>
            </a:r>
            <a:r>
              <a:rPr lang="en-US" sz="680">
                <a:solidFill>
                  <a:srgbClr val="A5D6FF"/>
                </a:solidFill>
                <a:latin typeface="Consolas"/>
                <a:ea typeface="Consolas"/>
                <a:cs typeface="Consolas"/>
                <a:sym typeface="Consolas"/>
              </a:rPr>
              <a:t>"cedula"</a:t>
            </a:r>
            <a:r>
              <a:rPr lang="en-US" sz="680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)] </a:t>
            </a:r>
            <a:r>
              <a:rPr lang="en-US" sz="680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String </a:t>
            </a:r>
            <a:r>
              <a:rPr lang="en-US" sz="680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cedula,</a:t>
            </a:r>
            <a:endParaRPr sz="6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680"/>
              <a:buFont typeface="Consolas"/>
              <a:buNone/>
            </a:pPr>
            <a:r>
              <a:rPr lang="en-US" sz="680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    [ </a:t>
            </a:r>
            <a:endParaRPr sz="6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A657"/>
              </a:buClr>
              <a:buSzPts val="680"/>
              <a:buFont typeface="Consolas"/>
              <a:buNone/>
            </a:pPr>
            <a:r>
              <a:rPr lang="en-US" sz="680">
                <a:solidFill>
                  <a:srgbClr val="FFA657"/>
                </a:solidFill>
                <a:latin typeface="Consolas"/>
                <a:ea typeface="Consolas"/>
                <a:cs typeface="Consolas"/>
                <a:sym typeface="Consolas"/>
              </a:rPr>
              <a:t>@WebParam</a:t>
            </a:r>
            <a:r>
              <a:rPr lang="en-US" sz="680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(name=</a:t>
            </a:r>
            <a:r>
              <a:rPr lang="en-US" sz="680">
                <a:solidFill>
                  <a:srgbClr val="A5D6FF"/>
                </a:solidFill>
                <a:latin typeface="Consolas"/>
                <a:ea typeface="Consolas"/>
                <a:cs typeface="Consolas"/>
                <a:sym typeface="Consolas"/>
              </a:rPr>
              <a:t>"montoCompra"</a:t>
            </a:r>
            <a:r>
              <a:rPr lang="en-US" sz="680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)] </a:t>
            </a:r>
            <a:r>
              <a:rPr lang="en-US" sz="680">
                <a:solidFill>
                  <a:srgbClr val="79C0FF"/>
                </a:solidFill>
                <a:latin typeface="Consolas"/>
                <a:ea typeface="Consolas"/>
                <a:cs typeface="Consolas"/>
                <a:sym typeface="Consolas"/>
              </a:rPr>
              <a:t>double </a:t>
            </a:r>
            <a:r>
              <a:rPr lang="en-US" sz="680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monto,</a:t>
            </a:r>
            <a:endParaRPr sz="6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680"/>
              <a:buFont typeface="Consolas"/>
              <a:buNone/>
            </a:pPr>
            <a:r>
              <a:rPr lang="en-US" sz="680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    [ </a:t>
            </a:r>
            <a:endParaRPr sz="6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A657"/>
              </a:buClr>
              <a:buSzPts val="680"/>
              <a:buFont typeface="Consolas"/>
              <a:buNone/>
            </a:pPr>
            <a:r>
              <a:rPr lang="en-US" sz="680">
                <a:solidFill>
                  <a:srgbClr val="FFA657"/>
                </a:solidFill>
                <a:latin typeface="Consolas"/>
                <a:ea typeface="Consolas"/>
                <a:cs typeface="Consolas"/>
                <a:sym typeface="Consolas"/>
              </a:rPr>
              <a:t>@WebParam</a:t>
            </a:r>
            <a:r>
              <a:rPr lang="en-US" sz="680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(name=</a:t>
            </a:r>
            <a:r>
              <a:rPr lang="en-US" sz="680">
                <a:solidFill>
                  <a:srgbClr val="A5D6FF"/>
                </a:solidFill>
                <a:latin typeface="Consolas"/>
                <a:ea typeface="Consolas"/>
                <a:cs typeface="Consolas"/>
                <a:sym typeface="Consolas"/>
              </a:rPr>
              <a:t>"plazoMeses"</a:t>
            </a:r>
            <a:r>
              <a:rPr lang="en-US" sz="680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)] </a:t>
            </a:r>
            <a:r>
              <a:rPr lang="en-US" sz="680">
                <a:solidFill>
                  <a:srgbClr val="79C0FF"/>
                </a:solidFill>
                <a:latin typeface="Consolas"/>
                <a:ea typeface="Consolas"/>
                <a:cs typeface="Consolas"/>
                <a:sym typeface="Consolas"/>
              </a:rPr>
              <a:t>int </a:t>
            </a:r>
            <a:r>
              <a:rPr lang="en-US" sz="680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plazo) {</a:t>
            </a:r>
            <a:endParaRPr sz="6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680"/>
              <a:buFont typeface="Consolas"/>
              <a:buNone/>
            </a:pPr>
            <a:r>
              <a:rPr lang="en-US" sz="680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    </a:t>
            </a:r>
            <a:endParaRPr sz="6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9C0FF"/>
              </a:buClr>
              <a:buSzPts val="680"/>
              <a:buFont typeface="Consolas"/>
              <a:buNone/>
            </a:pPr>
            <a:r>
              <a:rPr lang="en-US" sz="680">
                <a:solidFill>
                  <a:srgbClr val="79C0FF"/>
                </a:solidFill>
                <a:latin typeface="Consolas"/>
                <a:ea typeface="Consolas"/>
                <a:cs typeface="Consolas"/>
                <a:sym typeface="Consolas"/>
              </a:rPr>
              <a:t>return </a:t>
            </a:r>
            <a:r>
              <a:rPr lang="en-US" sz="680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service.verificarYCrearCredito(</a:t>
            </a:r>
            <a:endParaRPr sz="6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680"/>
              <a:buFont typeface="Consolas"/>
              <a:buNone/>
            </a:pPr>
            <a:r>
              <a:rPr lang="en-US" sz="680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       cedula, monto, plazo);</a:t>
            </a:r>
            <a:endParaRPr sz="6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680"/>
              <a:buFont typeface="Consolas"/>
              <a:buNone/>
            </a:pPr>
            <a:r>
              <a:rPr lang="en-US" sz="680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6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680"/>
              <a:buFont typeface="Consolas"/>
              <a:buNone/>
            </a:pPr>
            <a:r>
              <a:rPr lang="en-US" sz="680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} </a:t>
            </a:r>
            <a:endParaRPr sz="6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680"/>
              <a:buFont typeface="Consolas"/>
              <a:buNone/>
            </a:pPr>
            <a:r>
              <a:rPr i="1" lang="en-US" sz="680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// RespuestaCredito { aprobado, idCredito, //   mensaje, montoMaximo, cuotaMensual, cuotas[] }</a:t>
            </a:r>
            <a:endParaRPr sz="6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17"/>
          <p:cNvSpPr/>
          <p:nvPr/>
        </p:nvSpPr>
        <p:spPr>
          <a:xfrm>
            <a:off x="5143500" y="5692527"/>
            <a:ext cx="6048375" cy="1043583"/>
          </a:xfrm>
          <a:prstGeom prst="roundRect">
            <a:avLst>
              <a:gd fmla="val 365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p17"/>
          <p:cNvSpPr/>
          <p:nvPr/>
        </p:nvSpPr>
        <p:spPr>
          <a:xfrm>
            <a:off x="5143500" y="6726585"/>
            <a:ext cx="6048375" cy="9525"/>
          </a:xfrm>
          <a:prstGeom prst="rect">
            <a:avLst/>
          </a:prstGeom>
          <a:solidFill>
            <a:srgbClr val="DBE3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p17"/>
          <p:cNvSpPr/>
          <p:nvPr/>
        </p:nvSpPr>
        <p:spPr>
          <a:xfrm>
            <a:off x="5143500" y="5692527"/>
            <a:ext cx="6048375" cy="9525"/>
          </a:xfrm>
          <a:prstGeom prst="rect">
            <a:avLst/>
          </a:prstGeom>
          <a:solidFill>
            <a:srgbClr val="DBE3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17"/>
          <p:cNvSpPr/>
          <p:nvPr/>
        </p:nvSpPr>
        <p:spPr>
          <a:xfrm>
            <a:off x="5143500" y="5692527"/>
            <a:ext cx="76200" cy="1043583"/>
          </a:xfrm>
          <a:prstGeom prst="rect">
            <a:avLst/>
          </a:prstGeom>
          <a:solidFill>
            <a:srgbClr val="E882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17"/>
          <p:cNvSpPr/>
          <p:nvPr/>
        </p:nvSpPr>
        <p:spPr>
          <a:xfrm>
            <a:off x="11182350" y="5692527"/>
            <a:ext cx="9525" cy="1043583"/>
          </a:xfrm>
          <a:prstGeom prst="rect">
            <a:avLst/>
          </a:prstGeom>
          <a:solidFill>
            <a:srgbClr val="DBE3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17"/>
          <p:cNvSpPr/>
          <p:nvPr/>
        </p:nvSpPr>
        <p:spPr>
          <a:xfrm>
            <a:off x="5429250" y="5854452"/>
            <a:ext cx="5709857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48"/>
              <a:buFont typeface="Arial"/>
              <a:buNone/>
            </a:pPr>
            <a:r>
              <a:rPr lang="en-US" sz="1249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Evalúa en orden: </a:t>
            </a:r>
            <a:r>
              <a:rPr b="1" lang="en-US" sz="1249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(1) </a:t>
            </a:r>
            <a:r>
              <a:rPr lang="en-US" sz="1249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plazo 3–18 meses · </a:t>
            </a:r>
            <a:r>
              <a:rPr b="1" lang="en-US" sz="1249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(2) </a:t>
            </a:r>
            <a:r>
              <a:rPr lang="en-US" sz="1249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cliente registrado · </a:t>
            </a:r>
            <a:r>
              <a:rPr b="1" lang="en-US" sz="1249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(3) </a:t>
            </a:r>
            <a:r>
              <a:rPr lang="en-US" sz="1249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masculinos ≥ 25 años · </a:t>
            </a:r>
            <a:r>
              <a:rPr b="1" lang="en-US" sz="1249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(4) </a:t>
            </a:r>
            <a:r>
              <a:rPr lang="en-US" sz="1249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saldo para la 1ª cuota. Si aprueba, crea </a:t>
            </a:r>
            <a:r>
              <a:rPr b="1" lang="en-US" sz="1249">
                <a:solidFill>
                  <a:srgbClr val="1A3260"/>
                </a:solidFill>
                <a:latin typeface="Consolas"/>
                <a:ea typeface="Consolas"/>
                <a:cs typeface="Consolas"/>
                <a:sym typeface="Consolas"/>
              </a:rPr>
              <a:t>CREDITO </a:t>
            </a:r>
            <a:r>
              <a:rPr lang="en-US" sz="1249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b="1" lang="en-US" sz="1249">
                <a:solidFill>
                  <a:srgbClr val="1A3260"/>
                </a:solidFill>
                <a:latin typeface="Consolas"/>
                <a:ea typeface="Consolas"/>
                <a:cs typeface="Consolas"/>
                <a:sym typeface="Consolas"/>
              </a:rPr>
              <a:t>TABLA_AMORTIZACION</a:t>
            </a:r>
            <a:r>
              <a:rPr lang="en-US" sz="1249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24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17"/>
          <p:cNvSpPr/>
          <p:nvPr/>
        </p:nvSpPr>
        <p:spPr>
          <a:xfrm>
            <a:off x="11477625" y="4542383"/>
            <a:ext cx="6653212" cy="2238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3260"/>
              </a:buClr>
              <a:buSzPts val="1040"/>
              <a:buFont typeface="Arial"/>
              <a:buNone/>
            </a:pPr>
            <a:r>
              <a:rPr b="1" lang="en-US" sz="1041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FIGURA 4 </a:t>
            </a:r>
            <a:r>
              <a:rPr i="1" lang="en-US" sz="104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— Proyecto servidor WSBancoCore en NetBeans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17"/>
          <p:cNvSpPr/>
          <p:nvPr/>
        </p:nvSpPr>
        <p:spPr>
          <a:xfrm>
            <a:off x="11477625" y="9402684"/>
            <a:ext cx="6653100" cy="2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3260"/>
              </a:buClr>
              <a:buSzPts val="1040"/>
              <a:buFont typeface="Arial"/>
              <a:buNone/>
            </a:pPr>
            <a:r>
              <a:rPr b="1" lang="en-US" sz="1041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FIGURA 5 </a:t>
            </a:r>
            <a:r>
              <a:rPr i="1" lang="en-US" sz="104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— WSDL de WSBancoCore con la operación </a:t>
            </a:r>
            <a:r>
              <a:rPr i="1" lang="en-US" sz="1041">
                <a:solidFill>
                  <a:srgbClr val="6B7280"/>
                </a:solidFill>
                <a:latin typeface="Courier New"/>
                <a:ea typeface="Courier New"/>
                <a:cs typeface="Courier New"/>
                <a:sym typeface="Courier New"/>
              </a:rPr>
              <a:t>verificarYCrearCredito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17"/>
          <p:cNvSpPr/>
          <p:nvPr/>
        </p:nvSpPr>
        <p:spPr>
          <a:xfrm>
            <a:off x="5143500" y="9772650"/>
            <a:ext cx="5814194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10"/>
              <a:buFont typeface="Arial"/>
              <a:buNone/>
            </a:pPr>
            <a:r>
              <a:rPr b="1" lang="en-US" sz="111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TP_SOAP_JAVA_MASHUP_AWS_G5 · 07 WSBANCOCORE</a:t>
            </a:r>
            <a:endParaRPr sz="111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17"/>
          <p:cNvSpPr/>
          <p:nvPr/>
        </p:nvSpPr>
        <p:spPr>
          <a:xfrm>
            <a:off x="17571393" y="9744075"/>
            <a:ext cx="335607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4590B8"/>
                </a:solidFill>
                <a:latin typeface="Arial"/>
                <a:ea typeface="Arial"/>
                <a:cs typeface="Arial"/>
                <a:sym typeface="Arial"/>
              </a:rPr>
              <a:t>21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17"/>
          <p:cNvSpPr/>
          <p:nvPr/>
        </p:nvSpPr>
        <p:spPr>
          <a:xfrm>
            <a:off x="0" y="10153650"/>
            <a:ext cx="18288000" cy="133350"/>
          </a:xfrm>
          <a:prstGeom prst="rect">
            <a:avLst/>
          </a:prstGeom>
          <a:gradFill>
            <a:gsLst>
              <a:gs pos="0">
                <a:srgbClr val="1A3260"/>
              </a:gs>
              <a:gs pos="50000">
                <a:srgbClr val="1A3260"/>
              </a:gs>
              <a:gs pos="75000">
                <a:srgbClr val="42955F"/>
              </a:gs>
              <a:gs pos="100000">
                <a:srgbClr val="E8821E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07" name="Google Shape;70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22265"/>
            <a:ext cx="18288000" cy="345543"/>
          </a:xfrm>
          <a:prstGeom prst="rect">
            <a:avLst/>
          </a:prstGeom>
          <a:noFill/>
          <a:ln>
            <a:noFill/>
          </a:ln>
        </p:spPr>
      </p:pic>
      <p:pic>
        <p:nvPicPr>
          <p:cNvPr id="708" name="Google Shape;70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600313" y="2025400"/>
            <a:ext cx="3966338" cy="241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9" name="Google Shape;709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477625" y="5303713"/>
            <a:ext cx="5943600" cy="399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18"/>
          <p:cNvSpPr/>
          <p:nvPr/>
        </p:nvSpPr>
        <p:spPr>
          <a:xfrm>
            <a:off x="0" y="0"/>
            <a:ext cx="4381500" cy="10287000"/>
          </a:xfrm>
          <a:prstGeom prst="rect">
            <a:avLst/>
          </a:prstGeom>
          <a:solidFill>
            <a:srgbClr val="1A32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18"/>
          <p:cNvSpPr/>
          <p:nvPr/>
        </p:nvSpPr>
        <p:spPr>
          <a:xfrm>
            <a:off x="533400" y="628650"/>
            <a:ext cx="133350" cy="133350"/>
          </a:xfrm>
          <a:prstGeom prst="rect">
            <a:avLst/>
          </a:prstGeom>
          <a:solidFill>
            <a:srgbClr val="45C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18"/>
          <p:cNvSpPr/>
          <p:nvPr/>
        </p:nvSpPr>
        <p:spPr>
          <a:xfrm>
            <a:off x="800100" y="571500"/>
            <a:ext cx="202756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08 · CLIENTES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18"/>
          <p:cNvSpPr/>
          <p:nvPr/>
        </p:nvSpPr>
        <p:spPr>
          <a:xfrm>
            <a:off x="533400" y="1219200"/>
            <a:ext cx="4000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18"/>
          <p:cNvSpPr/>
          <p:nvPr/>
        </p:nvSpPr>
        <p:spPr>
          <a:xfrm>
            <a:off x="990600" y="1219200"/>
            <a:ext cx="1608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Consola Java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18"/>
          <p:cNvSpPr/>
          <p:nvPr/>
        </p:nvSpPr>
        <p:spPr>
          <a:xfrm>
            <a:off x="533400" y="1628775"/>
            <a:ext cx="4000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CBE8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45CBE8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18"/>
          <p:cNvSpPr/>
          <p:nvPr/>
        </p:nvSpPr>
        <p:spPr>
          <a:xfrm>
            <a:off x="990600" y="1666875"/>
            <a:ext cx="1606302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6E8"/>
              </a:buClr>
              <a:buSzPts val="1575"/>
              <a:buFont typeface="Arial"/>
              <a:buNone/>
            </a:pPr>
            <a:r>
              <a:rPr lang="en-US" sz="1575">
                <a:solidFill>
                  <a:srgbClr val="BFD6E8"/>
                </a:solidFill>
                <a:latin typeface="Arial"/>
                <a:ea typeface="Arial"/>
                <a:cs typeface="Arial"/>
                <a:sym typeface="Arial"/>
              </a:rPr>
              <a:t>Escritorio Swing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18"/>
          <p:cNvSpPr/>
          <p:nvPr/>
        </p:nvSpPr>
        <p:spPr>
          <a:xfrm>
            <a:off x="533400" y="2038350"/>
            <a:ext cx="4000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CBE8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45CBE8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18"/>
          <p:cNvSpPr/>
          <p:nvPr/>
        </p:nvSpPr>
        <p:spPr>
          <a:xfrm>
            <a:off x="990600" y="2076450"/>
            <a:ext cx="948333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6E8"/>
              </a:buClr>
              <a:buSzPts val="1575"/>
              <a:buFont typeface="Arial"/>
              <a:buNone/>
            </a:pPr>
            <a:r>
              <a:rPr lang="en-US" sz="1575">
                <a:solidFill>
                  <a:srgbClr val="BFD6E8"/>
                </a:solidFill>
                <a:latin typeface="Arial"/>
                <a:ea typeface="Arial"/>
                <a:cs typeface="Arial"/>
                <a:sym typeface="Arial"/>
              </a:rPr>
              <a:t>Web JSP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18"/>
          <p:cNvSpPr/>
          <p:nvPr/>
        </p:nvSpPr>
        <p:spPr>
          <a:xfrm>
            <a:off x="533400" y="2447925"/>
            <a:ext cx="4000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CBE8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45CBE8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18"/>
          <p:cNvSpPr/>
          <p:nvPr/>
        </p:nvSpPr>
        <p:spPr>
          <a:xfrm>
            <a:off x="990600" y="2486025"/>
            <a:ext cx="1355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6E8"/>
              </a:buClr>
              <a:buSzPts val="1575"/>
              <a:buFont typeface="Arial"/>
              <a:buNone/>
            </a:pPr>
            <a:r>
              <a:rPr lang="en-US" sz="1575">
                <a:solidFill>
                  <a:srgbClr val="BFD6E8"/>
                </a:solidFill>
                <a:latin typeface="Arial"/>
                <a:ea typeface="Arial"/>
                <a:cs typeface="Arial"/>
                <a:sym typeface="Arial"/>
              </a:rPr>
              <a:t>Móvil Android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18"/>
          <p:cNvSpPr/>
          <p:nvPr/>
        </p:nvSpPr>
        <p:spPr>
          <a:xfrm>
            <a:off x="533400" y="9563100"/>
            <a:ext cx="37719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A2BF"/>
              </a:buClr>
              <a:buSzPts val="971"/>
              <a:buFont typeface="Arial"/>
              <a:buNone/>
            </a:pPr>
            <a:r>
              <a:rPr lang="en-US" sz="971">
                <a:solidFill>
                  <a:srgbClr val="7FA2BF"/>
                </a:solidFill>
                <a:latin typeface="Arial"/>
                <a:ea typeface="Arial"/>
                <a:cs typeface="Arial"/>
                <a:sym typeface="Arial"/>
              </a:rPr>
              <a:t>GR05 · 2026</a:t>
            </a:r>
            <a:endParaRPr sz="97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18"/>
          <p:cNvSpPr/>
          <p:nvPr/>
        </p:nvSpPr>
        <p:spPr>
          <a:xfrm>
            <a:off x="5143500" y="571500"/>
            <a:ext cx="13620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4590B8"/>
                </a:solidFill>
                <a:latin typeface="Arial"/>
                <a:ea typeface="Arial"/>
                <a:cs typeface="Arial"/>
                <a:sym typeface="Arial"/>
              </a:rPr>
              <a:t>08 · CLIENTE DE CONSOLA — TP_SOAP_JAVA_CLICON_G5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18"/>
          <p:cNvSpPr/>
          <p:nvPr/>
        </p:nvSpPr>
        <p:spPr>
          <a:xfrm>
            <a:off x="5143500" y="952500"/>
            <a:ext cx="13620750" cy="6180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A3260"/>
              </a:buClr>
              <a:buSzPts val="4023"/>
              <a:buFont typeface="Arial"/>
              <a:buNone/>
            </a:pPr>
            <a:r>
              <a:rPr b="1" lang="en-US" sz="4024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Consola Java · </a:t>
            </a:r>
            <a:r>
              <a:rPr b="1" lang="en-US" sz="4024">
                <a:solidFill>
                  <a:srgbClr val="42955F"/>
                </a:solidFill>
                <a:latin typeface="Arial"/>
                <a:ea typeface="Arial"/>
                <a:cs typeface="Arial"/>
                <a:sym typeface="Arial"/>
              </a:rPr>
              <a:t>menú ANSI</a:t>
            </a:r>
            <a:endParaRPr sz="4024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18"/>
          <p:cNvSpPr/>
          <p:nvPr/>
        </p:nvSpPr>
        <p:spPr>
          <a:xfrm>
            <a:off x="5143500" y="1608683"/>
            <a:ext cx="1143000" cy="57150"/>
          </a:xfrm>
          <a:prstGeom prst="rect">
            <a:avLst/>
          </a:prstGeom>
          <a:solidFill>
            <a:srgbClr val="C124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18"/>
          <p:cNvSpPr/>
          <p:nvPr/>
        </p:nvSpPr>
        <p:spPr>
          <a:xfrm>
            <a:off x="5143500" y="2027783"/>
            <a:ext cx="6048375" cy="1927622"/>
          </a:xfrm>
          <a:prstGeom prst="roundRect">
            <a:avLst>
              <a:gd fmla="val 3953" name="adj"/>
            </a:avLst>
          </a:prstGeom>
          <a:solidFill>
            <a:srgbClr val="0B12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p18"/>
          <p:cNvSpPr/>
          <p:nvPr/>
        </p:nvSpPr>
        <p:spPr>
          <a:xfrm>
            <a:off x="5372100" y="2218283"/>
            <a:ext cx="5772626" cy="158472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CBD5E1"/>
                </a:solidFill>
                <a:highlight>
                  <a:srgbClr val="0B1220"/>
                </a:highlight>
                <a:latin typeface="Consolas"/>
                <a:ea typeface="Consolas"/>
                <a:cs typeface="Consolas"/>
                <a:sym typeface="Consolas"/>
              </a:rPr>
              <a:t>TP_SOAP_JAVA_CLICON_G5/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CBD5E1"/>
                </a:solidFill>
                <a:highlight>
                  <a:srgbClr val="0B1220"/>
                </a:highlight>
                <a:latin typeface="Consolas"/>
                <a:ea typeface="Consolas"/>
                <a:cs typeface="Consolas"/>
                <a:sym typeface="Consolas"/>
              </a:rPr>
              <a:t>└── ec/edu/monster/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CBD5E1"/>
                </a:solidFill>
                <a:highlight>
                  <a:srgbClr val="0B1220"/>
                </a:highlight>
                <a:latin typeface="Consolas"/>
                <a:ea typeface="Consolas"/>
                <a:cs typeface="Consolas"/>
                <a:sym typeface="Consolas"/>
              </a:rPr>
              <a:t>    ├── servicio/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CBD5E1"/>
                </a:solidFill>
                <a:highlight>
                  <a:srgbClr val="0B1220"/>
                </a:highlight>
                <a:latin typeface="Consolas"/>
                <a:ea typeface="Consolas"/>
                <a:cs typeface="Consolas"/>
                <a:sym typeface="Consolas"/>
              </a:rPr>
              <a:t>    │   ├── ClienteFederacion.java  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← stub JAX-WS </a:t>
            </a:r>
            <a:r>
              <a:rPr lang="en-US" sz="1050">
                <a:solidFill>
                  <a:srgbClr val="CBD5E1"/>
                </a:solidFill>
                <a:highlight>
                  <a:srgbClr val="0B1220"/>
                </a:highlight>
                <a:latin typeface="Consolas"/>
                <a:ea typeface="Consolas"/>
                <a:cs typeface="Consolas"/>
                <a:sym typeface="Consolas"/>
              </a:rPr>
              <a:t>    │   └── BancoSoapClient.java    </a:t>
            </a:r>
            <a:r>
              <a:rPr lang="en-US" sz="1050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← SOAP + DOM </a:t>
            </a:r>
            <a:r>
              <a:rPr lang="en-US" sz="1050">
                <a:solidFill>
                  <a:srgbClr val="CBD5E1"/>
                </a:solidFill>
                <a:highlight>
                  <a:srgbClr val="0B1220"/>
                </a:highlight>
                <a:latin typeface="Consolas"/>
                <a:ea typeface="Consolas"/>
                <a:cs typeface="Consolas"/>
                <a:sym typeface="Consolas"/>
              </a:rPr>
              <a:t>    ├── modelo/   </a:t>
            </a:r>
            <a:r>
              <a:rPr lang="en-US" sz="1050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← CuotaAmortizacion, RespuestaCredito </a:t>
            </a:r>
            <a:r>
              <a:rPr lang="en-US" sz="1050">
                <a:solidFill>
                  <a:srgbClr val="CBD5E1"/>
                </a:solidFill>
                <a:highlight>
                  <a:srgbClr val="0B1220"/>
                </a:highlight>
                <a:latin typeface="Consolas"/>
                <a:ea typeface="Consolas"/>
                <a:cs typeface="Consolas"/>
                <a:sym typeface="Consolas"/>
              </a:rPr>
              <a:t>    ├── util/FormatUtil.java        </a:t>
            </a:r>
            <a:r>
              <a:rPr lang="en-US" sz="1050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← tildes ANSI </a:t>
            </a:r>
            <a:r>
              <a:rPr lang="en-US" sz="1050">
                <a:solidFill>
                  <a:srgbClr val="CBD5E1"/>
                </a:solidFill>
                <a:highlight>
                  <a:srgbClr val="0B1220"/>
                </a:highlight>
                <a:latin typeface="Consolas"/>
                <a:ea typeface="Consolas"/>
                <a:cs typeface="Consolas"/>
                <a:sym typeface="Consolas"/>
              </a:rPr>
              <a:t>    └── vista/MainConsola.java      </a:t>
            </a:r>
            <a:r>
              <a:rPr lang="en-US" sz="1050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← login + menú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18"/>
          <p:cNvSpPr/>
          <p:nvPr/>
        </p:nvSpPr>
        <p:spPr>
          <a:xfrm>
            <a:off x="5143500" y="4088755"/>
            <a:ext cx="6048375" cy="2098774"/>
          </a:xfrm>
          <a:prstGeom prst="roundRect">
            <a:avLst>
              <a:gd fmla="val 3631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18"/>
          <p:cNvSpPr/>
          <p:nvPr/>
        </p:nvSpPr>
        <p:spPr>
          <a:xfrm>
            <a:off x="5391150" y="4298305"/>
            <a:ext cx="5734526" cy="171777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35"/>
              <a:buFont typeface="Consolas"/>
              <a:buNone/>
            </a:pPr>
            <a:r>
              <a:rPr i="1" lang="en-US" sz="735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// Flujo comprarBoletos() — pago con crédito </a:t>
            </a:r>
            <a:r>
              <a:rPr lang="en-US" sz="735">
                <a:solidFill>
                  <a:srgbClr val="79C0FF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735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(formaPago == </a:t>
            </a:r>
            <a:r>
              <a:rPr lang="en-US" sz="735">
                <a:solidFill>
                  <a:srgbClr val="D2A8FF"/>
                </a:solidFill>
                <a:latin typeface="Consolas"/>
                <a:ea typeface="Consolas"/>
                <a:cs typeface="Consolas"/>
                <a:sym typeface="Consolas"/>
              </a:rPr>
              <a:t>2 </a:t>
            </a:r>
            <a:r>
              <a:rPr lang="en-US" sz="735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73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35"/>
              <a:buFont typeface="Consolas"/>
              <a:buNone/>
            </a:pPr>
            <a:r>
              <a:rPr lang="en-US" sz="735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endParaRPr sz="73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735"/>
              <a:buFont typeface="Consolas"/>
              <a:buNone/>
            </a:pPr>
            <a:r>
              <a:rPr lang="en-US" sz="735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BancoSoapClient</a:t>
            </a:r>
            <a:r>
              <a:rPr lang="en-US" sz="735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banco = </a:t>
            </a:r>
            <a:r>
              <a:rPr lang="en-US" sz="735">
                <a:solidFill>
                  <a:srgbClr val="79C0FF"/>
                </a:solidFill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-US" sz="735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35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BancoSoapClient </a:t>
            </a:r>
            <a:r>
              <a:rPr lang="en-US" sz="735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();</a:t>
            </a:r>
            <a:endParaRPr sz="73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35"/>
              <a:buFont typeface="Consolas"/>
              <a:buNone/>
            </a:pPr>
            <a:r>
              <a:rPr lang="en-US" sz="735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endParaRPr sz="73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735"/>
              <a:buFont typeface="Consolas"/>
              <a:buNone/>
            </a:pPr>
            <a:r>
              <a:rPr lang="en-US" sz="735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RespuestaCredito </a:t>
            </a:r>
            <a:r>
              <a:rPr lang="en-US" sz="735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cr =</a:t>
            </a:r>
            <a:endParaRPr sz="73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35"/>
              <a:buFont typeface="Consolas"/>
              <a:buNone/>
            </a:pPr>
            <a:r>
              <a:rPr lang="en-US" sz="735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    banco.verificarYCrearCredito(ced, total, plazo);</a:t>
            </a:r>
            <a:endParaRPr sz="73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35"/>
              <a:buFont typeface="Consolas"/>
              <a:buNone/>
            </a:pPr>
            <a:r>
              <a:rPr lang="en-US" sz="735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endParaRPr sz="73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9C0FF"/>
              </a:buClr>
              <a:buSzPts val="735"/>
              <a:buFont typeface="Consolas"/>
              <a:buNone/>
            </a:pPr>
            <a:r>
              <a:rPr lang="en-US" sz="735">
                <a:solidFill>
                  <a:srgbClr val="79C0FF"/>
                </a:solidFill>
                <a:latin typeface="Consolas"/>
                <a:ea typeface="Consolas"/>
                <a:cs typeface="Consolas"/>
                <a:sym typeface="Consolas"/>
              </a:rPr>
              <a:t>if </a:t>
            </a:r>
            <a:r>
              <a:rPr lang="en-US" sz="735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(cr.isAprobado())</a:t>
            </a:r>
            <a:endParaRPr sz="73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35"/>
              <a:buFont typeface="Consolas"/>
              <a:buNone/>
            </a:pPr>
            <a:r>
              <a:rPr lang="en-US" sz="735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   factura = cliente.comprarBoletosMulti(</a:t>
            </a:r>
            <a:endParaRPr sz="73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35"/>
              <a:buFont typeface="Consolas"/>
              <a:buNone/>
            </a:pPr>
            <a:r>
              <a:rPr lang="en-US" sz="735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      ced, peticiones,  </a:t>
            </a:r>
            <a:endParaRPr sz="73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5D6FF"/>
              </a:buClr>
              <a:buSzPts val="735"/>
              <a:buFont typeface="Consolas"/>
              <a:buNone/>
            </a:pPr>
            <a:r>
              <a:rPr lang="en-US" sz="735">
                <a:solidFill>
                  <a:srgbClr val="A5D6FF"/>
                </a:solidFill>
                <a:latin typeface="Consolas"/>
                <a:ea typeface="Consolas"/>
                <a:cs typeface="Consolas"/>
                <a:sym typeface="Consolas"/>
              </a:rPr>
              <a:t>"credito" </a:t>
            </a:r>
            <a:r>
              <a:rPr lang="en-US" sz="735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, cr.getIdCredito());</a:t>
            </a:r>
            <a:endParaRPr sz="73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35"/>
              <a:buFont typeface="Consolas"/>
              <a:buNone/>
            </a:pPr>
            <a:r>
              <a:rPr lang="en-US" sz="735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73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18"/>
          <p:cNvSpPr/>
          <p:nvPr/>
        </p:nvSpPr>
        <p:spPr>
          <a:xfrm>
            <a:off x="11727100" y="4558646"/>
            <a:ext cx="6653100" cy="2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3260"/>
              </a:buClr>
              <a:buSzPts val="1040"/>
              <a:buFont typeface="Arial"/>
              <a:buNone/>
            </a:pPr>
            <a:r>
              <a:rPr b="1" lang="en-US" sz="1041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FIG 6 </a:t>
            </a:r>
            <a:r>
              <a:rPr i="1" lang="en-US" sz="104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— Login y menú principal 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18"/>
          <p:cNvSpPr/>
          <p:nvPr/>
        </p:nvSpPr>
        <p:spPr>
          <a:xfrm>
            <a:off x="11411000" y="9324896"/>
            <a:ext cx="6653100" cy="2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3260"/>
              </a:buClr>
              <a:buSzPts val="1040"/>
              <a:buFont typeface="Arial"/>
              <a:buNone/>
            </a:pPr>
            <a:r>
              <a:rPr b="1" lang="en-US" sz="1041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FIG 7 </a:t>
            </a:r>
            <a:r>
              <a:rPr i="1" lang="en-US" sz="104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— Selección de partido, localidades y asientos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18"/>
          <p:cNvSpPr/>
          <p:nvPr/>
        </p:nvSpPr>
        <p:spPr>
          <a:xfrm>
            <a:off x="4644775" y="8743808"/>
            <a:ext cx="6653100" cy="2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3260"/>
              </a:buClr>
              <a:buSzPts val="1040"/>
              <a:buFont typeface="Arial"/>
              <a:buNone/>
            </a:pPr>
            <a:r>
              <a:rPr b="1" lang="en-US" sz="1041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FIG 8 </a:t>
            </a:r>
            <a:r>
              <a:rPr i="1" lang="en-US" sz="104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— Flujo de pago con crédito bancario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18"/>
          <p:cNvSpPr/>
          <p:nvPr/>
        </p:nvSpPr>
        <p:spPr>
          <a:xfrm>
            <a:off x="5143500" y="9772650"/>
            <a:ext cx="615438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10"/>
              <a:buFont typeface="Arial"/>
              <a:buNone/>
            </a:pPr>
            <a:r>
              <a:rPr b="1" lang="en-US" sz="111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TP_SOAP_JAVA_MASHUP_AWS_G5 · 08 CLIENTE CONSOLA</a:t>
            </a:r>
            <a:endParaRPr sz="111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18"/>
          <p:cNvSpPr/>
          <p:nvPr/>
        </p:nvSpPr>
        <p:spPr>
          <a:xfrm>
            <a:off x="17571393" y="9744075"/>
            <a:ext cx="335607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4590B8"/>
                </a:solidFill>
                <a:latin typeface="Arial"/>
                <a:ea typeface="Arial"/>
                <a:cs typeface="Arial"/>
                <a:sym typeface="Arial"/>
              </a:rPr>
              <a:t>23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18"/>
          <p:cNvSpPr/>
          <p:nvPr/>
        </p:nvSpPr>
        <p:spPr>
          <a:xfrm>
            <a:off x="0" y="10153650"/>
            <a:ext cx="18288000" cy="133350"/>
          </a:xfrm>
          <a:prstGeom prst="rect">
            <a:avLst/>
          </a:prstGeom>
          <a:gradFill>
            <a:gsLst>
              <a:gs pos="0">
                <a:srgbClr val="1A3260"/>
              </a:gs>
              <a:gs pos="50000">
                <a:srgbClr val="1A3260"/>
              </a:gs>
              <a:gs pos="75000">
                <a:srgbClr val="42955F"/>
              </a:gs>
              <a:gs pos="100000">
                <a:srgbClr val="E8821E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0" name="Google Shape;74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22265"/>
            <a:ext cx="18288000" cy="345543"/>
          </a:xfrm>
          <a:prstGeom prst="rect">
            <a:avLst/>
          </a:prstGeom>
          <a:noFill/>
          <a:ln>
            <a:noFill/>
          </a:ln>
        </p:spPr>
      </p:pic>
      <p:pic>
        <p:nvPicPr>
          <p:cNvPr id="741" name="Google Shape;74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727100" y="1568977"/>
            <a:ext cx="5441466" cy="2989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2" name="Google Shape;742;p18"/>
          <p:cNvPicPr preferRelativeResize="0"/>
          <p:nvPr/>
        </p:nvPicPr>
        <p:blipFill rotWithShape="1">
          <a:blip r:embed="rId5">
            <a:alphaModFix/>
          </a:blip>
          <a:srcRect b="0" l="0" r="12557" t="0"/>
          <a:stretch/>
        </p:blipFill>
        <p:spPr>
          <a:xfrm>
            <a:off x="11354450" y="5075550"/>
            <a:ext cx="6933549" cy="3824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743" name="Google Shape;743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96175" y="6284550"/>
            <a:ext cx="5943600" cy="236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19"/>
          <p:cNvSpPr/>
          <p:nvPr/>
        </p:nvSpPr>
        <p:spPr>
          <a:xfrm>
            <a:off x="0" y="0"/>
            <a:ext cx="4381500" cy="10287000"/>
          </a:xfrm>
          <a:prstGeom prst="rect">
            <a:avLst/>
          </a:prstGeom>
          <a:solidFill>
            <a:srgbClr val="1A32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19"/>
          <p:cNvSpPr/>
          <p:nvPr/>
        </p:nvSpPr>
        <p:spPr>
          <a:xfrm>
            <a:off x="533400" y="628650"/>
            <a:ext cx="133350" cy="133350"/>
          </a:xfrm>
          <a:prstGeom prst="rect">
            <a:avLst/>
          </a:prstGeom>
          <a:solidFill>
            <a:srgbClr val="45C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19"/>
          <p:cNvSpPr/>
          <p:nvPr/>
        </p:nvSpPr>
        <p:spPr>
          <a:xfrm>
            <a:off x="800100" y="571500"/>
            <a:ext cx="202756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08 · CLIENTES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19"/>
          <p:cNvSpPr/>
          <p:nvPr/>
        </p:nvSpPr>
        <p:spPr>
          <a:xfrm>
            <a:off x="533400" y="1219200"/>
            <a:ext cx="4000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CBE8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45CBE8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19"/>
          <p:cNvSpPr/>
          <p:nvPr/>
        </p:nvSpPr>
        <p:spPr>
          <a:xfrm>
            <a:off x="990600" y="1257300"/>
            <a:ext cx="1360289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6E8"/>
              </a:buClr>
              <a:buSzPts val="1575"/>
              <a:buFont typeface="Arial"/>
              <a:buNone/>
            </a:pPr>
            <a:r>
              <a:rPr lang="en-US" sz="1575">
                <a:solidFill>
                  <a:srgbClr val="BFD6E8"/>
                </a:solidFill>
                <a:latin typeface="Arial"/>
                <a:ea typeface="Arial"/>
                <a:cs typeface="Arial"/>
                <a:sym typeface="Arial"/>
              </a:rPr>
              <a:t>Consola Java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19"/>
          <p:cNvSpPr/>
          <p:nvPr/>
        </p:nvSpPr>
        <p:spPr>
          <a:xfrm>
            <a:off x="533400" y="1628775"/>
            <a:ext cx="4000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19"/>
          <p:cNvSpPr/>
          <p:nvPr/>
        </p:nvSpPr>
        <p:spPr>
          <a:xfrm>
            <a:off x="990600" y="1628775"/>
            <a:ext cx="197212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Escritorio Swing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19"/>
          <p:cNvSpPr/>
          <p:nvPr/>
        </p:nvSpPr>
        <p:spPr>
          <a:xfrm>
            <a:off x="533400" y="2038350"/>
            <a:ext cx="4000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CBE8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45CBE8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19"/>
          <p:cNvSpPr/>
          <p:nvPr/>
        </p:nvSpPr>
        <p:spPr>
          <a:xfrm>
            <a:off x="990600" y="2076450"/>
            <a:ext cx="948333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6E8"/>
              </a:buClr>
              <a:buSzPts val="1575"/>
              <a:buFont typeface="Arial"/>
              <a:buNone/>
            </a:pPr>
            <a:r>
              <a:rPr lang="en-US" sz="1575">
                <a:solidFill>
                  <a:srgbClr val="BFD6E8"/>
                </a:solidFill>
                <a:latin typeface="Arial"/>
                <a:ea typeface="Arial"/>
                <a:cs typeface="Arial"/>
                <a:sym typeface="Arial"/>
              </a:rPr>
              <a:t>Web JSP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19"/>
          <p:cNvSpPr/>
          <p:nvPr/>
        </p:nvSpPr>
        <p:spPr>
          <a:xfrm>
            <a:off x="533400" y="2447925"/>
            <a:ext cx="4000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CBE8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45CBE8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19"/>
          <p:cNvSpPr/>
          <p:nvPr/>
        </p:nvSpPr>
        <p:spPr>
          <a:xfrm>
            <a:off x="990600" y="2486025"/>
            <a:ext cx="1355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6E8"/>
              </a:buClr>
              <a:buSzPts val="1575"/>
              <a:buFont typeface="Arial"/>
              <a:buNone/>
            </a:pPr>
            <a:r>
              <a:rPr lang="en-US" sz="1575">
                <a:solidFill>
                  <a:srgbClr val="BFD6E8"/>
                </a:solidFill>
                <a:latin typeface="Arial"/>
                <a:ea typeface="Arial"/>
                <a:cs typeface="Arial"/>
                <a:sym typeface="Arial"/>
              </a:rPr>
              <a:t>Móvil Android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19"/>
          <p:cNvSpPr/>
          <p:nvPr/>
        </p:nvSpPr>
        <p:spPr>
          <a:xfrm>
            <a:off x="533400" y="9563100"/>
            <a:ext cx="37719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A2BF"/>
              </a:buClr>
              <a:buSzPts val="971"/>
              <a:buFont typeface="Arial"/>
              <a:buNone/>
            </a:pPr>
            <a:r>
              <a:rPr lang="en-US" sz="971">
                <a:solidFill>
                  <a:srgbClr val="7FA2BF"/>
                </a:solidFill>
                <a:latin typeface="Arial"/>
                <a:ea typeface="Arial"/>
                <a:cs typeface="Arial"/>
                <a:sym typeface="Arial"/>
              </a:rPr>
              <a:t>GR05 · 2026</a:t>
            </a:r>
            <a:endParaRPr sz="97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19"/>
          <p:cNvSpPr/>
          <p:nvPr/>
        </p:nvSpPr>
        <p:spPr>
          <a:xfrm>
            <a:off x="5143500" y="571500"/>
            <a:ext cx="13620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4590B8"/>
                </a:solidFill>
                <a:latin typeface="Arial"/>
                <a:ea typeface="Arial"/>
                <a:cs typeface="Arial"/>
                <a:sym typeface="Arial"/>
              </a:rPr>
              <a:t>09 · CLIENTE DE ESCRITORIO — TP_SOAP_JAVA_CLIESC_G5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19"/>
          <p:cNvSpPr/>
          <p:nvPr/>
        </p:nvSpPr>
        <p:spPr>
          <a:xfrm>
            <a:off x="5143500" y="952500"/>
            <a:ext cx="13620750" cy="6180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A3260"/>
              </a:buClr>
              <a:buSzPts val="4023"/>
              <a:buFont typeface="Arial"/>
              <a:buNone/>
            </a:pPr>
            <a:r>
              <a:rPr b="1" lang="en-US" sz="4024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Swing · </a:t>
            </a:r>
            <a:r>
              <a:rPr b="1" lang="en-US" sz="4024">
                <a:solidFill>
                  <a:srgbClr val="42955F"/>
                </a:solidFill>
                <a:latin typeface="Arial"/>
                <a:ea typeface="Arial"/>
                <a:cs typeface="Arial"/>
                <a:sym typeface="Arial"/>
              </a:rPr>
              <a:t>FlatDarkLaf </a:t>
            </a:r>
            <a:r>
              <a:rPr b="1" lang="en-US" sz="4024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+ JTabbedPane</a:t>
            </a:r>
            <a:endParaRPr sz="4024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19"/>
          <p:cNvSpPr/>
          <p:nvPr/>
        </p:nvSpPr>
        <p:spPr>
          <a:xfrm>
            <a:off x="5143500" y="1608683"/>
            <a:ext cx="1143000" cy="57150"/>
          </a:xfrm>
          <a:prstGeom prst="rect">
            <a:avLst/>
          </a:prstGeom>
          <a:solidFill>
            <a:srgbClr val="C124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19"/>
          <p:cNvSpPr/>
          <p:nvPr/>
        </p:nvSpPr>
        <p:spPr>
          <a:xfrm>
            <a:off x="5505450" y="2189708"/>
            <a:ext cx="4933402" cy="66079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3260"/>
              </a:buClr>
              <a:buSzPts val="1595"/>
              <a:buFont typeface="Arial"/>
              <a:buNone/>
            </a:pPr>
            <a:r>
              <a:rPr b="1" lang="en-US" sz="1596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FlatDarkLaf </a:t>
            </a:r>
            <a:r>
              <a:rPr lang="en-US" sz="1596">
                <a:solidFill>
                  <a:srgbClr val="1C2330"/>
                </a:solidFill>
                <a:latin typeface="Arial"/>
                <a:ea typeface="Arial"/>
                <a:cs typeface="Arial"/>
                <a:sym typeface="Arial"/>
              </a:rPr>
              <a:t>· gradiente Indigo-Púrpura en </a:t>
            </a:r>
            <a:r>
              <a:rPr lang="en-US" sz="1596">
                <a:solidFill>
                  <a:srgbClr val="1C2330"/>
                </a:solidFill>
                <a:latin typeface="Courier New"/>
                <a:ea typeface="Courier New"/>
                <a:cs typeface="Courier New"/>
                <a:sym typeface="Courier New"/>
              </a:rPr>
              <a:t>LoginFrame</a:t>
            </a:r>
            <a:endParaRPr sz="159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19"/>
          <p:cNvSpPr/>
          <p:nvPr/>
        </p:nvSpPr>
        <p:spPr>
          <a:xfrm>
            <a:off x="5505450" y="2983855"/>
            <a:ext cx="4933402" cy="3542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C2330"/>
              </a:buClr>
              <a:buSzPts val="1595"/>
              <a:buFont typeface="Courier New"/>
              <a:buNone/>
            </a:pPr>
            <a:r>
              <a:rPr lang="en-US" sz="1596">
                <a:solidFill>
                  <a:srgbClr val="1C2330"/>
                </a:solidFill>
                <a:latin typeface="Courier New"/>
                <a:ea typeface="Courier New"/>
                <a:cs typeface="Courier New"/>
                <a:sym typeface="Courier New"/>
              </a:rPr>
              <a:t>VentanaPrincipal </a:t>
            </a:r>
            <a:r>
              <a:rPr lang="en-US" sz="1596">
                <a:solidFill>
                  <a:srgbClr val="1C2330"/>
                </a:solidFill>
                <a:latin typeface="Arial"/>
                <a:ea typeface="Arial"/>
                <a:cs typeface="Arial"/>
                <a:sym typeface="Arial"/>
              </a:rPr>
              <a:t>con </a:t>
            </a:r>
            <a:r>
              <a:rPr lang="en-US" sz="1596">
                <a:solidFill>
                  <a:srgbClr val="1C2330"/>
                </a:solidFill>
                <a:latin typeface="Courier New"/>
                <a:ea typeface="Courier New"/>
                <a:cs typeface="Courier New"/>
                <a:sym typeface="Courier New"/>
              </a:rPr>
              <a:t>JTabbedPane</a:t>
            </a:r>
            <a:endParaRPr sz="159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19"/>
          <p:cNvSpPr/>
          <p:nvPr/>
        </p:nvSpPr>
        <p:spPr>
          <a:xfrm>
            <a:off x="5505450" y="3471416"/>
            <a:ext cx="4933402" cy="34468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C2330"/>
              </a:buClr>
              <a:buSzPts val="1595"/>
              <a:buFont typeface="Arial"/>
              <a:buNone/>
            </a:pPr>
            <a:r>
              <a:rPr lang="en-US" sz="1596">
                <a:solidFill>
                  <a:srgbClr val="1C2330"/>
                </a:solidFill>
                <a:latin typeface="Arial"/>
                <a:ea typeface="Arial"/>
                <a:cs typeface="Arial"/>
                <a:sym typeface="Arial"/>
              </a:rPr>
              <a:t>Pestañas operacionales + </a:t>
            </a:r>
            <a:r>
              <a:rPr b="1" lang="en-US" sz="1596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CRUD del torneo</a:t>
            </a:r>
            <a:endParaRPr sz="159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19"/>
          <p:cNvSpPr/>
          <p:nvPr/>
        </p:nvSpPr>
        <p:spPr>
          <a:xfrm>
            <a:off x="5143500" y="3978027"/>
            <a:ext cx="5141119" cy="2038499"/>
          </a:xfrm>
          <a:prstGeom prst="roundRect">
            <a:avLst>
              <a:gd fmla="val 3738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19"/>
          <p:cNvSpPr/>
          <p:nvPr/>
        </p:nvSpPr>
        <p:spPr>
          <a:xfrm>
            <a:off x="5391150" y="4187577"/>
            <a:ext cx="4800052" cy="16574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633"/>
              <a:buFont typeface="Consolas"/>
              <a:buNone/>
            </a:pPr>
            <a:r>
              <a:rPr lang="en-US" sz="633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JTabbedPane</a:t>
            </a:r>
            <a:r>
              <a:rPr lang="en-US" sz="633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tp = </a:t>
            </a:r>
            <a:r>
              <a:rPr lang="en-US" sz="633">
                <a:solidFill>
                  <a:srgbClr val="79C0FF"/>
                </a:solidFill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-US" sz="633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633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JTabbedPane </a:t>
            </a:r>
            <a:r>
              <a:rPr lang="en-US" sz="633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();</a:t>
            </a:r>
            <a:endParaRPr sz="6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633"/>
              <a:buFont typeface="Consolas"/>
              <a:buNone/>
            </a:pPr>
            <a:r>
              <a:rPr lang="en-US" sz="633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tp.addTab( </a:t>
            </a:r>
            <a:endParaRPr sz="6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5D6FF"/>
              </a:buClr>
              <a:buSzPts val="633"/>
              <a:buFont typeface="Consolas"/>
              <a:buNone/>
            </a:pPr>
            <a:r>
              <a:rPr lang="en-US" sz="633">
                <a:solidFill>
                  <a:srgbClr val="A5D6FF"/>
                </a:solidFill>
                <a:latin typeface="Consolas"/>
                <a:ea typeface="Consolas"/>
                <a:cs typeface="Consolas"/>
                <a:sym typeface="Consolas"/>
              </a:rPr>
              <a:t>"Partidos" </a:t>
            </a:r>
            <a:r>
              <a:rPr lang="en-US" sz="633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, panelPartidos);</a:t>
            </a:r>
            <a:endParaRPr sz="6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633"/>
              <a:buFont typeface="Consolas"/>
              <a:buNone/>
            </a:pPr>
            <a:r>
              <a:rPr lang="en-US" sz="633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tp.addTab( </a:t>
            </a:r>
            <a:endParaRPr sz="6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5D6FF"/>
              </a:buClr>
              <a:buSzPts val="633"/>
              <a:buFont typeface="Consolas"/>
              <a:buNone/>
            </a:pPr>
            <a:r>
              <a:rPr lang="en-US" sz="633">
                <a:solidFill>
                  <a:srgbClr val="A5D6FF"/>
                </a:solidFill>
                <a:latin typeface="Consolas"/>
                <a:ea typeface="Consolas"/>
                <a:cs typeface="Consolas"/>
                <a:sym typeface="Consolas"/>
              </a:rPr>
              <a:t>"Localidades" </a:t>
            </a:r>
            <a:r>
              <a:rPr lang="en-US" sz="633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, panelLocalidades);</a:t>
            </a:r>
            <a:endParaRPr sz="6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633"/>
              <a:buFont typeface="Consolas"/>
              <a:buNone/>
            </a:pPr>
            <a:r>
              <a:rPr lang="en-US" sz="633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tp.addTab( </a:t>
            </a:r>
            <a:endParaRPr sz="6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5D6FF"/>
              </a:buClr>
              <a:buSzPts val="633"/>
              <a:buFont typeface="Consolas"/>
              <a:buNone/>
            </a:pPr>
            <a:r>
              <a:rPr lang="en-US" sz="633">
                <a:solidFill>
                  <a:srgbClr val="A5D6FF"/>
                </a:solidFill>
                <a:latin typeface="Consolas"/>
                <a:ea typeface="Consolas"/>
                <a:cs typeface="Consolas"/>
                <a:sym typeface="Consolas"/>
              </a:rPr>
              <a:t>"Reporte"</a:t>
            </a:r>
            <a:r>
              <a:rPr lang="en-US" sz="633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, panelReporte); </a:t>
            </a:r>
            <a:r>
              <a:rPr i="1" lang="en-US" sz="633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// CRUD de administración </a:t>
            </a:r>
            <a:r>
              <a:rPr lang="en-US" sz="633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tp.addTab(</a:t>
            </a:r>
            <a:r>
              <a:rPr lang="en-US" sz="633">
                <a:solidFill>
                  <a:srgbClr val="A5D6FF"/>
                </a:solidFill>
                <a:latin typeface="Consolas"/>
                <a:ea typeface="Consolas"/>
                <a:cs typeface="Consolas"/>
                <a:sym typeface="Consolas"/>
              </a:rPr>
              <a:t>"Países" </a:t>
            </a:r>
            <a:r>
              <a:rPr lang="en-US" sz="633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, panelPaises);</a:t>
            </a:r>
            <a:endParaRPr sz="6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633"/>
              <a:buFont typeface="Consolas"/>
              <a:buNone/>
            </a:pPr>
            <a:r>
              <a:rPr lang="en-US" sz="633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tp.addTab( </a:t>
            </a:r>
            <a:endParaRPr sz="6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5D6FF"/>
              </a:buClr>
              <a:buSzPts val="633"/>
              <a:buFont typeface="Consolas"/>
              <a:buNone/>
            </a:pPr>
            <a:r>
              <a:rPr lang="en-US" sz="633">
                <a:solidFill>
                  <a:srgbClr val="A5D6FF"/>
                </a:solidFill>
                <a:latin typeface="Consolas"/>
                <a:ea typeface="Consolas"/>
                <a:cs typeface="Consolas"/>
                <a:sym typeface="Consolas"/>
              </a:rPr>
              <a:t>"Estadios" </a:t>
            </a:r>
            <a:r>
              <a:rPr lang="en-US" sz="633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, panelEstadios);</a:t>
            </a:r>
            <a:endParaRPr sz="6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633"/>
              <a:buFont typeface="Consolas"/>
              <a:buNone/>
            </a:pPr>
            <a:r>
              <a:rPr lang="en-US" sz="633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tp.addTab( </a:t>
            </a:r>
            <a:endParaRPr sz="6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5D6FF"/>
              </a:buClr>
              <a:buSzPts val="633"/>
              <a:buFont typeface="Consolas"/>
              <a:buNone/>
            </a:pPr>
            <a:r>
              <a:rPr lang="en-US" sz="633">
                <a:solidFill>
                  <a:srgbClr val="A5D6FF"/>
                </a:solidFill>
                <a:latin typeface="Consolas"/>
                <a:ea typeface="Consolas"/>
                <a:cs typeface="Consolas"/>
                <a:sym typeface="Consolas"/>
              </a:rPr>
              <a:t>"Equipos" </a:t>
            </a:r>
            <a:r>
              <a:rPr lang="en-US" sz="633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, panelEquipos);</a:t>
            </a:r>
            <a:endParaRPr sz="6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633"/>
              <a:buFont typeface="Consolas"/>
              <a:buNone/>
            </a:pPr>
            <a:r>
              <a:rPr lang="en-US" sz="633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tp.addTab( </a:t>
            </a:r>
            <a:endParaRPr sz="6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5D6FF"/>
              </a:buClr>
              <a:buSzPts val="633"/>
              <a:buFont typeface="Consolas"/>
              <a:buNone/>
            </a:pPr>
            <a:r>
              <a:rPr lang="en-US" sz="633">
                <a:solidFill>
                  <a:srgbClr val="A5D6FF"/>
                </a:solidFill>
                <a:latin typeface="Consolas"/>
                <a:ea typeface="Consolas"/>
                <a:cs typeface="Consolas"/>
                <a:sym typeface="Consolas"/>
              </a:rPr>
              <a:t>"Clientes"</a:t>
            </a:r>
            <a:r>
              <a:rPr lang="en-US" sz="633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, panelClientes);</a:t>
            </a:r>
            <a:endParaRPr sz="6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19"/>
          <p:cNvSpPr/>
          <p:nvPr/>
        </p:nvSpPr>
        <p:spPr>
          <a:xfrm>
            <a:off x="5505444" y="8912133"/>
            <a:ext cx="3710400" cy="2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3260"/>
              </a:buClr>
              <a:buSzPts val="1040"/>
              <a:buFont typeface="Arial"/>
              <a:buNone/>
            </a:pPr>
            <a:r>
              <a:rPr b="1" lang="en-US" sz="1041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FIG 9 </a:t>
            </a:r>
            <a:r>
              <a:rPr i="1" lang="en-US" sz="104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— LoginFrame con gradiente Indigo-Púrpura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19"/>
          <p:cNvSpPr/>
          <p:nvPr/>
        </p:nvSpPr>
        <p:spPr>
          <a:xfrm>
            <a:off x="11046634" y="5582783"/>
            <a:ext cx="3710400" cy="2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3260"/>
              </a:buClr>
              <a:buSzPts val="1040"/>
              <a:buFont typeface="Arial"/>
              <a:buNone/>
            </a:pPr>
            <a:r>
              <a:rPr b="1" lang="en-US" sz="1041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FIG 10 </a:t>
            </a:r>
            <a:r>
              <a:rPr i="1" lang="en-US" sz="104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— VentanaPrincipal · partidos y localidades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19"/>
          <p:cNvSpPr/>
          <p:nvPr/>
        </p:nvSpPr>
        <p:spPr>
          <a:xfrm>
            <a:off x="10882419" y="9818771"/>
            <a:ext cx="7651200" cy="2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3260"/>
              </a:buClr>
              <a:buSzPts val="1040"/>
              <a:buFont typeface="Arial"/>
              <a:buNone/>
            </a:pPr>
            <a:r>
              <a:rPr b="1" lang="en-US" sz="1041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FIG 11 </a:t>
            </a:r>
            <a:r>
              <a:rPr i="1" lang="en-US" sz="104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— </a:t>
            </a:r>
            <a:r>
              <a:rPr i="1" lang="en-US" sz="950">
                <a:solidFill>
                  <a:srgbClr val="0E2841"/>
                </a:solidFill>
              </a:rPr>
              <a:t>Compra de boletos del torneo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19"/>
          <p:cNvSpPr/>
          <p:nvPr/>
        </p:nvSpPr>
        <p:spPr>
          <a:xfrm>
            <a:off x="5143500" y="9772650"/>
            <a:ext cx="48000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10"/>
              <a:buFont typeface="Arial"/>
              <a:buNone/>
            </a:pPr>
            <a:r>
              <a:rPr b="1" lang="en-US" sz="111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TP_SOAP_JAVA_MASHUP_AWS_G5 · 09 CLIENTE ESCRITORIO</a:t>
            </a:r>
            <a:endParaRPr sz="111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19"/>
          <p:cNvSpPr/>
          <p:nvPr/>
        </p:nvSpPr>
        <p:spPr>
          <a:xfrm>
            <a:off x="17571393" y="9744075"/>
            <a:ext cx="335607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4590B8"/>
                </a:solidFill>
                <a:latin typeface="Arial"/>
                <a:ea typeface="Arial"/>
                <a:cs typeface="Arial"/>
                <a:sym typeface="Arial"/>
              </a:rPr>
              <a:t>24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19"/>
          <p:cNvSpPr/>
          <p:nvPr/>
        </p:nvSpPr>
        <p:spPr>
          <a:xfrm>
            <a:off x="0" y="10153650"/>
            <a:ext cx="18288000" cy="133350"/>
          </a:xfrm>
          <a:prstGeom prst="rect">
            <a:avLst/>
          </a:prstGeom>
          <a:gradFill>
            <a:gsLst>
              <a:gs pos="0">
                <a:srgbClr val="1A3260"/>
              </a:gs>
              <a:gs pos="50000">
                <a:srgbClr val="1A3260"/>
              </a:gs>
              <a:gs pos="75000">
                <a:srgbClr val="42955F"/>
              </a:gs>
              <a:gs pos="100000">
                <a:srgbClr val="E8821E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75" name="Google Shape;77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22265"/>
            <a:ext cx="18288000" cy="345543"/>
          </a:xfrm>
          <a:prstGeom prst="rect">
            <a:avLst/>
          </a:prstGeom>
          <a:noFill/>
          <a:ln>
            <a:noFill/>
          </a:ln>
        </p:spPr>
      </p:pic>
      <p:pic>
        <p:nvPicPr>
          <p:cNvPr id="776" name="Google Shape;776;p19"/>
          <p:cNvPicPr preferRelativeResize="0"/>
          <p:nvPr/>
        </p:nvPicPr>
        <p:blipFill rotWithShape="1">
          <a:blip r:embed="rId4">
            <a:alphaModFix/>
          </a:blip>
          <a:srcRect b="9752" l="14885" r="15394" t="8914"/>
          <a:stretch/>
        </p:blipFill>
        <p:spPr>
          <a:xfrm>
            <a:off x="5283075" y="6216550"/>
            <a:ext cx="4350025" cy="2680327"/>
          </a:xfrm>
          <a:prstGeom prst="rect">
            <a:avLst/>
          </a:prstGeom>
          <a:noFill/>
          <a:ln>
            <a:noFill/>
          </a:ln>
        </p:spPr>
      </p:pic>
      <p:pic>
        <p:nvPicPr>
          <p:cNvPr id="777" name="Google Shape;777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141850" y="1780500"/>
            <a:ext cx="5648325" cy="3743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8" name="Google Shape;778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141850" y="5867063"/>
            <a:ext cx="5943600" cy="394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20"/>
          <p:cNvSpPr/>
          <p:nvPr/>
        </p:nvSpPr>
        <p:spPr>
          <a:xfrm>
            <a:off x="0" y="0"/>
            <a:ext cx="4381500" cy="10287000"/>
          </a:xfrm>
          <a:prstGeom prst="rect">
            <a:avLst/>
          </a:prstGeom>
          <a:solidFill>
            <a:srgbClr val="1A32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p20"/>
          <p:cNvSpPr/>
          <p:nvPr/>
        </p:nvSpPr>
        <p:spPr>
          <a:xfrm>
            <a:off x="533400" y="628650"/>
            <a:ext cx="133350" cy="133350"/>
          </a:xfrm>
          <a:prstGeom prst="rect">
            <a:avLst/>
          </a:prstGeom>
          <a:solidFill>
            <a:srgbClr val="45C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6" name="Google Shape;786;p20"/>
          <p:cNvSpPr/>
          <p:nvPr/>
        </p:nvSpPr>
        <p:spPr>
          <a:xfrm>
            <a:off x="800100" y="571500"/>
            <a:ext cx="202756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08 · CLIENTES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20"/>
          <p:cNvSpPr/>
          <p:nvPr/>
        </p:nvSpPr>
        <p:spPr>
          <a:xfrm>
            <a:off x="533400" y="1219200"/>
            <a:ext cx="4000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CBE8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45CBE8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20"/>
          <p:cNvSpPr/>
          <p:nvPr/>
        </p:nvSpPr>
        <p:spPr>
          <a:xfrm>
            <a:off x="990600" y="1257300"/>
            <a:ext cx="1360289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6E8"/>
              </a:buClr>
              <a:buSzPts val="1575"/>
              <a:buFont typeface="Arial"/>
              <a:buNone/>
            </a:pPr>
            <a:r>
              <a:rPr lang="en-US" sz="1575">
                <a:solidFill>
                  <a:srgbClr val="BFD6E8"/>
                </a:solidFill>
                <a:latin typeface="Arial"/>
                <a:ea typeface="Arial"/>
                <a:cs typeface="Arial"/>
                <a:sym typeface="Arial"/>
              </a:rPr>
              <a:t>Consola Java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20"/>
          <p:cNvSpPr/>
          <p:nvPr/>
        </p:nvSpPr>
        <p:spPr>
          <a:xfrm>
            <a:off x="533400" y="1628775"/>
            <a:ext cx="4000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CBE8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45CBE8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20"/>
          <p:cNvSpPr/>
          <p:nvPr/>
        </p:nvSpPr>
        <p:spPr>
          <a:xfrm>
            <a:off x="990600" y="1666875"/>
            <a:ext cx="1606302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6E8"/>
              </a:buClr>
              <a:buSzPts val="1575"/>
              <a:buFont typeface="Arial"/>
              <a:buNone/>
            </a:pPr>
            <a:r>
              <a:rPr lang="en-US" sz="1575">
                <a:solidFill>
                  <a:srgbClr val="BFD6E8"/>
                </a:solidFill>
                <a:latin typeface="Arial"/>
                <a:ea typeface="Arial"/>
                <a:cs typeface="Arial"/>
                <a:sym typeface="Arial"/>
              </a:rPr>
              <a:t>Escritorio Swing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20"/>
          <p:cNvSpPr/>
          <p:nvPr/>
        </p:nvSpPr>
        <p:spPr>
          <a:xfrm>
            <a:off x="533400" y="2038350"/>
            <a:ext cx="4000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20"/>
          <p:cNvSpPr/>
          <p:nvPr/>
        </p:nvSpPr>
        <p:spPr>
          <a:xfrm>
            <a:off x="990600" y="2038350"/>
            <a:ext cx="106709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Web JSP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20"/>
          <p:cNvSpPr/>
          <p:nvPr/>
        </p:nvSpPr>
        <p:spPr>
          <a:xfrm>
            <a:off x="533400" y="2447925"/>
            <a:ext cx="4000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CBE8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45CBE8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20"/>
          <p:cNvSpPr/>
          <p:nvPr/>
        </p:nvSpPr>
        <p:spPr>
          <a:xfrm>
            <a:off x="990600" y="2486025"/>
            <a:ext cx="1355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6E8"/>
              </a:buClr>
              <a:buSzPts val="1575"/>
              <a:buFont typeface="Arial"/>
              <a:buNone/>
            </a:pPr>
            <a:r>
              <a:rPr lang="en-US" sz="1575">
                <a:solidFill>
                  <a:srgbClr val="BFD6E8"/>
                </a:solidFill>
                <a:latin typeface="Arial"/>
                <a:ea typeface="Arial"/>
                <a:cs typeface="Arial"/>
                <a:sym typeface="Arial"/>
              </a:rPr>
              <a:t>Móvil Android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20"/>
          <p:cNvSpPr/>
          <p:nvPr/>
        </p:nvSpPr>
        <p:spPr>
          <a:xfrm>
            <a:off x="533400" y="9563100"/>
            <a:ext cx="37719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A2BF"/>
              </a:buClr>
              <a:buSzPts val="971"/>
              <a:buFont typeface="Arial"/>
              <a:buNone/>
            </a:pPr>
            <a:r>
              <a:rPr lang="en-US" sz="971">
                <a:solidFill>
                  <a:srgbClr val="7FA2BF"/>
                </a:solidFill>
                <a:latin typeface="Arial"/>
                <a:ea typeface="Arial"/>
                <a:cs typeface="Arial"/>
                <a:sym typeface="Arial"/>
              </a:rPr>
              <a:t>GR05 · 2026</a:t>
            </a:r>
            <a:endParaRPr sz="97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20"/>
          <p:cNvSpPr/>
          <p:nvPr/>
        </p:nvSpPr>
        <p:spPr>
          <a:xfrm>
            <a:off x="5143500" y="571500"/>
            <a:ext cx="13620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4590B8"/>
                </a:solidFill>
                <a:latin typeface="Arial"/>
                <a:ea typeface="Arial"/>
                <a:cs typeface="Arial"/>
                <a:sym typeface="Arial"/>
              </a:rPr>
              <a:t>10 · CLIENTE WEB — TP_SOAP_JAVA_CLIWEB_G5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20"/>
          <p:cNvSpPr/>
          <p:nvPr/>
        </p:nvSpPr>
        <p:spPr>
          <a:xfrm>
            <a:off x="5143500" y="952500"/>
            <a:ext cx="13620750" cy="6271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A3260"/>
              </a:buClr>
              <a:buSzPts val="2897"/>
              <a:buFont typeface="Courier New"/>
              <a:buNone/>
            </a:pPr>
            <a:r>
              <a:rPr b="1" lang="en-US" sz="2897">
                <a:solidFill>
                  <a:srgbClr val="1A3260"/>
                </a:solidFill>
                <a:latin typeface="Courier New"/>
                <a:ea typeface="Courier New"/>
                <a:cs typeface="Courier New"/>
                <a:sym typeface="Courier New"/>
              </a:rPr>
              <a:t>TicketServlet </a:t>
            </a:r>
            <a:r>
              <a:rPr b="1" lang="en-US" sz="4024">
                <a:solidFill>
                  <a:srgbClr val="42955F"/>
                </a:solidFill>
                <a:latin typeface="Arial"/>
                <a:ea typeface="Arial"/>
                <a:cs typeface="Arial"/>
                <a:sym typeface="Arial"/>
              </a:rPr>
              <a:t>· MVC del Mashup</a:t>
            </a:r>
            <a:endParaRPr sz="4024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20"/>
          <p:cNvSpPr/>
          <p:nvPr/>
        </p:nvSpPr>
        <p:spPr>
          <a:xfrm>
            <a:off x="5143500" y="1617762"/>
            <a:ext cx="1143000" cy="57150"/>
          </a:xfrm>
          <a:prstGeom prst="rect">
            <a:avLst/>
          </a:prstGeom>
          <a:solidFill>
            <a:srgbClr val="C124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9" name="Google Shape;799;p20"/>
          <p:cNvSpPr/>
          <p:nvPr/>
        </p:nvSpPr>
        <p:spPr>
          <a:xfrm>
            <a:off x="5143500" y="2036862"/>
            <a:ext cx="6229826" cy="8667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C2330"/>
              </a:buClr>
              <a:buSzPts val="1387"/>
              <a:buFont typeface="Arial"/>
              <a:buNone/>
            </a:pPr>
            <a:r>
              <a:rPr lang="en-US" sz="1388">
                <a:solidFill>
                  <a:srgbClr val="1C2330"/>
                </a:solidFill>
                <a:latin typeface="Arial"/>
                <a:ea typeface="Arial"/>
                <a:cs typeface="Arial"/>
                <a:sym typeface="Arial"/>
              </a:rPr>
              <a:t>Aplicación Jakarta EE en Payara. </a:t>
            </a:r>
            <a:r>
              <a:rPr lang="en-US" sz="1388">
                <a:solidFill>
                  <a:srgbClr val="1C2330"/>
                </a:solidFill>
                <a:latin typeface="Courier New"/>
                <a:ea typeface="Courier New"/>
                <a:cs typeface="Courier New"/>
                <a:sym typeface="Courier New"/>
              </a:rPr>
              <a:t>TicketServlet </a:t>
            </a:r>
            <a:r>
              <a:rPr lang="en-US" sz="1388">
                <a:solidFill>
                  <a:srgbClr val="1C2330"/>
                </a:solidFill>
                <a:latin typeface="Arial"/>
                <a:ea typeface="Arial"/>
                <a:cs typeface="Arial"/>
                <a:sym typeface="Arial"/>
              </a:rPr>
              <a:t>coordina </a:t>
            </a:r>
            <a:r>
              <a:rPr b="1" lang="en-US" sz="1388">
                <a:solidFill>
                  <a:srgbClr val="1C2330"/>
                </a:solidFill>
                <a:latin typeface="Arial"/>
                <a:ea typeface="Arial"/>
                <a:cs typeface="Arial"/>
                <a:sym typeface="Arial"/>
              </a:rPr>
              <a:t>ambos servicios SOAP </a:t>
            </a:r>
            <a:r>
              <a:rPr lang="en-US" sz="1388">
                <a:solidFill>
                  <a:srgbClr val="1C2330"/>
                </a:solidFill>
                <a:latin typeface="Arial"/>
                <a:ea typeface="Arial"/>
                <a:cs typeface="Arial"/>
                <a:sym typeface="Arial"/>
              </a:rPr>
              <a:t>para el flujo de compra con carrito de asientos; las JSP muestran la selección de asientos y el formulario de crédito.</a:t>
            </a:r>
            <a:endParaRPr sz="138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20"/>
          <p:cNvSpPr/>
          <p:nvPr/>
        </p:nvSpPr>
        <p:spPr>
          <a:xfrm>
            <a:off x="5143500" y="3008412"/>
            <a:ext cx="6048375" cy="2469356"/>
          </a:xfrm>
          <a:prstGeom prst="roundRect">
            <a:avLst>
              <a:gd fmla="val 3086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1" name="Google Shape;801;p20"/>
          <p:cNvSpPr/>
          <p:nvPr/>
        </p:nvSpPr>
        <p:spPr>
          <a:xfrm>
            <a:off x="5391150" y="3217962"/>
            <a:ext cx="5734526" cy="208835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75"/>
              <a:buFont typeface="Consolas"/>
              <a:buNone/>
            </a:pPr>
            <a:r>
              <a:rPr lang="en-US" sz="975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-US" sz="975">
                <a:solidFill>
                  <a:srgbClr val="FFA657"/>
                </a:solidFill>
                <a:latin typeface="Consolas"/>
                <a:ea typeface="Consolas"/>
                <a:cs typeface="Consolas"/>
                <a:sym typeface="Consolas"/>
              </a:rPr>
              <a:t>@WebServlet</a:t>
            </a:r>
            <a:r>
              <a:rPr lang="en-US" sz="975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975">
                <a:solidFill>
                  <a:srgbClr val="A5D6FF"/>
                </a:solidFill>
                <a:latin typeface="Consolas"/>
                <a:ea typeface="Consolas"/>
                <a:cs typeface="Consolas"/>
                <a:sym typeface="Consolas"/>
              </a:rPr>
              <a:t>"/ticket"</a:t>
            </a:r>
            <a:r>
              <a:rPr lang="en-US" sz="975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)] </a:t>
            </a:r>
            <a:r>
              <a:rPr lang="en-US" sz="975">
                <a:solidFill>
                  <a:srgbClr val="79C0FF"/>
                </a:solidFill>
                <a:latin typeface="Consolas"/>
                <a:ea typeface="Consolas"/>
                <a:cs typeface="Consolas"/>
                <a:sym typeface="Consolas"/>
              </a:rPr>
              <a:t>public class</a:t>
            </a:r>
            <a:r>
              <a:rPr lang="en-US" sz="975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975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TicketServlet</a:t>
            </a:r>
            <a:r>
              <a:rPr lang="en-US" sz="975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975">
                <a:solidFill>
                  <a:srgbClr val="79C0FF"/>
                </a:solidFill>
                <a:latin typeface="Consolas"/>
                <a:ea typeface="Consolas"/>
                <a:cs typeface="Consolas"/>
                <a:sym typeface="Consolas"/>
              </a:rPr>
              <a:t>extends</a:t>
            </a:r>
            <a:r>
              <a:rPr lang="en-US" sz="975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975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HttpServlet </a:t>
            </a:r>
            <a:r>
              <a:rPr lang="en-US" sz="975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75"/>
              <a:buFont typeface="Consolas"/>
              <a:buNone/>
            </a:pPr>
            <a:r>
              <a:rPr lang="en-US" sz="975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79C0FF"/>
              </a:buClr>
              <a:buSzPts val="975"/>
              <a:buFont typeface="Consolas"/>
              <a:buNone/>
            </a:pPr>
            <a:r>
              <a:rPr lang="en-US" sz="975">
                <a:solidFill>
                  <a:srgbClr val="79C0FF"/>
                </a:solidFill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lang="en-US" sz="975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975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ClienteFederacion</a:t>
            </a:r>
            <a:r>
              <a:rPr lang="en-US" sz="975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cliente;  </a:t>
            </a:r>
            <a:r>
              <a:rPr i="1" lang="en-US" sz="975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// stub JAX-WS </a:t>
            </a:r>
            <a:r>
              <a:rPr lang="en-US" sz="975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i="1" lang="en-US" sz="975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// doGet: partidos · localidades(+asientos) · </a:t>
            </a:r>
            <a:r>
              <a:rPr lang="en-US" sz="975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i="1" lang="en-US" sz="975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//        reporte · crudPaises/Estadios/Equipos... </a:t>
            </a:r>
            <a:r>
              <a:rPr lang="en-US" sz="975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i="1" lang="en-US" sz="975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// doPost: </a:t>
            </a:r>
            <a:r>
              <a:rPr lang="en-US" sz="975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i="1" lang="en-US" sz="975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//  "login"   → cliente.login() → sesión </a:t>
            </a:r>
            <a:r>
              <a:rPr lang="en-US" sz="975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i="1" lang="en-US" sz="975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//  "comprar" → MASHUP: banco.verificarYCrearCredito() </a:t>
            </a:r>
            <a:r>
              <a:rPr lang="en-US" sz="975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i="1" lang="en-US" sz="975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//              luego cliente.comprarBoletosMulti() </a:t>
            </a:r>
            <a:r>
              <a:rPr lang="en-US" sz="975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i="1" lang="en-US" sz="975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//  CRUD: crear/actualizar/eliminar × 5 entidades </a:t>
            </a:r>
            <a:r>
              <a:rPr lang="en-US" sz="975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20"/>
          <p:cNvSpPr/>
          <p:nvPr/>
        </p:nvSpPr>
        <p:spPr>
          <a:xfrm>
            <a:off x="11477625" y="3703737"/>
            <a:ext cx="3211354" cy="2238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3260"/>
              </a:buClr>
              <a:buSzPts val="1040"/>
              <a:buFont typeface="Arial"/>
              <a:buNone/>
            </a:pPr>
            <a:r>
              <a:rPr b="1" lang="en-US" sz="1041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FIG 12 </a:t>
            </a:r>
            <a:r>
              <a:rPr i="1" lang="en-US" sz="104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— Login del cliente web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20"/>
          <p:cNvSpPr/>
          <p:nvPr/>
        </p:nvSpPr>
        <p:spPr>
          <a:xfrm>
            <a:off x="6387651" y="9006387"/>
            <a:ext cx="30069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A3260"/>
              </a:buClr>
              <a:buSzPts val="1125"/>
              <a:buFont typeface="Arial"/>
              <a:buNone/>
            </a:pPr>
            <a:r>
              <a:rPr b="1" lang="en-US" sz="1125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FIG 13 </a:t>
            </a:r>
            <a:r>
              <a:rPr i="1" lang="en-US" sz="1125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— Selección de asientos individuales</a:t>
            </a:r>
            <a:endParaRPr sz="11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20"/>
          <p:cNvSpPr/>
          <p:nvPr/>
        </p:nvSpPr>
        <p:spPr>
          <a:xfrm>
            <a:off x="14504413" y="3703737"/>
            <a:ext cx="3211500" cy="2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3260"/>
              </a:buClr>
              <a:buSzPts val="1040"/>
              <a:buFont typeface="Arial"/>
              <a:buNone/>
            </a:pPr>
            <a:r>
              <a:rPr b="1" lang="en-US" sz="1041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FIG 14 </a:t>
            </a:r>
            <a:r>
              <a:rPr i="1" lang="en-US" sz="104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— Formulario de crédito bancario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p20"/>
          <p:cNvSpPr/>
          <p:nvPr/>
        </p:nvSpPr>
        <p:spPr>
          <a:xfrm>
            <a:off x="12610863" y="6289862"/>
            <a:ext cx="30069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A3260"/>
              </a:buClr>
              <a:buSzPts val="1125"/>
              <a:buFont typeface="Arial"/>
              <a:buNone/>
            </a:pPr>
            <a:r>
              <a:rPr b="1" lang="en-US" sz="1125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FIG 15 </a:t>
            </a:r>
            <a:r>
              <a:rPr i="1" lang="en-US" sz="1125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— Factura con detalle y forma de pago</a:t>
            </a:r>
            <a:endParaRPr sz="11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20"/>
          <p:cNvSpPr/>
          <p:nvPr/>
        </p:nvSpPr>
        <p:spPr>
          <a:xfrm>
            <a:off x="11373325" y="9483087"/>
            <a:ext cx="6653100" cy="2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3260"/>
              </a:buClr>
              <a:buSzPts val="1040"/>
              <a:buFont typeface="Arial"/>
              <a:buNone/>
            </a:pPr>
            <a:r>
              <a:rPr b="1" lang="en-US" sz="1041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FIG 16 </a:t>
            </a:r>
            <a:r>
              <a:rPr i="1" lang="en-US" sz="104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— </a:t>
            </a:r>
            <a:r>
              <a:rPr i="1" lang="en-US" sz="1041">
                <a:solidFill>
                  <a:srgbClr val="6B7280"/>
                </a:solidFill>
              </a:rPr>
              <a:t>Panel de reportes de partidos del mundial</a:t>
            </a:r>
            <a:endParaRPr i="1" sz="1041">
              <a:solidFill>
                <a:srgbClr val="6B7280"/>
              </a:solidFill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3260"/>
              </a:buClr>
              <a:buSzPts val="1040"/>
              <a:buFont typeface="Arial"/>
              <a:buNone/>
            </a:pPr>
            <a:r>
              <a:t/>
            </a:r>
            <a:endParaRPr i="1" sz="1041">
              <a:solidFill>
                <a:srgbClr val="6B7280"/>
              </a:solidFill>
            </a:endParaRPr>
          </a:p>
        </p:txBody>
      </p:sp>
      <p:sp>
        <p:nvSpPr>
          <p:cNvPr id="807" name="Google Shape;807;p20"/>
          <p:cNvSpPr/>
          <p:nvPr/>
        </p:nvSpPr>
        <p:spPr>
          <a:xfrm>
            <a:off x="5143500" y="9772650"/>
            <a:ext cx="560006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10"/>
              <a:buFont typeface="Arial"/>
              <a:buNone/>
            </a:pPr>
            <a:r>
              <a:rPr b="1" lang="en-US" sz="111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TP_SOAP_JAVA_MASHUP_AWS_G5 · 10 CLIENTE WEB</a:t>
            </a:r>
            <a:endParaRPr sz="111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20"/>
          <p:cNvSpPr/>
          <p:nvPr/>
        </p:nvSpPr>
        <p:spPr>
          <a:xfrm>
            <a:off x="17571393" y="9744075"/>
            <a:ext cx="335607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4590B8"/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20"/>
          <p:cNvSpPr/>
          <p:nvPr/>
        </p:nvSpPr>
        <p:spPr>
          <a:xfrm>
            <a:off x="0" y="10153650"/>
            <a:ext cx="18288000" cy="133350"/>
          </a:xfrm>
          <a:prstGeom prst="rect">
            <a:avLst/>
          </a:prstGeom>
          <a:gradFill>
            <a:gsLst>
              <a:gs pos="0">
                <a:srgbClr val="1A3260"/>
              </a:gs>
              <a:gs pos="50000">
                <a:srgbClr val="1A3260"/>
              </a:gs>
              <a:gs pos="75000">
                <a:srgbClr val="42955F"/>
              </a:gs>
              <a:gs pos="100000">
                <a:srgbClr val="E8821E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10" name="Google Shape;81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22265"/>
            <a:ext cx="18288000" cy="345543"/>
          </a:xfrm>
          <a:prstGeom prst="rect">
            <a:avLst/>
          </a:prstGeom>
          <a:noFill/>
          <a:ln>
            <a:noFill/>
          </a:ln>
        </p:spPr>
      </p:pic>
      <p:pic>
        <p:nvPicPr>
          <p:cNvPr id="811" name="Google Shape;811;p20"/>
          <p:cNvPicPr preferRelativeResize="0"/>
          <p:nvPr/>
        </p:nvPicPr>
        <p:blipFill rotWithShape="1">
          <a:blip r:embed="rId4">
            <a:alphaModFix/>
          </a:blip>
          <a:srcRect b="18733" l="33048" r="34647" t="24085"/>
          <a:stretch/>
        </p:blipFill>
        <p:spPr>
          <a:xfrm>
            <a:off x="11477625" y="1737551"/>
            <a:ext cx="1920124" cy="1966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2" name="Google Shape;812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43500" y="6044088"/>
            <a:ext cx="594360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3" name="Google Shape;813;p20"/>
          <p:cNvPicPr preferRelativeResize="0"/>
          <p:nvPr/>
        </p:nvPicPr>
        <p:blipFill rotWithShape="1">
          <a:blip r:embed="rId6">
            <a:alphaModFix/>
          </a:blip>
          <a:srcRect b="16964" l="17775" r="18765" t="12589"/>
          <a:stretch/>
        </p:blipFill>
        <p:spPr>
          <a:xfrm>
            <a:off x="14171150" y="1737550"/>
            <a:ext cx="3771901" cy="1966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4" name="Google Shape;814;p20"/>
          <p:cNvPicPr preferRelativeResize="0"/>
          <p:nvPr/>
        </p:nvPicPr>
        <p:blipFill rotWithShape="1">
          <a:blip r:embed="rId7">
            <a:alphaModFix/>
          </a:blip>
          <a:srcRect b="14686" l="36486" r="36489" t="15482"/>
          <a:stretch/>
        </p:blipFill>
        <p:spPr>
          <a:xfrm>
            <a:off x="13311175" y="4157350"/>
            <a:ext cx="1606299" cy="208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5" name="Google Shape;815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1400700" y="6699350"/>
            <a:ext cx="5943600" cy="2771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21"/>
          <p:cNvSpPr/>
          <p:nvPr/>
        </p:nvSpPr>
        <p:spPr>
          <a:xfrm>
            <a:off x="0" y="0"/>
            <a:ext cx="4381500" cy="10287000"/>
          </a:xfrm>
          <a:prstGeom prst="rect">
            <a:avLst/>
          </a:prstGeom>
          <a:solidFill>
            <a:srgbClr val="1A32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2" name="Google Shape;822;p21"/>
          <p:cNvSpPr/>
          <p:nvPr/>
        </p:nvSpPr>
        <p:spPr>
          <a:xfrm>
            <a:off x="533400" y="628650"/>
            <a:ext cx="133350" cy="133350"/>
          </a:xfrm>
          <a:prstGeom prst="rect">
            <a:avLst/>
          </a:prstGeom>
          <a:solidFill>
            <a:srgbClr val="45C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3" name="Google Shape;823;p21"/>
          <p:cNvSpPr/>
          <p:nvPr/>
        </p:nvSpPr>
        <p:spPr>
          <a:xfrm>
            <a:off x="800100" y="571500"/>
            <a:ext cx="202756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08 · CLIENTES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21"/>
          <p:cNvSpPr/>
          <p:nvPr/>
        </p:nvSpPr>
        <p:spPr>
          <a:xfrm>
            <a:off x="533400" y="1219200"/>
            <a:ext cx="4000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CBE8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45CBE8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p21"/>
          <p:cNvSpPr/>
          <p:nvPr/>
        </p:nvSpPr>
        <p:spPr>
          <a:xfrm>
            <a:off x="990600" y="1257300"/>
            <a:ext cx="1360289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6E8"/>
              </a:buClr>
              <a:buSzPts val="1575"/>
              <a:buFont typeface="Arial"/>
              <a:buNone/>
            </a:pPr>
            <a:r>
              <a:rPr lang="en-US" sz="1575">
                <a:solidFill>
                  <a:srgbClr val="BFD6E8"/>
                </a:solidFill>
                <a:latin typeface="Arial"/>
                <a:ea typeface="Arial"/>
                <a:cs typeface="Arial"/>
                <a:sym typeface="Arial"/>
              </a:rPr>
              <a:t>Consola Java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p21"/>
          <p:cNvSpPr/>
          <p:nvPr/>
        </p:nvSpPr>
        <p:spPr>
          <a:xfrm>
            <a:off x="533400" y="1628775"/>
            <a:ext cx="4000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CBE8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45CBE8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21"/>
          <p:cNvSpPr/>
          <p:nvPr/>
        </p:nvSpPr>
        <p:spPr>
          <a:xfrm>
            <a:off x="990600" y="1666875"/>
            <a:ext cx="1606302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6E8"/>
              </a:buClr>
              <a:buSzPts val="1575"/>
              <a:buFont typeface="Arial"/>
              <a:buNone/>
            </a:pPr>
            <a:r>
              <a:rPr lang="en-US" sz="1575">
                <a:solidFill>
                  <a:srgbClr val="BFD6E8"/>
                </a:solidFill>
                <a:latin typeface="Arial"/>
                <a:ea typeface="Arial"/>
                <a:cs typeface="Arial"/>
                <a:sym typeface="Arial"/>
              </a:rPr>
              <a:t>Escritorio Swing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21"/>
          <p:cNvSpPr/>
          <p:nvPr/>
        </p:nvSpPr>
        <p:spPr>
          <a:xfrm>
            <a:off x="533400" y="2038350"/>
            <a:ext cx="4000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CBE8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45CBE8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21"/>
          <p:cNvSpPr/>
          <p:nvPr/>
        </p:nvSpPr>
        <p:spPr>
          <a:xfrm>
            <a:off x="990600" y="2076450"/>
            <a:ext cx="948333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6E8"/>
              </a:buClr>
              <a:buSzPts val="1575"/>
              <a:buFont typeface="Arial"/>
              <a:buNone/>
            </a:pPr>
            <a:r>
              <a:rPr lang="en-US" sz="1575">
                <a:solidFill>
                  <a:srgbClr val="BFD6E8"/>
                </a:solidFill>
                <a:latin typeface="Arial"/>
                <a:ea typeface="Arial"/>
                <a:cs typeface="Arial"/>
                <a:sym typeface="Arial"/>
              </a:rPr>
              <a:t>Web JSP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21"/>
          <p:cNvSpPr/>
          <p:nvPr/>
        </p:nvSpPr>
        <p:spPr>
          <a:xfrm>
            <a:off x="533400" y="2447925"/>
            <a:ext cx="4000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21"/>
          <p:cNvSpPr/>
          <p:nvPr/>
        </p:nvSpPr>
        <p:spPr>
          <a:xfrm>
            <a:off x="990600" y="2447925"/>
            <a:ext cx="164648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Móvil Android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21"/>
          <p:cNvSpPr/>
          <p:nvPr/>
        </p:nvSpPr>
        <p:spPr>
          <a:xfrm>
            <a:off x="533400" y="9563100"/>
            <a:ext cx="37719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A2BF"/>
              </a:buClr>
              <a:buSzPts val="971"/>
              <a:buFont typeface="Arial"/>
              <a:buNone/>
            </a:pPr>
            <a:r>
              <a:rPr lang="en-US" sz="971">
                <a:solidFill>
                  <a:srgbClr val="7FA2BF"/>
                </a:solidFill>
                <a:latin typeface="Arial"/>
                <a:ea typeface="Arial"/>
                <a:cs typeface="Arial"/>
                <a:sym typeface="Arial"/>
              </a:rPr>
              <a:t>GR05 · 2026</a:t>
            </a:r>
            <a:endParaRPr sz="97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21"/>
          <p:cNvSpPr/>
          <p:nvPr/>
        </p:nvSpPr>
        <p:spPr>
          <a:xfrm>
            <a:off x="5143500" y="571500"/>
            <a:ext cx="13620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4590B8"/>
                </a:solidFill>
                <a:latin typeface="Arial"/>
                <a:ea typeface="Arial"/>
                <a:cs typeface="Arial"/>
                <a:sym typeface="Arial"/>
              </a:rPr>
              <a:t>11 · CLIENTE MÓVIL — TP_SOAP_JAVA_CLIMOV_G5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21"/>
          <p:cNvSpPr/>
          <p:nvPr/>
        </p:nvSpPr>
        <p:spPr>
          <a:xfrm>
            <a:off x="5143500" y="952500"/>
            <a:ext cx="12753900" cy="11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3260"/>
              </a:buClr>
              <a:buSzPts val="4350"/>
              <a:buFont typeface="Arial"/>
              <a:buNone/>
            </a:pPr>
            <a:r>
              <a:rPr b="1" lang="en-US" sz="4350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Android · Kotlin con </a:t>
            </a:r>
            <a:r>
              <a:rPr b="1" lang="en-US" sz="4350">
                <a:solidFill>
                  <a:srgbClr val="42955F"/>
                </a:solidFill>
                <a:latin typeface="Arial"/>
                <a:ea typeface="Arial"/>
                <a:cs typeface="Arial"/>
                <a:sym typeface="Arial"/>
              </a:rPr>
              <a:t>OkHttp + XmlPullParser</a:t>
            </a:r>
            <a:endParaRPr sz="4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21"/>
          <p:cNvSpPr/>
          <p:nvPr/>
        </p:nvSpPr>
        <p:spPr>
          <a:xfrm>
            <a:off x="5143500" y="1866754"/>
            <a:ext cx="1143000" cy="57300"/>
          </a:xfrm>
          <a:prstGeom prst="rect">
            <a:avLst/>
          </a:prstGeom>
          <a:solidFill>
            <a:srgbClr val="C124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6" name="Google Shape;836;p21"/>
          <p:cNvSpPr/>
          <p:nvPr/>
        </p:nvSpPr>
        <p:spPr>
          <a:xfrm>
            <a:off x="5143500" y="5726888"/>
            <a:ext cx="4880400" cy="2853600"/>
          </a:xfrm>
          <a:prstGeom prst="roundRect">
            <a:avLst>
              <a:gd fmla="val 2265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7" name="Google Shape;837;p21"/>
          <p:cNvSpPr/>
          <p:nvPr/>
        </p:nvSpPr>
        <p:spPr>
          <a:xfrm>
            <a:off x="5291300" y="5756513"/>
            <a:ext cx="4621200" cy="29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9C0FF"/>
              </a:buClr>
              <a:buSzPts val="609"/>
              <a:buFont typeface="Consolas"/>
              <a:buNone/>
            </a:pPr>
            <a:r>
              <a:rPr lang="en-US" sz="609">
                <a:solidFill>
                  <a:srgbClr val="79C0FF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US" sz="609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609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TicketPremiumSoapService </a:t>
            </a:r>
            <a:r>
              <a:rPr lang="en-US" sz="609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60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609"/>
              <a:buFont typeface="Consolas"/>
              <a:buNone/>
            </a:pPr>
            <a:r>
              <a:rPr lang="en-US" sz="609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endParaRPr sz="60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9C0FF"/>
              </a:buClr>
              <a:buSzPts val="609"/>
              <a:buFont typeface="Consolas"/>
              <a:buNone/>
            </a:pPr>
            <a:r>
              <a:rPr lang="en-US" sz="609">
                <a:solidFill>
                  <a:srgbClr val="79C0FF"/>
                </a:solidFill>
                <a:latin typeface="Consolas"/>
                <a:ea typeface="Consolas"/>
                <a:cs typeface="Consolas"/>
                <a:sym typeface="Consolas"/>
              </a:rPr>
              <a:t>companion object </a:t>
            </a:r>
            <a:r>
              <a:rPr lang="en-US" sz="609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60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609"/>
              <a:buFont typeface="Consolas"/>
              <a:buNone/>
            </a:pPr>
            <a:r>
              <a:rPr lang="en-US" sz="609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    </a:t>
            </a:r>
            <a:endParaRPr sz="60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9C0FF"/>
              </a:buClr>
              <a:buSzPts val="609"/>
              <a:buFont typeface="Consolas"/>
              <a:buNone/>
            </a:pPr>
            <a:r>
              <a:rPr lang="en-US" sz="609">
                <a:solidFill>
                  <a:srgbClr val="79C0FF"/>
                </a:solidFill>
                <a:latin typeface="Consolas"/>
                <a:ea typeface="Consolas"/>
                <a:cs typeface="Consolas"/>
                <a:sym typeface="Consolas"/>
              </a:rPr>
              <a:t>const val</a:t>
            </a:r>
            <a:r>
              <a:rPr lang="en-US" sz="609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NAMESPACE = </a:t>
            </a:r>
            <a:r>
              <a:rPr lang="en-US" sz="609">
                <a:solidFill>
                  <a:srgbClr val="A5D6FF"/>
                </a:solidFill>
                <a:latin typeface="Consolas"/>
                <a:ea typeface="Consolas"/>
                <a:cs typeface="Consolas"/>
                <a:sym typeface="Consolas"/>
              </a:rPr>
              <a:t>"http://ws.monster.edu.ec/" </a:t>
            </a:r>
            <a:r>
              <a:rPr lang="en-US" sz="609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609">
                <a:solidFill>
                  <a:srgbClr val="79C0FF"/>
                </a:solidFill>
                <a:latin typeface="Consolas"/>
                <a:ea typeface="Consolas"/>
                <a:cs typeface="Consolas"/>
                <a:sym typeface="Consolas"/>
              </a:rPr>
              <a:t>var</a:t>
            </a:r>
            <a:r>
              <a:rPr lang="en-US" sz="609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serverIp: </a:t>
            </a:r>
            <a:r>
              <a:rPr lang="en-US" sz="609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en-US" sz="609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609">
                <a:solidFill>
                  <a:srgbClr val="A5D6FF"/>
                </a:solidFill>
                <a:latin typeface="Consolas"/>
                <a:ea typeface="Consolas"/>
                <a:cs typeface="Consolas"/>
                <a:sym typeface="Consolas"/>
              </a:rPr>
              <a:t>"192.168.100.2"</a:t>
            </a:r>
            <a:r>
              <a:rPr lang="en-US" sz="609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i="1" lang="en-US" sz="609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// runtime </a:t>
            </a:r>
            <a:r>
              <a:rPr lang="en-US" sz="609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60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609"/>
              <a:buFont typeface="Consolas"/>
              <a:buNone/>
            </a:pPr>
            <a:r>
              <a:rPr lang="en-US" sz="609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endParaRPr sz="60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9C0FF"/>
              </a:buClr>
              <a:buSzPts val="609"/>
              <a:buFont typeface="Consolas"/>
              <a:buNone/>
            </a:pPr>
            <a:r>
              <a:rPr lang="en-US" sz="609">
                <a:solidFill>
                  <a:srgbClr val="79C0FF"/>
                </a:solidFill>
                <a:latin typeface="Consolas"/>
                <a:ea typeface="Consolas"/>
                <a:cs typeface="Consolas"/>
                <a:sym typeface="Consolas"/>
              </a:rPr>
              <a:t>private fun</a:t>
            </a:r>
            <a:r>
              <a:rPr lang="en-US" sz="609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createSoapRequest(method: </a:t>
            </a:r>
            <a:r>
              <a:rPr lang="en-US" sz="609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String </a:t>
            </a:r>
            <a:r>
              <a:rPr lang="en-US" sz="609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60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609"/>
              <a:buFont typeface="Consolas"/>
              <a:buNone/>
            </a:pPr>
            <a:r>
              <a:rPr lang="en-US" sz="609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endParaRPr sz="60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9C0FF"/>
              </a:buClr>
              <a:buSzPts val="609"/>
              <a:buFont typeface="Consolas"/>
              <a:buNone/>
            </a:pPr>
            <a:r>
              <a:rPr lang="en-US" sz="609">
                <a:solidFill>
                  <a:srgbClr val="79C0FF"/>
                </a:solidFill>
                <a:latin typeface="Consolas"/>
                <a:ea typeface="Consolas"/>
                <a:cs typeface="Consolas"/>
                <a:sym typeface="Consolas"/>
              </a:rPr>
              <a:t>vararg</a:t>
            </a:r>
            <a:r>
              <a:rPr lang="en-US" sz="609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params: </a:t>
            </a:r>
            <a:r>
              <a:rPr lang="en-US" sz="609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Pair</a:t>
            </a:r>
            <a:r>
              <a:rPr lang="en-US" sz="609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609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en-US" sz="609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US" sz="609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Any</a:t>
            </a:r>
            <a:r>
              <a:rPr lang="en-US" sz="609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&gt;): </a:t>
            </a:r>
            <a:r>
              <a:rPr lang="en-US" sz="609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String </a:t>
            </a:r>
            <a:r>
              <a:rPr lang="en-US" sz="609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60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609"/>
              <a:buFont typeface="Consolas"/>
              <a:buNone/>
            </a:pPr>
            <a:r>
              <a:rPr lang="en-US" sz="609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    </a:t>
            </a:r>
            <a:endParaRPr sz="60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9C0FF"/>
              </a:buClr>
              <a:buSzPts val="609"/>
              <a:buFont typeface="Consolas"/>
              <a:buNone/>
            </a:pPr>
            <a:r>
              <a:rPr lang="en-US" sz="609">
                <a:solidFill>
                  <a:srgbClr val="79C0FF"/>
                </a:solidFill>
                <a:latin typeface="Consolas"/>
                <a:ea typeface="Consolas"/>
                <a:cs typeface="Consolas"/>
                <a:sym typeface="Consolas"/>
              </a:rPr>
              <a:t>val</a:t>
            </a:r>
            <a:r>
              <a:rPr lang="en-US" sz="609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sb = </a:t>
            </a:r>
            <a:r>
              <a:rPr lang="en-US" sz="609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StringBuilder </a:t>
            </a:r>
            <a:r>
              <a:rPr lang="en-US" sz="609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()</a:t>
            </a:r>
            <a:endParaRPr sz="60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609"/>
              <a:buFont typeface="Consolas"/>
              <a:buNone/>
            </a:pPr>
            <a:r>
              <a:rPr lang="en-US" sz="609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   sb.append( </a:t>
            </a:r>
            <a:endParaRPr sz="60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5D6FF"/>
              </a:buClr>
              <a:buSzPts val="609"/>
              <a:buFont typeface="Consolas"/>
              <a:buNone/>
            </a:pPr>
            <a:r>
              <a:rPr lang="en-US" sz="609">
                <a:solidFill>
                  <a:srgbClr val="A5D6FF"/>
                </a:solidFill>
                <a:latin typeface="Consolas"/>
                <a:ea typeface="Consolas"/>
                <a:cs typeface="Consolas"/>
                <a:sym typeface="Consolas"/>
              </a:rPr>
              <a:t>"&lt;soapenv:Envelope ... xmlns:ser=$NS&gt;" </a:t>
            </a:r>
            <a:r>
              <a:rPr lang="en-US" sz="609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60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609"/>
              <a:buFont typeface="Consolas"/>
              <a:buNone/>
            </a:pPr>
            <a:r>
              <a:rPr lang="en-US" sz="609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   sb.append( </a:t>
            </a:r>
            <a:endParaRPr sz="60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5D6FF"/>
              </a:buClr>
              <a:buSzPts val="609"/>
              <a:buFont typeface="Consolas"/>
              <a:buNone/>
            </a:pPr>
            <a:r>
              <a:rPr lang="en-US" sz="609">
                <a:solidFill>
                  <a:srgbClr val="A5D6FF"/>
                </a:solidFill>
                <a:latin typeface="Consolas"/>
                <a:ea typeface="Consolas"/>
                <a:cs typeface="Consolas"/>
                <a:sym typeface="Consolas"/>
              </a:rPr>
              <a:t>"&lt;soapenv:Body&gt;&lt;ser:$method&gt;" </a:t>
            </a:r>
            <a:r>
              <a:rPr lang="en-US" sz="609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60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609"/>
              <a:buFont typeface="Consolas"/>
              <a:buNone/>
            </a:pPr>
            <a:r>
              <a:rPr lang="en-US" sz="609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   params.forEach { (n,v) -&gt; sb.append( </a:t>
            </a:r>
            <a:endParaRPr sz="60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5D6FF"/>
              </a:buClr>
              <a:buSzPts val="609"/>
              <a:buFont typeface="Consolas"/>
              <a:buNone/>
            </a:pPr>
            <a:r>
              <a:rPr lang="en-US" sz="609">
                <a:solidFill>
                  <a:srgbClr val="A5D6FF"/>
                </a:solidFill>
                <a:latin typeface="Consolas"/>
                <a:ea typeface="Consolas"/>
                <a:cs typeface="Consolas"/>
                <a:sym typeface="Consolas"/>
              </a:rPr>
              <a:t>"&lt;$n&gt;$v&lt;/$n&gt;" </a:t>
            </a:r>
            <a:r>
              <a:rPr lang="en-US" sz="609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) }</a:t>
            </a:r>
            <a:endParaRPr sz="60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609"/>
              <a:buFont typeface="Consolas"/>
              <a:buNone/>
            </a:pPr>
            <a:r>
              <a:rPr lang="en-US" sz="609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   sb.append( </a:t>
            </a:r>
            <a:endParaRPr sz="60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5D6FF"/>
              </a:buClr>
              <a:buSzPts val="609"/>
              <a:buFont typeface="Consolas"/>
              <a:buNone/>
            </a:pPr>
            <a:r>
              <a:rPr lang="en-US" sz="609">
                <a:solidFill>
                  <a:srgbClr val="A5D6FF"/>
                </a:solidFill>
                <a:latin typeface="Consolas"/>
                <a:ea typeface="Consolas"/>
                <a:cs typeface="Consolas"/>
                <a:sym typeface="Consolas"/>
              </a:rPr>
              <a:t>"&lt;/ser:$method&gt;&lt;/soapenv:Body&gt;..." </a:t>
            </a:r>
            <a:r>
              <a:rPr lang="en-US" sz="609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60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609"/>
              <a:buFont typeface="Consolas"/>
              <a:buNone/>
            </a:pPr>
            <a:r>
              <a:rPr lang="en-US" sz="609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    </a:t>
            </a:r>
            <a:endParaRPr sz="60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9C0FF"/>
              </a:buClr>
              <a:buSzPts val="609"/>
              <a:buFont typeface="Consolas"/>
              <a:buNone/>
            </a:pPr>
            <a:r>
              <a:rPr lang="en-US" sz="609">
                <a:solidFill>
                  <a:srgbClr val="79C0FF"/>
                </a:solidFill>
                <a:latin typeface="Consolas"/>
                <a:ea typeface="Consolas"/>
                <a:cs typeface="Consolas"/>
                <a:sym typeface="Consolas"/>
              </a:rPr>
              <a:t>return </a:t>
            </a:r>
            <a:r>
              <a:rPr lang="en-US" sz="609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sb.toString()</a:t>
            </a:r>
            <a:endParaRPr sz="60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609"/>
              <a:buFont typeface="Consolas"/>
              <a:buNone/>
            </a:pPr>
            <a:r>
              <a:rPr lang="en-US" sz="609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60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609"/>
              <a:buFont typeface="Consolas"/>
              <a:buNone/>
            </a:pPr>
            <a:r>
              <a:rPr lang="en-US" sz="609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endParaRPr sz="60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609"/>
              <a:buFont typeface="Consolas"/>
              <a:buNone/>
            </a:pPr>
            <a:r>
              <a:rPr i="1" lang="en-US" sz="609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// OkHttp + XmlPullParser · SoapCallback&lt;T&gt; + AsyncTask </a:t>
            </a:r>
            <a:r>
              <a:rPr lang="en-US" sz="609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i="1" lang="en-US" sz="609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// Sin ksoap2 ni Retrofit </a:t>
            </a:r>
            <a:r>
              <a:rPr lang="en-US" sz="609">
                <a:solidFill>
                  <a:srgbClr val="E6EDF3"/>
                </a:solidFill>
                <a:highlight>
                  <a:srgbClr val="0F172A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60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21"/>
          <p:cNvSpPr/>
          <p:nvPr/>
        </p:nvSpPr>
        <p:spPr>
          <a:xfrm>
            <a:off x="5223238" y="5317391"/>
            <a:ext cx="26955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A3260"/>
              </a:buClr>
              <a:buSzPts val="1040"/>
              <a:buFont typeface="Arial"/>
              <a:buNone/>
            </a:pPr>
            <a:r>
              <a:rPr b="1" lang="en-US" sz="1041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FIG 17 </a:t>
            </a:r>
            <a:r>
              <a:rPr i="1" lang="en-US" sz="104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— LoginActivity · Material Design 3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21"/>
          <p:cNvSpPr/>
          <p:nvPr/>
        </p:nvSpPr>
        <p:spPr>
          <a:xfrm>
            <a:off x="10286144" y="7368591"/>
            <a:ext cx="26955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A3260"/>
              </a:buClr>
              <a:buSzPts val="1125"/>
              <a:buFont typeface="Arial"/>
              <a:buNone/>
            </a:pPr>
            <a:r>
              <a:rPr b="1" lang="en-US" sz="1125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FIG 18 </a:t>
            </a:r>
            <a:r>
              <a:rPr i="1" lang="en-US" sz="1125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— PartidosActivity · RecyclerView</a:t>
            </a:r>
            <a:endParaRPr sz="11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21"/>
          <p:cNvSpPr/>
          <p:nvPr/>
        </p:nvSpPr>
        <p:spPr>
          <a:xfrm>
            <a:off x="13550126" y="7368579"/>
            <a:ext cx="26955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A3260"/>
              </a:buClr>
              <a:buSzPts val="1040"/>
              <a:buFont typeface="Arial"/>
              <a:buNone/>
            </a:pPr>
            <a:r>
              <a:rPr b="1" lang="en-US" sz="1041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FIG 19 </a:t>
            </a:r>
            <a:r>
              <a:rPr i="1" lang="en-US" sz="104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— LocalidadesActivity · disponibilidad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21"/>
          <p:cNvSpPr/>
          <p:nvPr/>
        </p:nvSpPr>
        <p:spPr>
          <a:xfrm>
            <a:off x="15736781" y="7368579"/>
            <a:ext cx="26955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A3260"/>
              </a:buClr>
              <a:buSzPts val="1040"/>
              <a:buFont typeface="Arial"/>
              <a:buNone/>
            </a:pPr>
            <a:r>
              <a:rPr b="1" lang="en-US" sz="1041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FIG 20 </a:t>
            </a:r>
            <a:r>
              <a:rPr i="1" lang="en-US" sz="104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— CompraActivity · factura y asientos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21"/>
          <p:cNvSpPr/>
          <p:nvPr/>
        </p:nvSpPr>
        <p:spPr>
          <a:xfrm>
            <a:off x="5143500" y="9772650"/>
            <a:ext cx="5784071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10"/>
              <a:buFont typeface="Arial"/>
              <a:buNone/>
            </a:pPr>
            <a:r>
              <a:rPr b="1" lang="en-US" sz="111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TP_SOAP_JAVA_MASHUP_AWS_G5 · 11 CLIENTE MÓVIL</a:t>
            </a:r>
            <a:endParaRPr sz="111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21"/>
          <p:cNvSpPr/>
          <p:nvPr/>
        </p:nvSpPr>
        <p:spPr>
          <a:xfrm>
            <a:off x="17571393" y="9744075"/>
            <a:ext cx="335607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4590B8"/>
                </a:solidFill>
                <a:latin typeface="Arial"/>
                <a:ea typeface="Arial"/>
                <a:cs typeface="Arial"/>
                <a:sym typeface="Arial"/>
              </a:rPr>
              <a:t>26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21"/>
          <p:cNvSpPr/>
          <p:nvPr/>
        </p:nvSpPr>
        <p:spPr>
          <a:xfrm>
            <a:off x="0" y="10153650"/>
            <a:ext cx="18288000" cy="133350"/>
          </a:xfrm>
          <a:prstGeom prst="rect">
            <a:avLst/>
          </a:prstGeom>
          <a:gradFill>
            <a:gsLst>
              <a:gs pos="0">
                <a:srgbClr val="1A3260"/>
              </a:gs>
              <a:gs pos="50000">
                <a:srgbClr val="1A3260"/>
              </a:gs>
              <a:gs pos="75000">
                <a:srgbClr val="42955F"/>
              </a:gs>
              <a:gs pos="100000">
                <a:srgbClr val="E8821E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45" name="Google Shape;84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22265"/>
            <a:ext cx="18288000" cy="345543"/>
          </a:xfrm>
          <a:prstGeom prst="rect">
            <a:avLst/>
          </a:prstGeom>
          <a:noFill/>
          <a:ln>
            <a:noFill/>
          </a:ln>
        </p:spPr>
      </p:pic>
      <p:pic>
        <p:nvPicPr>
          <p:cNvPr id="846" name="Google Shape;846;p21"/>
          <p:cNvPicPr preferRelativeResize="0"/>
          <p:nvPr/>
        </p:nvPicPr>
        <p:blipFill rotWithShape="1">
          <a:blip r:embed="rId4">
            <a:alphaModFix/>
          </a:blip>
          <a:srcRect b="23261" l="0" r="0" t="30095"/>
          <a:stretch/>
        </p:blipFill>
        <p:spPr>
          <a:xfrm>
            <a:off x="5223250" y="2508900"/>
            <a:ext cx="2695500" cy="2780728"/>
          </a:xfrm>
          <a:prstGeom prst="rect">
            <a:avLst/>
          </a:prstGeom>
          <a:noFill/>
          <a:ln>
            <a:noFill/>
          </a:ln>
        </p:spPr>
      </p:pic>
      <p:pic>
        <p:nvPicPr>
          <p:cNvPr id="847" name="Google Shape;847;p21"/>
          <p:cNvPicPr preferRelativeResize="0"/>
          <p:nvPr/>
        </p:nvPicPr>
        <p:blipFill rotWithShape="1">
          <a:blip r:embed="rId5">
            <a:alphaModFix/>
          </a:blip>
          <a:srcRect b="9477" l="0" r="0" t="6056"/>
          <a:stretch/>
        </p:blipFill>
        <p:spPr>
          <a:xfrm>
            <a:off x="10206000" y="2508912"/>
            <a:ext cx="2592354" cy="4845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48" name="Google Shape;848;p21"/>
          <p:cNvPicPr preferRelativeResize="0"/>
          <p:nvPr/>
        </p:nvPicPr>
        <p:blipFill rotWithShape="1">
          <a:blip r:embed="rId6">
            <a:alphaModFix/>
          </a:blip>
          <a:srcRect b="0" l="0" r="0" t="4260"/>
          <a:stretch/>
        </p:blipFill>
        <p:spPr>
          <a:xfrm>
            <a:off x="13266625" y="2538546"/>
            <a:ext cx="2238274" cy="4742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9" name="Google Shape;849;p21"/>
          <p:cNvPicPr preferRelativeResize="0"/>
          <p:nvPr/>
        </p:nvPicPr>
        <p:blipFill rotWithShape="1">
          <a:blip r:embed="rId7">
            <a:alphaModFix/>
          </a:blip>
          <a:srcRect b="0" l="0" r="0" t="4934"/>
          <a:stretch/>
        </p:blipFill>
        <p:spPr>
          <a:xfrm>
            <a:off x="15665925" y="2522663"/>
            <a:ext cx="2303395" cy="4845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22"/>
          <p:cNvSpPr/>
          <p:nvPr/>
        </p:nvSpPr>
        <p:spPr>
          <a:xfrm>
            <a:off x="0" y="0"/>
            <a:ext cx="4381500" cy="10287000"/>
          </a:xfrm>
          <a:prstGeom prst="rect">
            <a:avLst/>
          </a:prstGeom>
          <a:solidFill>
            <a:srgbClr val="1A32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6" name="Google Shape;856;p22"/>
          <p:cNvSpPr/>
          <p:nvPr/>
        </p:nvSpPr>
        <p:spPr>
          <a:xfrm>
            <a:off x="533400" y="628650"/>
            <a:ext cx="133350" cy="133350"/>
          </a:xfrm>
          <a:prstGeom prst="rect">
            <a:avLst/>
          </a:prstGeom>
          <a:solidFill>
            <a:srgbClr val="45C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7" name="Google Shape;857;p22"/>
          <p:cNvSpPr/>
          <p:nvPr/>
        </p:nvSpPr>
        <p:spPr>
          <a:xfrm>
            <a:off x="800100" y="571500"/>
            <a:ext cx="1641038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CONTENIDO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" name="Google Shape;858;p22"/>
          <p:cNvSpPr/>
          <p:nvPr/>
        </p:nvSpPr>
        <p:spPr>
          <a:xfrm>
            <a:off x="533400" y="1219200"/>
            <a:ext cx="4000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CBE8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45CBE8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22"/>
          <p:cNvSpPr/>
          <p:nvPr/>
        </p:nvSpPr>
        <p:spPr>
          <a:xfrm>
            <a:off x="990600" y="1257300"/>
            <a:ext cx="1471166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6E8"/>
              </a:buClr>
              <a:buSzPts val="1575"/>
              <a:buFont typeface="Arial"/>
              <a:buNone/>
            </a:pPr>
            <a:r>
              <a:rPr lang="en-US" sz="1575">
                <a:solidFill>
                  <a:srgbClr val="BFD6E8"/>
                </a:solidFill>
                <a:latin typeface="Arial"/>
                <a:ea typeface="Arial"/>
                <a:cs typeface="Arial"/>
                <a:sym typeface="Arial"/>
              </a:rPr>
              <a:t>WSFederacion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0" name="Google Shape;860;p22"/>
          <p:cNvSpPr/>
          <p:nvPr/>
        </p:nvSpPr>
        <p:spPr>
          <a:xfrm>
            <a:off x="533400" y="1628775"/>
            <a:ext cx="4000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CBE8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45CBE8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1" name="Google Shape;861;p22"/>
          <p:cNvSpPr/>
          <p:nvPr/>
        </p:nvSpPr>
        <p:spPr>
          <a:xfrm>
            <a:off x="990600" y="1666875"/>
            <a:ext cx="1465213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6E8"/>
              </a:buClr>
              <a:buSzPts val="1575"/>
              <a:buFont typeface="Arial"/>
              <a:buNone/>
            </a:pPr>
            <a:r>
              <a:rPr lang="en-US" sz="1575">
                <a:solidFill>
                  <a:srgbClr val="BFD6E8"/>
                </a:solidFill>
                <a:latin typeface="Arial"/>
                <a:ea typeface="Arial"/>
                <a:cs typeface="Arial"/>
                <a:sym typeface="Arial"/>
              </a:rPr>
              <a:t>WSBancoCore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" name="Google Shape;862;p22"/>
          <p:cNvSpPr/>
          <p:nvPr/>
        </p:nvSpPr>
        <p:spPr>
          <a:xfrm>
            <a:off x="533400" y="2038350"/>
            <a:ext cx="4000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CBE8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45CBE8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22"/>
          <p:cNvSpPr/>
          <p:nvPr/>
        </p:nvSpPr>
        <p:spPr>
          <a:xfrm>
            <a:off x="990600" y="2076450"/>
            <a:ext cx="846981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6E8"/>
              </a:buClr>
              <a:buSzPts val="1575"/>
              <a:buFont typeface="Arial"/>
              <a:buNone/>
            </a:pPr>
            <a:r>
              <a:rPr lang="en-US" sz="1575">
                <a:solidFill>
                  <a:srgbClr val="BFD6E8"/>
                </a:solidFill>
                <a:latin typeface="Arial"/>
                <a:ea typeface="Arial"/>
                <a:cs typeface="Arial"/>
                <a:sym typeface="Arial"/>
              </a:rPr>
              <a:t>Clientes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4" name="Google Shape;864;p22"/>
          <p:cNvSpPr/>
          <p:nvPr/>
        </p:nvSpPr>
        <p:spPr>
          <a:xfrm>
            <a:off x="533400" y="2447925"/>
            <a:ext cx="4000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5" name="Google Shape;865;p22"/>
          <p:cNvSpPr/>
          <p:nvPr/>
        </p:nvSpPr>
        <p:spPr>
          <a:xfrm>
            <a:off x="990600" y="2447925"/>
            <a:ext cx="161017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Conclusiones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6" name="Google Shape;866;p22"/>
          <p:cNvSpPr/>
          <p:nvPr/>
        </p:nvSpPr>
        <p:spPr>
          <a:xfrm>
            <a:off x="533400" y="2857500"/>
            <a:ext cx="4000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CBE8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45CBE8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p22"/>
          <p:cNvSpPr/>
          <p:nvPr/>
        </p:nvSpPr>
        <p:spPr>
          <a:xfrm>
            <a:off x="990600" y="2895600"/>
            <a:ext cx="1822996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6E8"/>
              </a:buClr>
              <a:buSzPts val="1575"/>
              <a:buFont typeface="Arial"/>
              <a:buNone/>
            </a:pPr>
            <a:r>
              <a:rPr lang="en-US" sz="1575">
                <a:solidFill>
                  <a:srgbClr val="BFD6E8"/>
                </a:solidFill>
                <a:latin typeface="Arial"/>
                <a:ea typeface="Arial"/>
                <a:cs typeface="Arial"/>
                <a:sym typeface="Arial"/>
              </a:rPr>
              <a:t>Recomendaciones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22"/>
          <p:cNvSpPr/>
          <p:nvPr/>
        </p:nvSpPr>
        <p:spPr>
          <a:xfrm>
            <a:off x="533400" y="3267075"/>
            <a:ext cx="4000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CBE8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45CBE8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p22"/>
          <p:cNvSpPr/>
          <p:nvPr/>
        </p:nvSpPr>
        <p:spPr>
          <a:xfrm>
            <a:off x="990600" y="3305175"/>
            <a:ext cx="1148953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6E8"/>
              </a:buClr>
              <a:buSzPts val="1575"/>
              <a:buFont typeface="Arial"/>
              <a:buNone/>
            </a:pPr>
            <a:r>
              <a:rPr lang="en-US" sz="1575">
                <a:solidFill>
                  <a:srgbClr val="BFD6E8"/>
                </a:solidFill>
                <a:latin typeface="Arial"/>
                <a:ea typeface="Arial"/>
                <a:cs typeface="Arial"/>
                <a:sym typeface="Arial"/>
              </a:rPr>
              <a:t>Bibliografía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0" name="Google Shape;870;p22"/>
          <p:cNvSpPr/>
          <p:nvPr/>
        </p:nvSpPr>
        <p:spPr>
          <a:xfrm>
            <a:off x="533400" y="9563100"/>
            <a:ext cx="37719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A2BF"/>
              </a:buClr>
              <a:buSzPts val="971"/>
              <a:buFont typeface="Arial"/>
              <a:buNone/>
            </a:pPr>
            <a:r>
              <a:rPr lang="en-US" sz="971">
                <a:solidFill>
                  <a:srgbClr val="7FA2BF"/>
                </a:solidFill>
                <a:latin typeface="Arial"/>
                <a:ea typeface="Arial"/>
                <a:cs typeface="Arial"/>
                <a:sym typeface="Arial"/>
              </a:rPr>
              <a:t>GR05 · 2026</a:t>
            </a:r>
            <a:endParaRPr sz="97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22"/>
          <p:cNvSpPr/>
          <p:nvPr/>
        </p:nvSpPr>
        <p:spPr>
          <a:xfrm>
            <a:off x="5143500" y="571500"/>
            <a:ext cx="13620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4590B8"/>
                </a:solidFill>
                <a:latin typeface="Arial"/>
                <a:ea typeface="Arial"/>
                <a:cs typeface="Arial"/>
                <a:sym typeface="Arial"/>
              </a:rPr>
              <a:t>09 · CONCLUSIONES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22"/>
          <p:cNvSpPr/>
          <p:nvPr/>
        </p:nvSpPr>
        <p:spPr>
          <a:xfrm>
            <a:off x="5143500" y="952500"/>
            <a:ext cx="13620750" cy="6180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A3260"/>
              </a:buClr>
              <a:buSzPts val="4023"/>
              <a:buFont typeface="Arial"/>
              <a:buNone/>
            </a:pPr>
            <a:r>
              <a:rPr b="1" lang="en-US" sz="4024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Lo que </a:t>
            </a:r>
            <a:r>
              <a:rPr b="1" lang="en-US" sz="4024">
                <a:solidFill>
                  <a:srgbClr val="42955F"/>
                </a:solidFill>
                <a:latin typeface="Arial"/>
                <a:ea typeface="Arial"/>
                <a:cs typeface="Arial"/>
                <a:sym typeface="Arial"/>
              </a:rPr>
              <a:t>demuestra </a:t>
            </a:r>
            <a:r>
              <a:rPr b="1" lang="en-US" sz="4024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el Mashup</a:t>
            </a:r>
            <a:endParaRPr sz="4024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3" name="Google Shape;873;p22"/>
          <p:cNvSpPr/>
          <p:nvPr/>
        </p:nvSpPr>
        <p:spPr>
          <a:xfrm>
            <a:off x="5143500" y="1608683"/>
            <a:ext cx="1143000" cy="57150"/>
          </a:xfrm>
          <a:prstGeom prst="rect">
            <a:avLst/>
          </a:prstGeom>
          <a:solidFill>
            <a:srgbClr val="C124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4" name="Google Shape;874;p22"/>
          <p:cNvSpPr/>
          <p:nvPr/>
        </p:nvSpPr>
        <p:spPr>
          <a:xfrm>
            <a:off x="5143500" y="2027783"/>
            <a:ext cx="6096000" cy="1738908"/>
          </a:xfrm>
          <a:prstGeom prst="roundRect">
            <a:avLst>
              <a:gd fmla="val 219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5" name="Google Shape;875;p22"/>
          <p:cNvSpPr/>
          <p:nvPr/>
        </p:nvSpPr>
        <p:spPr>
          <a:xfrm>
            <a:off x="5143500" y="3757166"/>
            <a:ext cx="6096000" cy="9525"/>
          </a:xfrm>
          <a:prstGeom prst="rect">
            <a:avLst/>
          </a:prstGeom>
          <a:solidFill>
            <a:srgbClr val="DBE3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6" name="Google Shape;876;p22"/>
          <p:cNvSpPr/>
          <p:nvPr/>
        </p:nvSpPr>
        <p:spPr>
          <a:xfrm>
            <a:off x="5143500" y="2027783"/>
            <a:ext cx="6096000" cy="9525"/>
          </a:xfrm>
          <a:prstGeom prst="rect">
            <a:avLst/>
          </a:prstGeom>
          <a:solidFill>
            <a:srgbClr val="DBE3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7" name="Google Shape;877;p22"/>
          <p:cNvSpPr/>
          <p:nvPr/>
        </p:nvSpPr>
        <p:spPr>
          <a:xfrm>
            <a:off x="5143500" y="2027783"/>
            <a:ext cx="76200" cy="1738908"/>
          </a:xfrm>
          <a:prstGeom prst="rect">
            <a:avLst/>
          </a:prstGeom>
          <a:solidFill>
            <a:srgbClr val="4590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8" name="Google Shape;878;p22"/>
          <p:cNvSpPr/>
          <p:nvPr/>
        </p:nvSpPr>
        <p:spPr>
          <a:xfrm>
            <a:off x="11229975" y="2027783"/>
            <a:ext cx="9525" cy="1738908"/>
          </a:xfrm>
          <a:prstGeom prst="rect">
            <a:avLst/>
          </a:prstGeom>
          <a:solidFill>
            <a:srgbClr val="DBE3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9" name="Google Shape;879;p22"/>
          <p:cNvSpPr/>
          <p:nvPr/>
        </p:nvSpPr>
        <p:spPr>
          <a:xfrm>
            <a:off x="5448300" y="2227808"/>
            <a:ext cx="610838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4590B8"/>
                </a:solidFill>
                <a:latin typeface="Arial"/>
                <a:ea typeface="Arial"/>
                <a:cs typeface="Arial"/>
                <a:sym typeface="Arial"/>
              </a:rPr>
              <a:t>C1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22"/>
          <p:cNvSpPr/>
          <p:nvPr/>
        </p:nvSpPr>
        <p:spPr>
          <a:xfrm>
            <a:off x="5448300" y="2465933"/>
            <a:ext cx="610838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260"/>
              </a:buClr>
              <a:buSzPts val="1725"/>
              <a:buFont typeface="Arial"/>
              <a:buNone/>
            </a:pPr>
            <a:r>
              <a:rPr b="1" lang="en-US" sz="1725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Mashup compone negocio</a:t>
            </a:r>
            <a:endParaRPr sz="17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1" name="Google Shape;881;p22"/>
          <p:cNvSpPr/>
          <p:nvPr/>
        </p:nvSpPr>
        <p:spPr>
          <a:xfrm>
            <a:off x="5448300" y="2846933"/>
            <a:ext cx="5719667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48"/>
              <a:buFont typeface="Arial"/>
              <a:buNone/>
            </a:pPr>
            <a:r>
              <a:rPr lang="en-US" sz="1249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La integración entre WSFederacion y WSBancoCore ofrece la compra con crédito </a:t>
            </a:r>
            <a:r>
              <a:rPr b="1" lang="en-US" sz="1249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sin que ninguno conozca los detalles internos del otro </a:t>
            </a:r>
            <a:r>
              <a:rPr lang="en-US" sz="1249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. La orquestación vive en el cliente, que coordina el flujo.</a:t>
            </a:r>
            <a:endParaRPr sz="124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2" name="Google Shape;882;p22"/>
          <p:cNvSpPr/>
          <p:nvPr/>
        </p:nvSpPr>
        <p:spPr>
          <a:xfrm>
            <a:off x="11430000" y="2027783"/>
            <a:ext cx="6096000" cy="1738908"/>
          </a:xfrm>
          <a:prstGeom prst="roundRect">
            <a:avLst>
              <a:gd fmla="val 219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3" name="Google Shape;883;p22"/>
          <p:cNvSpPr/>
          <p:nvPr/>
        </p:nvSpPr>
        <p:spPr>
          <a:xfrm>
            <a:off x="11430000" y="3757166"/>
            <a:ext cx="6096000" cy="9525"/>
          </a:xfrm>
          <a:prstGeom prst="rect">
            <a:avLst/>
          </a:prstGeom>
          <a:solidFill>
            <a:srgbClr val="DBE3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4" name="Google Shape;884;p22"/>
          <p:cNvSpPr/>
          <p:nvPr/>
        </p:nvSpPr>
        <p:spPr>
          <a:xfrm>
            <a:off x="11430000" y="2027783"/>
            <a:ext cx="6096000" cy="9525"/>
          </a:xfrm>
          <a:prstGeom prst="rect">
            <a:avLst/>
          </a:prstGeom>
          <a:solidFill>
            <a:srgbClr val="DBE3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5" name="Google Shape;885;p22"/>
          <p:cNvSpPr/>
          <p:nvPr/>
        </p:nvSpPr>
        <p:spPr>
          <a:xfrm>
            <a:off x="11430000" y="2027783"/>
            <a:ext cx="76200" cy="1738908"/>
          </a:xfrm>
          <a:prstGeom prst="rect">
            <a:avLst/>
          </a:prstGeom>
          <a:solidFill>
            <a:srgbClr val="E882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6" name="Google Shape;886;p22"/>
          <p:cNvSpPr/>
          <p:nvPr/>
        </p:nvSpPr>
        <p:spPr>
          <a:xfrm>
            <a:off x="17516475" y="2027783"/>
            <a:ext cx="9525" cy="1738908"/>
          </a:xfrm>
          <a:prstGeom prst="rect">
            <a:avLst/>
          </a:prstGeom>
          <a:solidFill>
            <a:srgbClr val="DBE3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7" name="Google Shape;887;p22"/>
          <p:cNvSpPr/>
          <p:nvPr/>
        </p:nvSpPr>
        <p:spPr>
          <a:xfrm>
            <a:off x="11734800" y="2227808"/>
            <a:ext cx="610838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F0E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B45F0E"/>
                </a:solidFill>
                <a:latin typeface="Arial"/>
                <a:ea typeface="Arial"/>
                <a:cs typeface="Arial"/>
                <a:sym typeface="Arial"/>
              </a:rPr>
              <a:t>C2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p22"/>
          <p:cNvSpPr/>
          <p:nvPr/>
        </p:nvSpPr>
        <p:spPr>
          <a:xfrm>
            <a:off x="11734800" y="2465933"/>
            <a:ext cx="610838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260"/>
              </a:buClr>
              <a:buSzPts val="1725"/>
              <a:buFont typeface="Arial"/>
              <a:buNone/>
            </a:pPr>
            <a:r>
              <a:rPr b="1" lang="en-US" sz="1725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AWS RDS · base de la nube</a:t>
            </a:r>
            <a:endParaRPr sz="17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9" name="Google Shape;889;p22"/>
          <p:cNvSpPr/>
          <p:nvPr/>
        </p:nvSpPr>
        <p:spPr>
          <a:xfrm>
            <a:off x="11734800" y="2846933"/>
            <a:ext cx="5719667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3260"/>
              </a:buClr>
              <a:buSzPts val="1248"/>
              <a:buFont typeface="Consolas"/>
              <a:buNone/>
            </a:pPr>
            <a:r>
              <a:rPr b="1" lang="en-US" sz="1249">
                <a:solidFill>
                  <a:srgbClr val="1A3260"/>
                </a:solidFill>
                <a:latin typeface="Consolas"/>
                <a:ea typeface="Consolas"/>
                <a:cs typeface="Consolas"/>
                <a:sym typeface="Consolas"/>
              </a:rPr>
              <a:t>banco_core_db </a:t>
            </a:r>
            <a:r>
              <a:rPr lang="en-US" sz="1249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en AWS RDS permite que el servicio bancario </a:t>
            </a:r>
            <a:r>
              <a:rPr b="1" lang="en-US" sz="1249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escale, respalde y se recupere </a:t>
            </a:r>
            <a:r>
              <a:rPr lang="en-US" sz="1249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de forma automática e independiente del servidor de la federación.</a:t>
            </a:r>
            <a:endParaRPr sz="124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0" name="Google Shape;890;p22"/>
          <p:cNvSpPr/>
          <p:nvPr/>
        </p:nvSpPr>
        <p:spPr>
          <a:xfrm>
            <a:off x="5143500" y="3957191"/>
            <a:ext cx="6096000" cy="1738908"/>
          </a:xfrm>
          <a:prstGeom prst="roundRect">
            <a:avLst>
              <a:gd fmla="val 219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1" name="Google Shape;891;p22"/>
          <p:cNvSpPr/>
          <p:nvPr/>
        </p:nvSpPr>
        <p:spPr>
          <a:xfrm>
            <a:off x="5143500" y="5686574"/>
            <a:ext cx="6096000" cy="9525"/>
          </a:xfrm>
          <a:prstGeom prst="rect">
            <a:avLst/>
          </a:prstGeom>
          <a:solidFill>
            <a:srgbClr val="DBE3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2" name="Google Shape;892;p22"/>
          <p:cNvSpPr/>
          <p:nvPr/>
        </p:nvSpPr>
        <p:spPr>
          <a:xfrm>
            <a:off x="5143500" y="3957191"/>
            <a:ext cx="6096000" cy="9525"/>
          </a:xfrm>
          <a:prstGeom prst="rect">
            <a:avLst/>
          </a:prstGeom>
          <a:solidFill>
            <a:srgbClr val="DBE3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3" name="Google Shape;893;p22"/>
          <p:cNvSpPr/>
          <p:nvPr/>
        </p:nvSpPr>
        <p:spPr>
          <a:xfrm>
            <a:off x="5143500" y="3957191"/>
            <a:ext cx="76200" cy="1738908"/>
          </a:xfrm>
          <a:prstGeom prst="rect">
            <a:avLst/>
          </a:prstGeom>
          <a:solidFill>
            <a:srgbClr val="4295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4" name="Google Shape;894;p22"/>
          <p:cNvSpPr/>
          <p:nvPr/>
        </p:nvSpPr>
        <p:spPr>
          <a:xfrm>
            <a:off x="11229975" y="3957191"/>
            <a:ext cx="9525" cy="1738908"/>
          </a:xfrm>
          <a:prstGeom prst="rect">
            <a:avLst/>
          </a:prstGeom>
          <a:solidFill>
            <a:srgbClr val="DBE3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5" name="Google Shape;895;p22"/>
          <p:cNvSpPr/>
          <p:nvPr/>
        </p:nvSpPr>
        <p:spPr>
          <a:xfrm>
            <a:off x="5448300" y="4157216"/>
            <a:ext cx="610838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4590B8"/>
                </a:solidFill>
                <a:latin typeface="Arial"/>
                <a:ea typeface="Arial"/>
                <a:cs typeface="Arial"/>
                <a:sym typeface="Arial"/>
              </a:rPr>
              <a:t>C3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6" name="Google Shape;896;p22"/>
          <p:cNvSpPr/>
          <p:nvPr/>
        </p:nvSpPr>
        <p:spPr>
          <a:xfrm>
            <a:off x="5448300" y="4395341"/>
            <a:ext cx="610838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260"/>
              </a:buClr>
              <a:buSzPts val="1725"/>
              <a:buFont typeface="Arial"/>
              <a:buNone/>
            </a:pPr>
            <a:r>
              <a:rPr b="1" lang="en-US" sz="1725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Dos estrategias SOAP</a:t>
            </a:r>
            <a:endParaRPr sz="17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p22"/>
          <p:cNvSpPr/>
          <p:nvPr/>
        </p:nvSpPr>
        <p:spPr>
          <a:xfrm>
            <a:off x="5448300" y="4776341"/>
            <a:ext cx="5719667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48"/>
              <a:buFont typeface="Arial"/>
              <a:buNone/>
            </a:pPr>
            <a:r>
              <a:rPr lang="en-US" sz="1249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Coexisten </a:t>
            </a:r>
            <a:r>
              <a:rPr b="1" lang="en-US" sz="1249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stubs JAX-WS </a:t>
            </a:r>
            <a:r>
              <a:rPr lang="en-US" sz="1249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(wsimport) para WSFederacion y </a:t>
            </a:r>
            <a:r>
              <a:rPr b="1" lang="en-US" sz="1249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SOAP manual con DOM </a:t>
            </a:r>
            <a:r>
              <a:rPr lang="en-US" sz="1249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para WSBancoCore: stubs cuando se controla el contrato, manual cuando se consume un servicio externo.</a:t>
            </a:r>
            <a:endParaRPr sz="124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8" name="Google Shape;898;p22"/>
          <p:cNvSpPr/>
          <p:nvPr/>
        </p:nvSpPr>
        <p:spPr>
          <a:xfrm>
            <a:off x="11430000" y="3957191"/>
            <a:ext cx="6096000" cy="1738908"/>
          </a:xfrm>
          <a:prstGeom prst="roundRect">
            <a:avLst>
              <a:gd fmla="val 219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9" name="Google Shape;899;p22"/>
          <p:cNvSpPr/>
          <p:nvPr/>
        </p:nvSpPr>
        <p:spPr>
          <a:xfrm>
            <a:off x="11430000" y="5686574"/>
            <a:ext cx="6096000" cy="9525"/>
          </a:xfrm>
          <a:prstGeom prst="rect">
            <a:avLst/>
          </a:prstGeom>
          <a:solidFill>
            <a:srgbClr val="DBE3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0" name="Google Shape;900;p22"/>
          <p:cNvSpPr/>
          <p:nvPr/>
        </p:nvSpPr>
        <p:spPr>
          <a:xfrm>
            <a:off x="11430000" y="3957191"/>
            <a:ext cx="6096000" cy="9525"/>
          </a:xfrm>
          <a:prstGeom prst="rect">
            <a:avLst/>
          </a:prstGeom>
          <a:solidFill>
            <a:srgbClr val="DBE3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1" name="Google Shape;901;p22"/>
          <p:cNvSpPr/>
          <p:nvPr/>
        </p:nvSpPr>
        <p:spPr>
          <a:xfrm>
            <a:off x="11430000" y="3957191"/>
            <a:ext cx="76200" cy="1738908"/>
          </a:xfrm>
          <a:prstGeom prst="rect">
            <a:avLst/>
          </a:prstGeom>
          <a:solidFill>
            <a:srgbClr val="45C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2" name="Google Shape;902;p22"/>
          <p:cNvSpPr/>
          <p:nvPr/>
        </p:nvSpPr>
        <p:spPr>
          <a:xfrm>
            <a:off x="17516475" y="3957191"/>
            <a:ext cx="9525" cy="1738908"/>
          </a:xfrm>
          <a:prstGeom prst="rect">
            <a:avLst/>
          </a:prstGeom>
          <a:solidFill>
            <a:srgbClr val="DBE3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3" name="Google Shape;903;p22"/>
          <p:cNvSpPr/>
          <p:nvPr/>
        </p:nvSpPr>
        <p:spPr>
          <a:xfrm>
            <a:off x="11734800" y="4157216"/>
            <a:ext cx="610838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4590B8"/>
                </a:solidFill>
                <a:latin typeface="Arial"/>
                <a:ea typeface="Arial"/>
                <a:cs typeface="Arial"/>
                <a:sym typeface="Arial"/>
              </a:rPr>
              <a:t>C4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4" name="Google Shape;904;p22"/>
          <p:cNvSpPr/>
          <p:nvPr/>
        </p:nvSpPr>
        <p:spPr>
          <a:xfrm>
            <a:off x="11734800" y="4395341"/>
            <a:ext cx="610838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260"/>
              </a:buClr>
              <a:buSzPts val="1725"/>
              <a:buFont typeface="Arial"/>
              <a:buNone/>
            </a:pPr>
            <a:r>
              <a:rPr b="1" lang="en-US" sz="1725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Concurrencia optimista</a:t>
            </a:r>
            <a:endParaRPr sz="17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5" name="Google Shape;905;p22"/>
          <p:cNvSpPr/>
          <p:nvPr/>
        </p:nvSpPr>
        <p:spPr>
          <a:xfrm>
            <a:off x="11734800" y="4776341"/>
            <a:ext cx="5719667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48"/>
              <a:buFont typeface="Arial"/>
              <a:buNone/>
            </a:pPr>
            <a:r>
              <a:rPr b="1" lang="en-US" sz="1249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AsientoPartido </a:t>
            </a:r>
            <a:r>
              <a:rPr lang="en-US" sz="1249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con reserva temporal de 10 min bloquea el asiento durante el pago y lo libera si falla, </a:t>
            </a:r>
            <a:r>
              <a:rPr b="1" lang="en-US" sz="1249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previniendo la doble venta </a:t>
            </a:r>
            <a:r>
              <a:rPr lang="en-US" sz="1249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de asientos individuales.</a:t>
            </a:r>
            <a:endParaRPr sz="124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6" name="Google Shape;906;p22"/>
          <p:cNvSpPr/>
          <p:nvPr/>
        </p:nvSpPr>
        <p:spPr>
          <a:xfrm>
            <a:off x="5143500" y="9772650"/>
            <a:ext cx="5822543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10"/>
              <a:buFont typeface="Arial"/>
              <a:buNone/>
            </a:pPr>
            <a:r>
              <a:rPr b="1" lang="en-US" sz="111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TP_SOAP_JAVA_MASHUP_AWS_G5 · 09 CONCLUSIONES</a:t>
            </a:r>
            <a:endParaRPr sz="111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7" name="Google Shape;907;p22"/>
          <p:cNvSpPr/>
          <p:nvPr/>
        </p:nvSpPr>
        <p:spPr>
          <a:xfrm>
            <a:off x="17571393" y="9744075"/>
            <a:ext cx="335607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4590B8"/>
                </a:solidFill>
                <a:latin typeface="Arial"/>
                <a:ea typeface="Arial"/>
                <a:cs typeface="Arial"/>
                <a:sym typeface="Arial"/>
              </a:rPr>
              <a:t>27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8" name="Google Shape;908;p22"/>
          <p:cNvSpPr/>
          <p:nvPr/>
        </p:nvSpPr>
        <p:spPr>
          <a:xfrm>
            <a:off x="0" y="10153650"/>
            <a:ext cx="18288000" cy="133350"/>
          </a:xfrm>
          <a:prstGeom prst="rect">
            <a:avLst/>
          </a:prstGeom>
          <a:gradFill>
            <a:gsLst>
              <a:gs pos="0">
                <a:srgbClr val="1A3260"/>
              </a:gs>
              <a:gs pos="50000">
                <a:srgbClr val="1A3260"/>
              </a:gs>
              <a:gs pos="75000">
                <a:srgbClr val="42955F"/>
              </a:gs>
              <a:gs pos="100000">
                <a:srgbClr val="E8821E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09" name="Google Shape;90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22265"/>
            <a:ext cx="18288000" cy="3455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23"/>
          <p:cNvSpPr/>
          <p:nvPr/>
        </p:nvSpPr>
        <p:spPr>
          <a:xfrm>
            <a:off x="0" y="0"/>
            <a:ext cx="4381500" cy="10287000"/>
          </a:xfrm>
          <a:prstGeom prst="rect">
            <a:avLst/>
          </a:prstGeom>
          <a:solidFill>
            <a:srgbClr val="1A32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6" name="Google Shape;916;p23"/>
          <p:cNvSpPr/>
          <p:nvPr/>
        </p:nvSpPr>
        <p:spPr>
          <a:xfrm>
            <a:off x="533400" y="628650"/>
            <a:ext cx="133350" cy="133350"/>
          </a:xfrm>
          <a:prstGeom prst="rect">
            <a:avLst/>
          </a:prstGeom>
          <a:solidFill>
            <a:srgbClr val="45C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7" name="Google Shape;917;p23"/>
          <p:cNvSpPr/>
          <p:nvPr/>
        </p:nvSpPr>
        <p:spPr>
          <a:xfrm>
            <a:off x="800100" y="571500"/>
            <a:ext cx="1641038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CONTENIDO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8" name="Google Shape;918;p23"/>
          <p:cNvSpPr/>
          <p:nvPr/>
        </p:nvSpPr>
        <p:spPr>
          <a:xfrm>
            <a:off x="533400" y="1219200"/>
            <a:ext cx="4000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CBE8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45CBE8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9" name="Google Shape;919;p23"/>
          <p:cNvSpPr/>
          <p:nvPr/>
        </p:nvSpPr>
        <p:spPr>
          <a:xfrm>
            <a:off x="990600" y="1257300"/>
            <a:ext cx="1471166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6E8"/>
              </a:buClr>
              <a:buSzPts val="1575"/>
              <a:buFont typeface="Arial"/>
              <a:buNone/>
            </a:pPr>
            <a:r>
              <a:rPr lang="en-US" sz="1575">
                <a:solidFill>
                  <a:srgbClr val="BFD6E8"/>
                </a:solidFill>
                <a:latin typeface="Arial"/>
                <a:ea typeface="Arial"/>
                <a:cs typeface="Arial"/>
                <a:sym typeface="Arial"/>
              </a:rPr>
              <a:t>WSFederacion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0" name="Google Shape;920;p23"/>
          <p:cNvSpPr/>
          <p:nvPr/>
        </p:nvSpPr>
        <p:spPr>
          <a:xfrm>
            <a:off x="533400" y="1628775"/>
            <a:ext cx="4000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CBE8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45CBE8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1" name="Google Shape;921;p23"/>
          <p:cNvSpPr/>
          <p:nvPr/>
        </p:nvSpPr>
        <p:spPr>
          <a:xfrm>
            <a:off x="990600" y="1666875"/>
            <a:ext cx="1465213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6E8"/>
              </a:buClr>
              <a:buSzPts val="1575"/>
              <a:buFont typeface="Arial"/>
              <a:buNone/>
            </a:pPr>
            <a:r>
              <a:rPr lang="en-US" sz="1575">
                <a:solidFill>
                  <a:srgbClr val="BFD6E8"/>
                </a:solidFill>
                <a:latin typeface="Arial"/>
                <a:ea typeface="Arial"/>
                <a:cs typeface="Arial"/>
                <a:sym typeface="Arial"/>
              </a:rPr>
              <a:t>WSBancoCore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2" name="Google Shape;922;p23"/>
          <p:cNvSpPr/>
          <p:nvPr/>
        </p:nvSpPr>
        <p:spPr>
          <a:xfrm>
            <a:off x="533400" y="2038350"/>
            <a:ext cx="4000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CBE8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45CBE8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3" name="Google Shape;923;p23"/>
          <p:cNvSpPr/>
          <p:nvPr/>
        </p:nvSpPr>
        <p:spPr>
          <a:xfrm>
            <a:off x="990600" y="2076450"/>
            <a:ext cx="846981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6E8"/>
              </a:buClr>
              <a:buSzPts val="1575"/>
              <a:buFont typeface="Arial"/>
              <a:buNone/>
            </a:pPr>
            <a:r>
              <a:rPr lang="en-US" sz="1575">
                <a:solidFill>
                  <a:srgbClr val="BFD6E8"/>
                </a:solidFill>
                <a:latin typeface="Arial"/>
                <a:ea typeface="Arial"/>
                <a:cs typeface="Arial"/>
                <a:sym typeface="Arial"/>
              </a:rPr>
              <a:t>Clientes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4" name="Google Shape;924;p23"/>
          <p:cNvSpPr/>
          <p:nvPr/>
        </p:nvSpPr>
        <p:spPr>
          <a:xfrm>
            <a:off x="533400" y="2447925"/>
            <a:ext cx="4000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CBE8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45CBE8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5" name="Google Shape;925;p23"/>
          <p:cNvSpPr/>
          <p:nvPr/>
        </p:nvSpPr>
        <p:spPr>
          <a:xfrm>
            <a:off x="990600" y="2486025"/>
            <a:ext cx="1349127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6E8"/>
              </a:buClr>
              <a:buSzPts val="1575"/>
              <a:buFont typeface="Arial"/>
              <a:buNone/>
            </a:pPr>
            <a:r>
              <a:rPr lang="en-US" sz="1575">
                <a:solidFill>
                  <a:srgbClr val="BFD6E8"/>
                </a:solidFill>
                <a:latin typeface="Arial"/>
                <a:ea typeface="Arial"/>
                <a:cs typeface="Arial"/>
                <a:sym typeface="Arial"/>
              </a:rPr>
              <a:t>Conclusiones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6" name="Google Shape;926;p23"/>
          <p:cNvSpPr/>
          <p:nvPr/>
        </p:nvSpPr>
        <p:spPr>
          <a:xfrm>
            <a:off x="533400" y="2857500"/>
            <a:ext cx="4000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7" name="Google Shape;927;p23"/>
          <p:cNvSpPr/>
          <p:nvPr/>
        </p:nvSpPr>
        <p:spPr>
          <a:xfrm>
            <a:off x="990600" y="2857500"/>
            <a:ext cx="217333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Recomendaciones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8" name="Google Shape;928;p23"/>
          <p:cNvSpPr/>
          <p:nvPr/>
        </p:nvSpPr>
        <p:spPr>
          <a:xfrm>
            <a:off x="533400" y="3267075"/>
            <a:ext cx="4000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CBE8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45CBE8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9" name="Google Shape;929;p23"/>
          <p:cNvSpPr/>
          <p:nvPr/>
        </p:nvSpPr>
        <p:spPr>
          <a:xfrm>
            <a:off x="990600" y="3305175"/>
            <a:ext cx="1148953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6E8"/>
              </a:buClr>
              <a:buSzPts val="1575"/>
              <a:buFont typeface="Arial"/>
              <a:buNone/>
            </a:pPr>
            <a:r>
              <a:rPr lang="en-US" sz="1575">
                <a:solidFill>
                  <a:srgbClr val="BFD6E8"/>
                </a:solidFill>
                <a:latin typeface="Arial"/>
                <a:ea typeface="Arial"/>
                <a:cs typeface="Arial"/>
                <a:sym typeface="Arial"/>
              </a:rPr>
              <a:t>Bibliografía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0" name="Google Shape;930;p23"/>
          <p:cNvSpPr/>
          <p:nvPr/>
        </p:nvSpPr>
        <p:spPr>
          <a:xfrm>
            <a:off x="533400" y="9563100"/>
            <a:ext cx="37719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A2BF"/>
              </a:buClr>
              <a:buSzPts val="971"/>
              <a:buFont typeface="Arial"/>
              <a:buNone/>
            </a:pPr>
            <a:r>
              <a:rPr lang="en-US" sz="971">
                <a:solidFill>
                  <a:srgbClr val="7FA2BF"/>
                </a:solidFill>
                <a:latin typeface="Arial"/>
                <a:ea typeface="Arial"/>
                <a:cs typeface="Arial"/>
                <a:sym typeface="Arial"/>
              </a:rPr>
              <a:t>GR05 · 2026</a:t>
            </a:r>
            <a:endParaRPr sz="97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1" name="Google Shape;931;p23"/>
          <p:cNvSpPr/>
          <p:nvPr/>
        </p:nvSpPr>
        <p:spPr>
          <a:xfrm>
            <a:off x="5143500" y="571500"/>
            <a:ext cx="13620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4590B8"/>
                </a:solidFill>
                <a:latin typeface="Arial"/>
                <a:ea typeface="Arial"/>
                <a:cs typeface="Arial"/>
                <a:sym typeface="Arial"/>
              </a:rPr>
              <a:t>10 · RECOMENDACIONES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2" name="Google Shape;932;p23"/>
          <p:cNvSpPr/>
          <p:nvPr/>
        </p:nvSpPr>
        <p:spPr>
          <a:xfrm>
            <a:off x="5143500" y="952500"/>
            <a:ext cx="13620750" cy="6180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A3260"/>
              </a:buClr>
              <a:buSzPts val="4023"/>
              <a:buFont typeface="Arial"/>
              <a:buNone/>
            </a:pPr>
            <a:r>
              <a:rPr b="1" lang="en-US" sz="4024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Mejoras y próximos </a:t>
            </a:r>
            <a:r>
              <a:rPr b="1" lang="en-US" sz="4024">
                <a:solidFill>
                  <a:srgbClr val="42955F"/>
                </a:solidFill>
                <a:latin typeface="Arial"/>
                <a:ea typeface="Arial"/>
                <a:cs typeface="Arial"/>
                <a:sym typeface="Arial"/>
              </a:rPr>
              <a:t>pasos</a:t>
            </a:r>
            <a:endParaRPr sz="4024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3" name="Google Shape;933;p23"/>
          <p:cNvSpPr/>
          <p:nvPr/>
        </p:nvSpPr>
        <p:spPr>
          <a:xfrm>
            <a:off x="5143500" y="1608683"/>
            <a:ext cx="1143000" cy="57150"/>
          </a:xfrm>
          <a:prstGeom prst="rect">
            <a:avLst/>
          </a:prstGeom>
          <a:solidFill>
            <a:srgbClr val="C124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4" name="Google Shape;934;p23"/>
          <p:cNvSpPr/>
          <p:nvPr/>
        </p:nvSpPr>
        <p:spPr>
          <a:xfrm>
            <a:off x="5143500" y="2027783"/>
            <a:ext cx="4000500" cy="2218730"/>
          </a:xfrm>
          <a:prstGeom prst="roundRect">
            <a:avLst>
              <a:gd fmla="val 171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5" name="Google Shape;935;p23"/>
          <p:cNvSpPr/>
          <p:nvPr/>
        </p:nvSpPr>
        <p:spPr>
          <a:xfrm>
            <a:off x="5143500" y="4236988"/>
            <a:ext cx="4000500" cy="9525"/>
          </a:xfrm>
          <a:prstGeom prst="rect">
            <a:avLst/>
          </a:prstGeom>
          <a:solidFill>
            <a:srgbClr val="DBE3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6" name="Google Shape;936;p23"/>
          <p:cNvSpPr/>
          <p:nvPr/>
        </p:nvSpPr>
        <p:spPr>
          <a:xfrm>
            <a:off x="5143500" y="2027783"/>
            <a:ext cx="4000500" cy="9525"/>
          </a:xfrm>
          <a:prstGeom prst="rect">
            <a:avLst/>
          </a:prstGeom>
          <a:solidFill>
            <a:srgbClr val="DBE3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7" name="Google Shape;937;p23"/>
          <p:cNvSpPr/>
          <p:nvPr/>
        </p:nvSpPr>
        <p:spPr>
          <a:xfrm>
            <a:off x="5143500" y="2027783"/>
            <a:ext cx="76200" cy="2218730"/>
          </a:xfrm>
          <a:prstGeom prst="rect">
            <a:avLst/>
          </a:prstGeom>
          <a:solidFill>
            <a:srgbClr val="4590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8" name="Google Shape;938;p23"/>
          <p:cNvSpPr/>
          <p:nvPr/>
        </p:nvSpPr>
        <p:spPr>
          <a:xfrm>
            <a:off x="9134475" y="2027783"/>
            <a:ext cx="9525" cy="2218730"/>
          </a:xfrm>
          <a:prstGeom prst="rect">
            <a:avLst/>
          </a:prstGeom>
          <a:solidFill>
            <a:srgbClr val="DBE3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9" name="Google Shape;939;p23"/>
          <p:cNvSpPr/>
          <p:nvPr/>
        </p:nvSpPr>
        <p:spPr>
          <a:xfrm>
            <a:off x="5448300" y="2227808"/>
            <a:ext cx="380333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4590B8"/>
                </a:solidFill>
                <a:latin typeface="Arial"/>
                <a:ea typeface="Arial"/>
                <a:cs typeface="Arial"/>
                <a:sym typeface="Arial"/>
              </a:rPr>
              <a:t>R1 · CONCURRENCIA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0" name="Google Shape;940;p23"/>
          <p:cNvSpPr/>
          <p:nvPr/>
        </p:nvSpPr>
        <p:spPr>
          <a:xfrm>
            <a:off x="5448300" y="2465933"/>
            <a:ext cx="380333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260"/>
              </a:buClr>
              <a:buSzPts val="1725"/>
              <a:buFont typeface="Arial"/>
              <a:buNone/>
            </a:pPr>
            <a:r>
              <a:rPr b="1" lang="en-US" sz="1725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Liberar reservas</a:t>
            </a:r>
            <a:endParaRPr sz="17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1" name="Google Shape;941;p23"/>
          <p:cNvSpPr/>
          <p:nvPr/>
        </p:nvSpPr>
        <p:spPr>
          <a:xfrm>
            <a:off x="5448300" y="2846933"/>
            <a:ext cx="3561302" cy="123765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48"/>
              <a:buFont typeface="Arial"/>
              <a:buNone/>
            </a:pPr>
            <a:r>
              <a:rPr lang="en-US" sz="1249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Un job programado (Jakarta Batch o </a:t>
            </a:r>
            <a:r>
              <a:rPr b="1" lang="en-US" sz="1249">
                <a:solidFill>
                  <a:srgbClr val="1A3260"/>
                </a:solidFill>
                <a:latin typeface="Consolas"/>
                <a:ea typeface="Consolas"/>
                <a:cs typeface="Consolas"/>
                <a:sym typeface="Consolas"/>
              </a:rPr>
              <a:t>ScheduledExecutorService </a:t>
            </a:r>
            <a:r>
              <a:rPr lang="en-US" sz="1249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) que cada 5 min consulte asientos con </a:t>
            </a:r>
            <a:r>
              <a:rPr b="1" lang="en-US" sz="1249">
                <a:solidFill>
                  <a:srgbClr val="1A3260"/>
                </a:solidFill>
                <a:latin typeface="Consolas"/>
                <a:ea typeface="Consolas"/>
                <a:cs typeface="Consolas"/>
                <a:sym typeface="Consolas"/>
              </a:rPr>
              <a:t>RESERVADO_HASTA &lt; NOW() </a:t>
            </a:r>
            <a:r>
              <a:rPr lang="en-US" sz="1249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y los libere, evitando bloqueos indefinidos.</a:t>
            </a:r>
            <a:endParaRPr sz="124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2" name="Google Shape;942;p23"/>
          <p:cNvSpPr/>
          <p:nvPr/>
        </p:nvSpPr>
        <p:spPr>
          <a:xfrm>
            <a:off x="9334500" y="2027783"/>
            <a:ext cx="4000500" cy="2218730"/>
          </a:xfrm>
          <a:prstGeom prst="roundRect">
            <a:avLst>
              <a:gd fmla="val 171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3" name="Google Shape;943;p23"/>
          <p:cNvSpPr/>
          <p:nvPr/>
        </p:nvSpPr>
        <p:spPr>
          <a:xfrm>
            <a:off x="9334500" y="4236988"/>
            <a:ext cx="4000500" cy="9525"/>
          </a:xfrm>
          <a:prstGeom prst="rect">
            <a:avLst/>
          </a:prstGeom>
          <a:solidFill>
            <a:srgbClr val="DBE3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4" name="Google Shape;944;p23"/>
          <p:cNvSpPr/>
          <p:nvPr/>
        </p:nvSpPr>
        <p:spPr>
          <a:xfrm>
            <a:off x="9334500" y="2027783"/>
            <a:ext cx="4000500" cy="9525"/>
          </a:xfrm>
          <a:prstGeom prst="rect">
            <a:avLst/>
          </a:prstGeom>
          <a:solidFill>
            <a:srgbClr val="DBE3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5" name="Google Shape;945;p23"/>
          <p:cNvSpPr/>
          <p:nvPr/>
        </p:nvSpPr>
        <p:spPr>
          <a:xfrm>
            <a:off x="9334500" y="2027783"/>
            <a:ext cx="76200" cy="2218730"/>
          </a:xfrm>
          <a:prstGeom prst="rect">
            <a:avLst/>
          </a:prstGeom>
          <a:solidFill>
            <a:srgbClr val="4295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6" name="Google Shape;946;p23"/>
          <p:cNvSpPr/>
          <p:nvPr/>
        </p:nvSpPr>
        <p:spPr>
          <a:xfrm>
            <a:off x="13325475" y="2027783"/>
            <a:ext cx="9525" cy="2218730"/>
          </a:xfrm>
          <a:prstGeom prst="rect">
            <a:avLst/>
          </a:prstGeom>
          <a:solidFill>
            <a:srgbClr val="DBE3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7" name="Google Shape;947;p23"/>
          <p:cNvSpPr/>
          <p:nvPr/>
        </p:nvSpPr>
        <p:spPr>
          <a:xfrm>
            <a:off x="9639300" y="2227808"/>
            <a:ext cx="380333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4590B8"/>
                </a:solidFill>
                <a:latin typeface="Arial"/>
                <a:ea typeface="Arial"/>
                <a:cs typeface="Arial"/>
                <a:sym typeface="Arial"/>
              </a:rPr>
              <a:t>R2 · ANDROID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8" name="Google Shape;948;p23"/>
          <p:cNvSpPr/>
          <p:nvPr/>
        </p:nvSpPr>
        <p:spPr>
          <a:xfrm>
            <a:off x="9639300" y="2465933"/>
            <a:ext cx="380333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260"/>
              </a:buClr>
              <a:buSzPts val="1725"/>
              <a:buFont typeface="Arial"/>
              <a:buNone/>
            </a:pPr>
            <a:r>
              <a:rPr b="1" lang="en-US" sz="1725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Corrutinas Kotlin</a:t>
            </a:r>
            <a:endParaRPr sz="17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9" name="Google Shape;949;p23"/>
          <p:cNvSpPr/>
          <p:nvPr/>
        </p:nvSpPr>
        <p:spPr>
          <a:xfrm>
            <a:off x="9639300" y="2846933"/>
            <a:ext cx="3561302" cy="9977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48"/>
              <a:buFont typeface="Arial"/>
              <a:buNone/>
            </a:pPr>
            <a:r>
              <a:rPr lang="en-US" sz="1249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Reemplazar </a:t>
            </a:r>
            <a:r>
              <a:rPr b="1" lang="en-US" sz="1249">
                <a:solidFill>
                  <a:srgbClr val="1A3260"/>
                </a:solidFill>
                <a:latin typeface="Consolas"/>
                <a:ea typeface="Consolas"/>
                <a:cs typeface="Consolas"/>
                <a:sym typeface="Consolas"/>
              </a:rPr>
              <a:t>AsyncTask </a:t>
            </a:r>
            <a:r>
              <a:rPr lang="en-US" sz="1249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(deprecado en API 30) por </a:t>
            </a:r>
            <a:r>
              <a:rPr b="1" lang="en-US" sz="1249">
                <a:solidFill>
                  <a:srgbClr val="1A3260"/>
                </a:solidFill>
                <a:latin typeface="Consolas"/>
                <a:ea typeface="Consolas"/>
                <a:cs typeface="Consolas"/>
                <a:sym typeface="Consolas"/>
              </a:rPr>
              <a:t>lifecycleScope.launch </a:t>
            </a:r>
            <a:r>
              <a:rPr lang="en-US" sz="1249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b="1" lang="en-US" sz="1249">
                <a:solidFill>
                  <a:srgbClr val="1A3260"/>
                </a:solidFill>
                <a:latin typeface="Consolas"/>
                <a:ea typeface="Consolas"/>
                <a:cs typeface="Consolas"/>
                <a:sym typeface="Consolas"/>
              </a:rPr>
              <a:t>Dispatchers.IO </a:t>
            </a:r>
            <a:r>
              <a:rPr lang="en-US" sz="1249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, el enfoque moderno; simplifica el patrón </a:t>
            </a:r>
            <a:r>
              <a:rPr b="1" lang="en-US" sz="1249">
                <a:solidFill>
                  <a:srgbClr val="1A3260"/>
                </a:solidFill>
                <a:latin typeface="Consolas"/>
                <a:ea typeface="Consolas"/>
                <a:cs typeface="Consolas"/>
                <a:sym typeface="Consolas"/>
              </a:rPr>
              <a:t>SoapCallback&lt;T&gt;</a:t>
            </a:r>
            <a:r>
              <a:rPr lang="en-US" sz="1249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24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0" name="Google Shape;950;p23"/>
          <p:cNvSpPr/>
          <p:nvPr/>
        </p:nvSpPr>
        <p:spPr>
          <a:xfrm>
            <a:off x="13525500" y="2027783"/>
            <a:ext cx="4000500" cy="2218730"/>
          </a:xfrm>
          <a:prstGeom prst="roundRect">
            <a:avLst>
              <a:gd fmla="val 171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1" name="Google Shape;951;p23"/>
          <p:cNvSpPr/>
          <p:nvPr/>
        </p:nvSpPr>
        <p:spPr>
          <a:xfrm>
            <a:off x="13525500" y="4236988"/>
            <a:ext cx="4000500" cy="9525"/>
          </a:xfrm>
          <a:prstGeom prst="rect">
            <a:avLst/>
          </a:prstGeom>
          <a:solidFill>
            <a:srgbClr val="DBE3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2" name="Google Shape;952;p23"/>
          <p:cNvSpPr/>
          <p:nvPr/>
        </p:nvSpPr>
        <p:spPr>
          <a:xfrm>
            <a:off x="13525500" y="2027783"/>
            <a:ext cx="4000500" cy="9525"/>
          </a:xfrm>
          <a:prstGeom prst="rect">
            <a:avLst/>
          </a:prstGeom>
          <a:solidFill>
            <a:srgbClr val="DBE3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3" name="Google Shape;953;p23"/>
          <p:cNvSpPr/>
          <p:nvPr/>
        </p:nvSpPr>
        <p:spPr>
          <a:xfrm>
            <a:off x="13525500" y="2027783"/>
            <a:ext cx="76200" cy="2218730"/>
          </a:xfrm>
          <a:prstGeom prst="rect">
            <a:avLst/>
          </a:prstGeom>
          <a:solidFill>
            <a:srgbClr val="E882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4" name="Google Shape;954;p23"/>
          <p:cNvSpPr/>
          <p:nvPr/>
        </p:nvSpPr>
        <p:spPr>
          <a:xfrm>
            <a:off x="17516475" y="2027783"/>
            <a:ext cx="9525" cy="2218730"/>
          </a:xfrm>
          <a:prstGeom prst="rect">
            <a:avLst/>
          </a:prstGeom>
          <a:solidFill>
            <a:srgbClr val="DBE3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5" name="Google Shape;955;p23"/>
          <p:cNvSpPr/>
          <p:nvPr/>
        </p:nvSpPr>
        <p:spPr>
          <a:xfrm>
            <a:off x="13830300" y="2227808"/>
            <a:ext cx="380333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F0E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B45F0E"/>
                </a:solidFill>
                <a:latin typeface="Arial"/>
                <a:ea typeface="Arial"/>
                <a:cs typeface="Arial"/>
                <a:sym typeface="Arial"/>
              </a:rPr>
              <a:t>R3 · CONFIGURACIÓN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6" name="Google Shape;956;p23"/>
          <p:cNvSpPr/>
          <p:nvPr/>
        </p:nvSpPr>
        <p:spPr>
          <a:xfrm>
            <a:off x="13830300" y="2465933"/>
            <a:ext cx="380333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260"/>
              </a:buClr>
              <a:buSzPts val="1725"/>
              <a:buFont typeface="Arial"/>
              <a:buNone/>
            </a:pPr>
            <a:r>
              <a:rPr b="1" lang="en-US" sz="1725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JNDI datasources</a:t>
            </a:r>
            <a:endParaRPr sz="17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7" name="Google Shape;957;p23"/>
          <p:cNvSpPr/>
          <p:nvPr/>
        </p:nvSpPr>
        <p:spPr>
          <a:xfrm>
            <a:off x="13830300" y="2846933"/>
            <a:ext cx="3561302" cy="123765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48"/>
              <a:buFont typeface="Arial"/>
              <a:buNone/>
            </a:pPr>
            <a:r>
              <a:rPr lang="en-US" sz="1249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Externalizar las cadenas de conexión de ambas BD a variables de entorno o </a:t>
            </a:r>
            <a:r>
              <a:rPr b="1" lang="en-US" sz="1249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JNDI datasources </a:t>
            </a:r>
            <a:r>
              <a:rPr lang="en-US" sz="1249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en Payara, en vez de hardcodearlas en </a:t>
            </a:r>
            <a:r>
              <a:rPr b="1" lang="en-US" sz="1249">
                <a:solidFill>
                  <a:srgbClr val="1A3260"/>
                </a:solidFill>
                <a:latin typeface="Consolas"/>
                <a:ea typeface="Consolas"/>
                <a:cs typeface="Consolas"/>
                <a:sym typeface="Consolas"/>
              </a:rPr>
              <a:t>BancoCoreService </a:t>
            </a:r>
            <a:r>
              <a:rPr lang="en-US" sz="1249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y </a:t>
            </a:r>
            <a:r>
              <a:rPr b="1" lang="en-US" sz="1249">
                <a:solidFill>
                  <a:srgbClr val="1A3260"/>
                </a:solidFill>
                <a:latin typeface="Consolas"/>
                <a:ea typeface="Consolas"/>
                <a:cs typeface="Consolas"/>
                <a:sym typeface="Consolas"/>
              </a:rPr>
              <a:t>FederacionService</a:t>
            </a:r>
            <a:r>
              <a:rPr lang="en-US" sz="1249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24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8" name="Google Shape;958;p23"/>
          <p:cNvSpPr/>
          <p:nvPr/>
        </p:nvSpPr>
        <p:spPr>
          <a:xfrm>
            <a:off x="5143500" y="9772650"/>
            <a:ext cx="6294194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10"/>
              <a:buFont typeface="Arial"/>
              <a:buNone/>
            </a:pPr>
            <a:r>
              <a:rPr b="1" lang="en-US" sz="111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TP_SOAP_JAVA_MASHUP_AWS_G5 · 10 RECOMENDACIONES</a:t>
            </a:r>
            <a:endParaRPr sz="111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9" name="Google Shape;959;p23"/>
          <p:cNvSpPr/>
          <p:nvPr/>
        </p:nvSpPr>
        <p:spPr>
          <a:xfrm>
            <a:off x="17571393" y="9744075"/>
            <a:ext cx="335607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4590B8"/>
                </a:solidFill>
                <a:latin typeface="Arial"/>
                <a:ea typeface="Arial"/>
                <a:cs typeface="Arial"/>
                <a:sym typeface="Arial"/>
              </a:rPr>
              <a:t>28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0" name="Google Shape;960;p23"/>
          <p:cNvSpPr/>
          <p:nvPr/>
        </p:nvSpPr>
        <p:spPr>
          <a:xfrm>
            <a:off x="0" y="10153650"/>
            <a:ext cx="18288000" cy="133350"/>
          </a:xfrm>
          <a:prstGeom prst="rect">
            <a:avLst/>
          </a:prstGeom>
          <a:gradFill>
            <a:gsLst>
              <a:gs pos="0">
                <a:srgbClr val="1A3260"/>
              </a:gs>
              <a:gs pos="50000">
                <a:srgbClr val="1A3260"/>
              </a:gs>
              <a:gs pos="75000">
                <a:srgbClr val="42955F"/>
              </a:gs>
              <a:gs pos="100000">
                <a:srgbClr val="E8821E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61" name="Google Shape;96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22265"/>
            <a:ext cx="18288000" cy="3455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p24"/>
          <p:cNvSpPr/>
          <p:nvPr/>
        </p:nvSpPr>
        <p:spPr>
          <a:xfrm>
            <a:off x="0" y="0"/>
            <a:ext cx="4381500" cy="10287000"/>
          </a:xfrm>
          <a:prstGeom prst="rect">
            <a:avLst/>
          </a:prstGeom>
          <a:solidFill>
            <a:srgbClr val="1A32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8" name="Google Shape;968;p24"/>
          <p:cNvSpPr/>
          <p:nvPr/>
        </p:nvSpPr>
        <p:spPr>
          <a:xfrm>
            <a:off x="533400" y="628650"/>
            <a:ext cx="133350" cy="133350"/>
          </a:xfrm>
          <a:prstGeom prst="rect">
            <a:avLst/>
          </a:prstGeom>
          <a:solidFill>
            <a:srgbClr val="45C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9" name="Google Shape;969;p24"/>
          <p:cNvSpPr/>
          <p:nvPr/>
        </p:nvSpPr>
        <p:spPr>
          <a:xfrm>
            <a:off x="800100" y="571500"/>
            <a:ext cx="1641038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CONTENIDO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0" name="Google Shape;970;p24"/>
          <p:cNvSpPr/>
          <p:nvPr/>
        </p:nvSpPr>
        <p:spPr>
          <a:xfrm>
            <a:off x="533400" y="1219200"/>
            <a:ext cx="4000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CBE8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45CBE8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1" name="Google Shape;971;p24"/>
          <p:cNvSpPr/>
          <p:nvPr/>
        </p:nvSpPr>
        <p:spPr>
          <a:xfrm>
            <a:off x="990600" y="1257300"/>
            <a:ext cx="1471166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6E8"/>
              </a:buClr>
              <a:buSzPts val="1575"/>
              <a:buFont typeface="Arial"/>
              <a:buNone/>
            </a:pPr>
            <a:r>
              <a:rPr lang="en-US" sz="1575">
                <a:solidFill>
                  <a:srgbClr val="BFD6E8"/>
                </a:solidFill>
                <a:latin typeface="Arial"/>
                <a:ea typeface="Arial"/>
                <a:cs typeface="Arial"/>
                <a:sym typeface="Arial"/>
              </a:rPr>
              <a:t>WSFederacion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2" name="Google Shape;972;p24"/>
          <p:cNvSpPr/>
          <p:nvPr/>
        </p:nvSpPr>
        <p:spPr>
          <a:xfrm>
            <a:off x="533400" y="1628775"/>
            <a:ext cx="4000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CBE8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45CBE8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3" name="Google Shape;973;p24"/>
          <p:cNvSpPr/>
          <p:nvPr/>
        </p:nvSpPr>
        <p:spPr>
          <a:xfrm>
            <a:off x="990600" y="1666875"/>
            <a:ext cx="1465213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6E8"/>
              </a:buClr>
              <a:buSzPts val="1575"/>
              <a:buFont typeface="Arial"/>
              <a:buNone/>
            </a:pPr>
            <a:r>
              <a:rPr lang="en-US" sz="1575">
                <a:solidFill>
                  <a:srgbClr val="BFD6E8"/>
                </a:solidFill>
                <a:latin typeface="Arial"/>
                <a:ea typeface="Arial"/>
                <a:cs typeface="Arial"/>
                <a:sym typeface="Arial"/>
              </a:rPr>
              <a:t>WSBancoCore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4" name="Google Shape;974;p24"/>
          <p:cNvSpPr/>
          <p:nvPr/>
        </p:nvSpPr>
        <p:spPr>
          <a:xfrm>
            <a:off x="533400" y="2038350"/>
            <a:ext cx="4000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CBE8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45CBE8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5" name="Google Shape;975;p24"/>
          <p:cNvSpPr/>
          <p:nvPr/>
        </p:nvSpPr>
        <p:spPr>
          <a:xfrm>
            <a:off x="990600" y="2076450"/>
            <a:ext cx="846981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6E8"/>
              </a:buClr>
              <a:buSzPts val="1575"/>
              <a:buFont typeface="Arial"/>
              <a:buNone/>
            </a:pPr>
            <a:r>
              <a:rPr lang="en-US" sz="1575">
                <a:solidFill>
                  <a:srgbClr val="BFD6E8"/>
                </a:solidFill>
                <a:latin typeface="Arial"/>
                <a:ea typeface="Arial"/>
                <a:cs typeface="Arial"/>
                <a:sym typeface="Arial"/>
              </a:rPr>
              <a:t>Clientes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6" name="Google Shape;976;p24"/>
          <p:cNvSpPr/>
          <p:nvPr/>
        </p:nvSpPr>
        <p:spPr>
          <a:xfrm>
            <a:off x="533400" y="2447925"/>
            <a:ext cx="4000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CBE8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45CBE8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7" name="Google Shape;977;p24"/>
          <p:cNvSpPr/>
          <p:nvPr/>
        </p:nvSpPr>
        <p:spPr>
          <a:xfrm>
            <a:off x="990600" y="2486025"/>
            <a:ext cx="1349127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6E8"/>
              </a:buClr>
              <a:buSzPts val="1575"/>
              <a:buFont typeface="Arial"/>
              <a:buNone/>
            </a:pPr>
            <a:r>
              <a:rPr lang="en-US" sz="1575">
                <a:solidFill>
                  <a:srgbClr val="BFD6E8"/>
                </a:solidFill>
                <a:latin typeface="Arial"/>
                <a:ea typeface="Arial"/>
                <a:cs typeface="Arial"/>
                <a:sym typeface="Arial"/>
              </a:rPr>
              <a:t>Conclusiones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8" name="Google Shape;978;p24"/>
          <p:cNvSpPr/>
          <p:nvPr/>
        </p:nvSpPr>
        <p:spPr>
          <a:xfrm>
            <a:off x="533400" y="2857500"/>
            <a:ext cx="4000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CBE8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45CBE8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9" name="Google Shape;979;p24"/>
          <p:cNvSpPr/>
          <p:nvPr/>
        </p:nvSpPr>
        <p:spPr>
          <a:xfrm>
            <a:off x="990600" y="2895600"/>
            <a:ext cx="1822996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6E8"/>
              </a:buClr>
              <a:buSzPts val="1575"/>
              <a:buFont typeface="Arial"/>
              <a:buNone/>
            </a:pPr>
            <a:r>
              <a:rPr lang="en-US" sz="1575">
                <a:solidFill>
                  <a:srgbClr val="BFD6E8"/>
                </a:solidFill>
                <a:latin typeface="Arial"/>
                <a:ea typeface="Arial"/>
                <a:cs typeface="Arial"/>
                <a:sym typeface="Arial"/>
              </a:rPr>
              <a:t>Recomendaciones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0" name="Google Shape;980;p24"/>
          <p:cNvSpPr/>
          <p:nvPr/>
        </p:nvSpPr>
        <p:spPr>
          <a:xfrm>
            <a:off x="533400" y="3267075"/>
            <a:ext cx="4000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1" name="Google Shape;981;p24"/>
          <p:cNvSpPr/>
          <p:nvPr/>
        </p:nvSpPr>
        <p:spPr>
          <a:xfrm>
            <a:off x="990600" y="3267075"/>
            <a:ext cx="141103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Bibliografía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2" name="Google Shape;982;p24"/>
          <p:cNvSpPr/>
          <p:nvPr/>
        </p:nvSpPr>
        <p:spPr>
          <a:xfrm>
            <a:off x="533400" y="9563100"/>
            <a:ext cx="37719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A2BF"/>
              </a:buClr>
              <a:buSzPts val="971"/>
              <a:buFont typeface="Arial"/>
              <a:buNone/>
            </a:pPr>
            <a:r>
              <a:rPr lang="en-US" sz="971">
                <a:solidFill>
                  <a:srgbClr val="7FA2BF"/>
                </a:solidFill>
                <a:latin typeface="Arial"/>
                <a:ea typeface="Arial"/>
                <a:cs typeface="Arial"/>
                <a:sym typeface="Arial"/>
              </a:rPr>
              <a:t>GR05 · 2026</a:t>
            </a:r>
            <a:endParaRPr sz="97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3" name="Google Shape;983;p24"/>
          <p:cNvSpPr/>
          <p:nvPr/>
        </p:nvSpPr>
        <p:spPr>
          <a:xfrm>
            <a:off x="5143500" y="571500"/>
            <a:ext cx="13620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4590B8"/>
                </a:solidFill>
                <a:latin typeface="Arial"/>
                <a:ea typeface="Arial"/>
                <a:cs typeface="Arial"/>
                <a:sym typeface="Arial"/>
              </a:rPr>
              <a:t>11 · REFERENCIAS BIBLIOGRÁFICAS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4" name="Google Shape;984;p24"/>
          <p:cNvSpPr/>
          <p:nvPr/>
        </p:nvSpPr>
        <p:spPr>
          <a:xfrm>
            <a:off x="5143500" y="952500"/>
            <a:ext cx="13620750" cy="6180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A3260"/>
              </a:buClr>
              <a:buSzPts val="4023"/>
              <a:buFont typeface="Arial"/>
              <a:buNone/>
            </a:pPr>
            <a:r>
              <a:rPr b="1" lang="en-US" sz="4024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Bibliografía</a:t>
            </a:r>
            <a:endParaRPr sz="4024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5" name="Google Shape;985;p24"/>
          <p:cNvSpPr/>
          <p:nvPr/>
        </p:nvSpPr>
        <p:spPr>
          <a:xfrm>
            <a:off x="5143500" y="1608683"/>
            <a:ext cx="1143000" cy="57150"/>
          </a:xfrm>
          <a:prstGeom prst="rect">
            <a:avLst/>
          </a:prstGeom>
          <a:solidFill>
            <a:srgbClr val="C124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6" name="Google Shape;986;p24"/>
          <p:cNvSpPr/>
          <p:nvPr/>
        </p:nvSpPr>
        <p:spPr>
          <a:xfrm>
            <a:off x="5505450" y="2113508"/>
            <a:ext cx="12392025" cy="34468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A3260"/>
              </a:buClr>
              <a:buSzPts val="1595"/>
              <a:buFont typeface="Arial"/>
              <a:buNone/>
            </a:pPr>
            <a:r>
              <a:rPr b="1" lang="en-US" sz="1596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Eclipse Foundation (2023). </a:t>
            </a:r>
            <a:r>
              <a:rPr lang="en-US" sz="1596">
                <a:solidFill>
                  <a:srgbClr val="1C2330"/>
                </a:solidFill>
                <a:latin typeface="Arial"/>
                <a:ea typeface="Arial"/>
                <a:cs typeface="Arial"/>
                <a:sym typeface="Arial"/>
              </a:rPr>
              <a:t>Jakarta XML Web Services 4.0 Specification. </a:t>
            </a:r>
            <a:r>
              <a:rPr i="1" lang="en-US" sz="1596">
                <a:solidFill>
                  <a:srgbClr val="1C2330"/>
                </a:solidFill>
                <a:latin typeface="Arial"/>
                <a:ea typeface="Arial"/>
                <a:cs typeface="Arial"/>
                <a:sym typeface="Arial"/>
              </a:rPr>
              <a:t>jakarta.ee/specifications/xml-web-services/</a:t>
            </a:r>
            <a:endParaRPr sz="159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7" name="Google Shape;987;p24"/>
          <p:cNvSpPr/>
          <p:nvPr/>
        </p:nvSpPr>
        <p:spPr>
          <a:xfrm>
            <a:off x="5505450" y="2591544"/>
            <a:ext cx="12392025" cy="6512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3260"/>
              </a:buClr>
              <a:buSzPts val="1595"/>
              <a:buFont typeface="Arial"/>
              <a:buNone/>
            </a:pPr>
            <a:r>
              <a:rPr b="1" lang="en-US" sz="1596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Amazon Web Services (2024). </a:t>
            </a:r>
            <a:r>
              <a:rPr lang="en-US" sz="1596">
                <a:solidFill>
                  <a:srgbClr val="1C2330"/>
                </a:solidFill>
                <a:latin typeface="Arial"/>
                <a:ea typeface="Arial"/>
                <a:cs typeface="Arial"/>
                <a:sym typeface="Arial"/>
              </a:rPr>
              <a:t>Amazon RDS for MySQL Documentation. </a:t>
            </a:r>
            <a:r>
              <a:rPr i="1" lang="en-US" sz="1596">
                <a:solidFill>
                  <a:srgbClr val="1C2330"/>
                </a:solidFill>
                <a:latin typeface="Arial"/>
                <a:ea typeface="Arial"/>
                <a:cs typeface="Arial"/>
                <a:sym typeface="Arial"/>
              </a:rPr>
              <a:t>docs.aws.amazon.com/AmazonRDS/latest/UserGuide/CHAP_MySQL.html</a:t>
            </a:r>
            <a:endParaRPr sz="159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8" name="Google Shape;988;p24"/>
          <p:cNvSpPr/>
          <p:nvPr/>
        </p:nvSpPr>
        <p:spPr>
          <a:xfrm>
            <a:off x="5505450" y="3376166"/>
            <a:ext cx="12392025" cy="34468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A3260"/>
              </a:buClr>
              <a:buSzPts val="1595"/>
              <a:buFont typeface="Arial"/>
              <a:buNone/>
            </a:pPr>
            <a:r>
              <a:rPr b="1" lang="en-US" sz="1596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Payara Foundation (2024). </a:t>
            </a:r>
            <a:r>
              <a:rPr lang="en-US" sz="1596">
                <a:solidFill>
                  <a:srgbClr val="1C2330"/>
                </a:solidFill>
                <a:latin typeface="Arial"/>
                <a:ea typeface="Arial"/>
                <a:cs typeface="Arial"/>
                <a:sym typeface="Arial"/>
              </a:rPr>
              <a:t>Payara Server 6 Documentation. </a:t>
            </a:r>
            <a:r>
              <a:rPr i="1" lang="en-US" sz="1596">
                <a:solidFill>
                  <a:srgbClr val="1C2330"/>
                </a:solidFill>
                <a:latin typeface="Arial"/>
                <a:ea typeface="Arial"/>
                <a:cs typeface="Arial"/>
                <a:sym typeface="Arial"/>
              </a:rPr>
              <a:t>docs.payara.fish</a:t>
            </a:r>
            <a:endParaRPr sz="159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9" name="Google Shape;989;p24"/>
          <p:cNvSpPr/>
          <p:nvPr/>
        </p:nvSpPr>
        <p:spPr>
          <a:xfrm>
            <a:off x="5505450" y="3854202"/>
            <a:ext cx="12392025" cy="34468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A3260"/>
              </a:buClr>
              <a:buSzPts val="1595"/>
              <a:buFont typeface="Arial"/>
              <a:buNone/>
            </a:pPr>
            <a:r>
              <a:rPr b="1" lang="en-US" sz="1596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Oracle Corporation (2023). </a:t>
            </a:r>
            <a:r>
              <a:rPr lang="en-US" sz="1596">
                <a:solidFill>
                  <a:srgbClr val="1C2330"/>
                </a:solidFill>
                <a:latin typeface="Arial"/>
                <a:ea typeface="Arial"/>
                <a:cs typeface="Arial"/>
                <a:sym typeface="Arial"/>
              </a:rPr>
              <a:t>JDBC API Documentation. </a:t>
            </a:r>
            <a:r>
              <a:rPr i="1" lang="en-US" sz="1596">
                <a:solidFill>
                  <a:srgbClr val="1C2330"/>
                </a:solidFill>
                <a:latin typeface="Arial"/>
                <a:ea typeface="Arial"/>
                <a:cs typeface="Arial"/>
                <a:sym typeface="Arial"/>
              </a:rPr>
              <a:t>docs.oracle.com/en/java/javase/17/docs/api/java.sql/</a:t>
            </a:r>
            <a:endParaRPr sz="159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0" name="Google Shape;990;p24"/>
          <p:cNvSpPr/>
          <p:nvPr/>
        </p:nvSpPr>
        <p:spPr>
          <a:xfrm>
            <a:off x="5505450" y="4332238"/>
            <a:ext cx="12392025" cy="34468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A3260"/>
              </a:buClr>
              <a:buSzPts val="1595"/>
              <a:buFont typeface="Arial"/>
              <a:buNone/>
            </a:pPr>
            <a:r>
              <a:rPr b="1" lang="en-US" sz="1596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Square Inc. (2024). </a:t>
            </a:r>
            <a:r>
              <a:rPr lang="en-US" sz="1596">
                <a:solidFill>
                  <a:srgbClr val="1C2330"/>
                </a:solidFill>
                <a:latin typeface="Arial"/>
                <a:ea typeface="Arial"/>
                <a:cs typeface="Arial"/>
                <a:sym typeface="Arial"/>
              </a:rPr>
              <a:t>OkHttp Documentation. </a:t>
            </a:r>
            <a:r>
              <a:rPr i="1" lang="en-US" sz="1596">
                <a:solidFill>
                  <a:srgbClr val="1C2330"/>
                </a:solidFill>
                <a:latin typeface="Arial"/>
                <a:ea typeface="Arial"/>
                <a:cs typeface="Arial"/>
                <a:sym typeface="Arial"/>
              </a:rPr>
              <a:t>square.github.io/okhttp/</a:t>
            </a:r>
            <a:endParaRPr sz="159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1" name="Google Shape;991;p24"/>
          <p:cNvSpPr/>
          <p:nvPr/>
        </p:nvSpPr>
        <p:spPr>
          <a:xfrm>
            <a:off x="5505450" y="4810274"/>
            <a:ext cx="12392025" cy="34468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A3260"/>
              </a:buClr>
              <a:buSzPts val="1595"/>
              <a:buFont typeface="Arial"/>
              <a:buNone/>
            </a:pPr>
            <a:r>
              <a:rPr b="1" lang="en-US" sz="1596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Android Developers (2024). </a:t>
            </a:r>
            <a:r>
              <a:rPr lang="en-US" sz="1596">
                <a:solidFill>
                  <a:srgbClr val="1C2330"/>
                </a:solidFill>
                <a:latin typeface="Arial"/>
                <a:ea typeface="Arial"/>
                <a:cs typeface="Arial"/>
                <a:sym typeface="Arial"/>
              </a:rPr>
              <a:t>XmlPullParser API. </a:t>
            </a:r>
            <a:r>
              <a:rPr i="1" lang="en-US" sz="1596">
                <a:solidFill>
                  <a:srgbClr val="1C2330"/>
                </a:solidFill>
                <a:latin typeface="Arial"/>
                <a:ea typeface="Arial"/>
                <a:cs typeface="Arial"/>
                <a:sym typeface="Arial"/>
              </a:rPr>
              <a:t>developer.android.com/reference/org/xmlpull/v1/XmlPullParser</a:t>
            </a:r>
            <a:endParaRPr sz="159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2" name="Google Shape;992;p24"/>
          <p:cNvSpPr/>
          <p:nvPr/>
        </p:nvSpPr>
        <p:spPr>
          <a:xfrm>
            <a:off x="15419204" y="8905875"/>
            <a:ext cx="2106796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3260"/>
              </a:buClr>
              <a:buSzPts val="2100"/>
              <a:buFont typeface="Arial"/>
              <a:buNone/>
            </a:pPr>
            <a:r>
              <a:rPr b="1" lang="en-US" sz="2100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¡Gracias!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3" name="Google Shape;993;p24"/>
          <p:cNvSpPr/>
          <p:nvPr/>
        </p:nvSpPr>
        <p:spPr>
          <a:xfrm>
            <a:off x="15419204" y="9324975"/>
            <a:ext cx="2106796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GRUPO 05 · 2026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4" name="Google Shape;994;p24"/>
          <p:cNvSpPr/>
          <p:nvPr/>
        </p:nvSpPr>
        <p:spPr>
          <a:xfrm>
            <a:off x="5143500" y="9772650"/>
            <a:ext cx="5673403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10"/>
              <a:buFont typeface="Arial"/>
              <a:buNone/>
            </a:pPr>
            <a:r>
              <a:rPr b="1" lang="en-US" sz="111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TP_SOAP_JAVA_MASHUP_AWS_G5 · 11 BIBLIOGRAFÍA</a:t>
            </a:r>
            <a:endParaRPr sz="111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5" name="Google Shape;995;p24"/>
          <p:cNvSpPr/>
          <p:nvPr/>
        </p:nvSpPr>
        <p:spPr>
          <a:xfrm>
            <a:off x="17571393" y="9744075"/>
            <a:ext cx="335607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4590B8"/>
                </a:solidFill>
                <a:latin typeface="Arial"/>
                <a:ea typeface="Arial"/>
                <a:cs typeface="Arial"/>
                <a:sym typeface="Arial"/>
              </a:rPr>
              <a:t>29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6" name="Google Shape;996;p24"/>
          <p:cNvSpPr/>
          <p:nvPr/>
        </p:nvSpPr>
        <p:spPr>
          <a:xfrm>
            <a:off x="0" y="10153650"/>
            <a:ext cx="18288000" cy="133350"/>
          </a:xfrm>
          <a:prstGeom prst="rect">
            <a:avLst/>
          </a:prstGeom>
          <a:gradFill>
            <a:gsLst>
              <a:gs pos="0">
                <a:srgbClr val="1A3260"/>
              </a:gs>
              <a:gs pos="50000">
                <a:srgbClr val="1A3260"/>
              </a:gs>
              <a:gs pos="75000">
                <a:srgbClr val="42955F"/>
              </a:gs>
              <a:gs pos="100000">
                <a:srgbClr val="E8821E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97" name="Google Shape;99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22265"/>
            <a:ext cx="18288000" cy="3455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